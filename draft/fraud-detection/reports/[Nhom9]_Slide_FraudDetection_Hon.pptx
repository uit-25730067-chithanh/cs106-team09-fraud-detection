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64CBC3F-FB0C-4451-B137-EBF0E677657C}">
  <a:tblStyle styleId="{A64CBC3F-FB0C-4451-B137-EBF0E67765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aea72448c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aea72448c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aea72448c_0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faea72448c_0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aea72448c_0_3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aea72448c_0_3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aea72448c_0_5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aea72448c_0_5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aea72448c_0_6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faea72448c_0_6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aea72448c_0_10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faea72448c_0_10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faea72448c_0_1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faea72448c_0_1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faea72448c_0_15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faea72448c_0_15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faea72448c_89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3faea72448c_89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fb0d60fa77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3fb0d60fa77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fb0d60fa77_0_3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fb0d60fa77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fb0d60fa77_0_4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fb0d60fa77_0_4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fb0d60fa77_0_8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3fb0d60fa7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fb0d60fa77_0_1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fb0d60fa77_0_1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fb0d60fa77_0_12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fb0d60fa77_0_12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aea72448c_6_0)">
  <p:cSld name="Generated (g3faea72448c_6_0)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openxmlformats.org/officeDocument/2006/relationships/image" Target="../media/image14.jpg"/><Relationship Id="rId8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image" Target="../media/image25.png"/><Relationship Id="rId10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image" Target="../media/image12.png"/><Relationship Id="rId5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openxmlformats.org/officeDocument/2006/relationships/image" Target="../media/image14.jpg"/><Relationship Id="rId8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0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image" Target="../media/image28.png"/><Relationship Id="rId5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openxmlformats.org/officeDocument/2006/relationships/image" Target="../media/image14.jpg"/><Relationship Id="rId8" Type="http://schemas.openxmlformats.org/officeDocument/2006/relationships/image" Target="../media/image22.png"/></Relationships>
</file>

<file path=ppt/slides/_rels/slide4.xml.rels><?xml version="1.0" encoding="UTF-8" standalone="yes"?><Relationships xmlns="http://schemas.openxmlformats.org/package/2006/relationships"><Relationship Id="rId10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image" Target="../media/image12.png"/><Relationship Id="rId5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openxmlformats.org/officeDocument/2006/relationships/image" Target="../media/image14.jpg"/><Relationship Id="rId8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0" Type="http://schemas.openxmlformats.org/officeDocument/2006/relationships/image" Target="../media/image57.jp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image" Target="../media/image50.png"/><Relationship Id="rId5" Type="http://schemas.openxmlformats.org/officeDocument/2006/relationships/image" Target="../media/image7.png"/><Relationship Id="rId6" Type="http://schemas.openxmlformats.org/officeDocument/2006/relationships/image" Target="../media/image14.jpg"/><Relationship Id="rId7" Type="http://schemas.openxmlformats.org/officeDocument/2006/relationships/image" Target="../media/image39.png"/><Relationship Id="rId8" Type="http://schemas.openxmlformats.org/officeDocument/2006/relationships/image" Target="../media/image51.jp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59.png"/><Relationship Id="rId10" Type="http://schemas.openxmlformats.org/officeDocument/2006/relationships/image" Target="../media/image46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image" Target="../media/image56.png"/><Relationship Id="rId5" Type="http://schemas.openxmlformats.org/officeDocument/2006/relationships/image" Target="../media/image7.png"/><Relationship Id="rId6" Type="http://schemas.openxmlformats.org/officeDocument/2006/relationships/image" Target="../media/image14.jpg"/><Relationship Id="rId7" Type="http://schemas.openxmlformats.org/officeDocument/2006/relationships/image" Target="../media/image48.png"/><Relationship Id="rId8" Type="http://schemas.openxmlformats.org/officeDocument/2006/relationships/image" Target="../media/image4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1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14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14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14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4.jpg"/><Relationship Id="rId5" Type="http://schemas.openxmlformats.org/officeDocument/2006/relationships/image" Target="../media/image72.jpg"/></Relationships>
</file>

<file path=ppt/slides/_rels/slide12.xml.rels><?xml version="1.0" encoding="UTF-8" standalone="yes"?><Relationships xmlns="http://schemas.openxmlformats.org/package/2006/relationships"><Relationship Id="rId10" Type="http://schemas.openxmlformats.org/officeDocument/2006/relationships/image" Target="../media/image78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6.png"/><Relationship Id="rId4" Type="http://schemas.openxmlformats.org/officeDocument/2006/relationships/image" Target="../media/image1.png"/><Relationship Id="rId9" Type="http://schemas.openxmlformats.org/officeDocument/2006/relationships/image" Target="../media/image77.png"/><Relationship Id="rId5" Type="http://schemas.openxmlformats.org/officeDocument/2006/relationships/image" Target="../media/image14.jpg"/><Relationship Id="rId6" Type="http://schemas.openxmlformats.org/officeDocument/2006/relationships/image" Target="../media/image65.png"/><Relationship Id="rId7" Type="http://schemas.openxmlformats.org/officeDocument/2006/relationships/image" Target="../media/image76.png"/><Relationship Id="rId8" Type="http://schemas.openxmlformats.org/officeDocument/2006/relationships/image" Target="../media/image7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14.jpg"/><Relationship Id="rId5" Type="http://schemas.openxmlformats.org/officeDocument/2006/relationships/image" Target="../media/image8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14.jpg"/><Relationship Id="rId5" Type="http://schemas.openxmlformats.org/officeDocument/2006/relationships/image" Target="../media/image84.png"/><Relationship Id="rId6" Type="http://schemas.openxmlformats.org/officeDocument/2006/relationships/image" Target="../media/image82.png"/><Relationship Id="rId7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" name="Google Shape;56;p14"/>
          <p:cNvGrpSpPr/>
          <p:nvPr/>
        </p:nvGrpSpPr>
        <p:grpSpPr>
          <a:xfrm>
            <a:off x="-952500" y="2233613"/>
            <a:ext cx="10096500" cy="2910000"/>
            <a:chOff x="-952500" y="2233613"/>
            <a:chExt cx="10096500" cy="2910000"/>
          </a:xfrm>
        </p:grpSpPr>
        <p:pic>
          <p:nvPicPr>
            <p:cNvPr id="57" name="Google Shape;57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-952500" y="2867025"/>
              <a:ext cx="10096500" cy="2276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58;p1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-952500" y="2233613"/>
              <a:ext cx="10096500" cy="2910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9" name="Google Shape;59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71475" y="371475"/>
            <a:ext cx="8401200" cy="44007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/>
          <p:nvPr/>
        </p:nvSpPr>
        <p:spPr>
          <a:xfrm>
            <a:off x="476250" y="10477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Logo UIT - University of Information Technology VNU-HCM, vector style icon with blue and white accents, high resolution, transparent background" id="61" name="Google Shape;61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23875" y="47625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 txBox="1"/>
          <p:nvPr/>
        </p:nvSpPr>
        <p:spPr>
          <a:xfrm>
            <a:off x="1190625" y="523875"/>
            <a:ext cx="4286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6191250" y="523875"/>
            <a:ext cx="2381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</a:t>
            </a:r>
            <a:r>
              <a:rPr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b="0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 | Niên khóa 2025 - 2026</a:t>
            </a:r>
            <a:endParaRPr b="0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523875" y="1381125"/>
            <a:ext cx="8096400" cy="104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ĐỒ ÁN CUỐI KỲ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vi" sz="204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HỆ THỐNG PHÁT HIỆN GIAO DỊCH </a:t>
            </a:r>
            <a:r>
              <a:rPr b="0" lang="vi" sz="204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GIAN LẬN TÀI CHÍNH</a:t>
            </a:r>
            <a:endParaRPr b="0" sz="204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vi" sz="1063">
                <a:solidFill>
                  <a:srgbClr val="E0E0E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Ứng dụng Học máy &amp; Học sâu trên tập dữ liệu mô phỏng PaySim</a:t>
            </a:r>
            <a:endParaRPr b="0" sz="1063">
              <a:solidFill>
                <a:srgbClr val="E0E0E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19113" y="2709863"/>
            <a:ext cx="4057800" cy="19146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/>
        </p:nvSpPr>
        <p:spPr>
          <a:xfrm>
            <a:off x="714375" y="2905125"/>
            <a:ext cx="36672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1100">
                <a:solidFill>
                  <a:srgbClr val="00F2FE"/>
                </a:solidFill>
                <a:latin typeface="Montserrat"/>
                <a:ea typeface="Montserrat"/>
                <a:cs typeface="Montserrat"/>
                <a:sym typeface="Montserrat"/>
              </a:rPr>
              <a:t>GIẢNG VIÊN HƯỚNG DẪN</a:t>
            </a:r>
            <a:endParaRPr b="1" sz="1100">
              <a:solidFill>
                <a:srgbClr val="00F2F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vi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PGS.TS. Nguyễn Đình Hiển</a:t>
            </a:r>
            <a:endParaRPr b="1" sz="12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350"/>
              </a:spcBef>
              <a:spcAft>
                <a:spcPts val="0"/>
              </a:spcAft>
              <a:buNone/>
            </a:pPr>
            <a:r>
              <a:rPr b="1" lang="vi" sz="1100">
                <a:solidFill>
                  <a:srgbClr val="00F2FE"/>
                </a:solidFill>
                <a:latin typeface="Montserrat"/>
                <a:ea typeface="Montserrat"/>
                <a:cs typeface="Montserrat"/>
                <a:sym typeface="Montserrat"/>
              </a:rPr>
              <a:t>THÔNG TIN ĐỀ TÀI</a:t>
            </a:r>
            <a:endParaRPr b="1" sz="1100">
              <a:solidFill>
                <a:srgbClr val="00F2F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vi" sz="100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Tập dữ liệu: </a:t>
            </a:r>
            <a:r>
              <a:rPr b="1" lang="vi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PaySim Mobile Money Simulator</a:t>
            </a:r>
            <a:endParaRPr b="0" sz="100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vi" sz="100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Môi trường: </a:t>
            </a:r>
            <a:r>
              <a:rPr b="1" lang="vi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Python, TensorFlow, Scikit-Learn, XGBoost</a:t>
            </a:r>
            <a:endParaRPr b="0" sz="100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10113" y="2709863"/>
            <a:ext cx="3914700" cy="19146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4"/>
          <p:cNvSpPr txBox="1"/>
          <p:nvPr/>
        </p:nvSpPr>
        <p:spPr>
          <a:xfrm>
            <a:off x="4905375" y="2905125"/>
            <a:ext cx="20784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1100">
                <a:solidFill>
                  <a:srgbClr val="FF007F"/>
                </a:solidFill>
                <a:latin typeface="Montserrat"/>
                <a:ea typeface="Montserrat"/>
                <a:cs typeface="Montserrat"/>
                <a:sym typeface="Montserrat"/>
              </a:rPr>
              <a:t>NHÓM THỰC HIỆN: NHÓM 9</a:t>
            </a:r>
            <a:endParaRPr b="1" sz="1100">
              <a:solidFill>
                <a:srgbClr val="FF007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vi" sz="9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Trưởng nhóm: </a:t>
            </a:r>
            <a:r>
              <a:rPr b="1" lang="vi" sz="950">
                <a:solidFill>
                  <a:srgbClr val="FF007F"/>
                </a:solidFill>
                <a:latin typeface="Roboto"/>
                <a:ea typeface="Roboto"/>
                <a:cs typeface="Roboto"/>
                <a:sym typeface="Roboto"/>
              </a:rPr>
              <a:t>Trần Hoàng Hôn</a:t>
            </a:r>
            <a:r>
              <a:rPr lang="vi" sz="9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 (PM)</a:t>
            </a:r>
            <a:endParaRPr sz="9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vi" sz="9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Thành viên:</a:t>
            </a:r>
            <a:endParaRPr sz="9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Đặng Chí Thanh</a:t>
            </a:r>
            <a:r>
              <a:rPr lang="vi" sz="9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9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Hoàng Cao Sơn</a:t>
            </a:r>
            <a:r>
              <a:rPr lang="vi" sz="9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9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Bùi Thị Mỷ Cẩm</a:t>
            </a:r>
            <a:endParaRPr sz="9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6191250" y="3421925"/>
            <a:ext cx="23814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Nguyễn Duy Khang</a:t>
            </a:r>
            <a:r>
              <a:rPr lang="vi" sz="9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9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Vũ Văn Duy</a:t>
            </a:r>
            <a:r>
              <a:rPr lang="vi" sz="9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9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Phạm Thành Trung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5" name="Google Shape;75;p15"/>
          <p:cNvGrpSpPr/>
          <p:nvPr/>
        </p:nvGrpSpPr>
        <p:grpSpPr>
          <a:xfrm>
            <a:off x="-952500" y="2233613"/>
            <a:ext cx="9144000" cy="5776913"/>
            <a:chOff x="-952500" y="2233613"/>
            <a:chExt cx="9144000" cy="5776913"/>
          </a:xfrm>
        </p:grpSpPr>
        <p:pic>
          <p:nvPicPr>
            <p:cNvPr id="76" name="Google Shape;76;p15"/>
            <p:cNvPicPr preferRelativeResize="0"/>
            <p:nvPr/>
          </p:nvPicPr>
          <p:blipFill rotWithShape="1">
            <a:blip r:embed="rId4">
              <a:alphaModFix/>
            </a:blip>
            <a:srcRect b="-125938" l="0" r="9437" t="0"/>
            <a:stretch/>
          </p:blipFill>
          <p:spPr>
            <a:xfrm>
              <a:off x="-952500" y="2867025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77;p15"/>
            <p:cNvPicPr preferRelativeResize="0"/>
            <p:nvPr/>
          </p:nvPicPr>
          <p:blipFill rotWithShape="1">
            <a:blip r:embed="rId5">
              <a:alphaModFix/>
            </a:blip>
            <a:srcRect b="-76741" l="0" r="9437" t="0"/>
            <a:stretch/>
          </p:blipFill>
          <p:spPr>
            <a:xfrm>
              <a:off x="-952500" y="2233613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8" name="Google Shape;78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71475" y="371475"/>
            <a:ext cx="8401200" cy="44007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/>
          <p:nvPr/>
        </p:nvSpPr>
        <p:spPr>
          <a:xfrm>
            <a:off x="476250" y="10477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0" name="Google Shape;80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23875" y="47625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5"/>
          <p:cNvSpPr txBox="1"/>
          <p:nvPr/>
        </p:nvSpPr>
        <p:spPr>
          <a:xfrm>
            <a:off x="1190625" y="523875"/>
            <a:ext cx="4286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1" sz="76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6191250" y="523875"/>
            <a:ext cx="2381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5"/>
          <p:cNvSpPr txBox="1"/>
          <p:nvPr/>
        </p:nvSpPr>
        <p:spPr>
          <a:xfrm>
            <a:off x="523875" y="1238250"/>
            <a:ext cx="8096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MỤC LỤC &amp; LỘ TRÌNH BÁO CÁO</a:t>
            </a:r>
            <a:endParaRPr b="1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vi" sz="20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NỘI DUNG </a:t>
            </a:r>
            <a:r>
              <a:rPr b="0" lang="vi" sz="20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NGHIÊN CỨU CHI TIẾT</a:t>
            </a:r>
            <a:endParaRPr/>
          </a:p>
        </p:txBody>
      </p:sp>
      <p:grpSp>
        <p:nvGrpSpPr>
          <p:cNvPr id="84" name="Google Shape;84;p15"/>
          <p:cNvGrpSpPr/>
          <p:nvPr/>
        </p:nvGrpSpPr>
        <p:grpSpPr>
          <a:xfrm>
            <a:off x="490538" y="1995488"/>
            <a:ext cx="1571700" cy="2486100"/>
            <a:chOff x="490538" y="1995488"/>
            <a:chExt cx="1571700" cy="2486100"/>
          </a:xfrm>
        </p:grpSpPr>
        <p:pic>
          <p:nvPicPr>
            <p:cNvPr id="85" name="Google Shape;85;p1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490538" y="1995488"/>
              <a:ext cx="1571700" cy="2486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6" name="Google Shape;86;p15"/>
            <p:cNvSpPr/>
            <p:nvPr/>
          </p:nvSpPr>
          <p:spPr>
            <a:xfrm>
              <a:off x="495300" y="2000250"/>
              <a:ext cx="15621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5"/>
            <p:cNvSpPr txBox="1"/>
            <p:nvPr/>
          </p:nvSpPr>
          <p:spPr>
            <a:xfrm>
              <a:off x="647700" y="2171700"/>
              <a:ext cx="12573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405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01</a:t>
              </a:r>
              <a:endParaRPr b="0" sz="2405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88" name="Google Shape;88;p15"/>
            <p:cNvSpPr txBox="1"/>
            <p:nvPr/>
          </p:nvSpPr>
          <p:spPr>
            <a:xfrm>
              <a:off x="647700" y="2647950"/>
              <a:ext cx="12573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Đặt vấn đề</a:t>
              </a:r>
              <a:b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&amp; Mục tiêu</a:t>
              </a:r>
              <a:endParaRPr b="1" sz="1150">
                <a:solidFill>
                  <a:srgbClr val="00F2FE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89" name="Google Shape;89;p15"/>
            <p:cNvSpPr txBox="1"/>
            <p:nvPr/>
          </p:nvSpPr>
          <p:spPr>
            <a:xfrm>
              <a:off x="647700" y="3162300"/>
              <a:ext cx="1257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90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Bối cảnh gian lận tài chính số &amp; thách thức nghiêm trọng từ sự mất cân bằng dữ liệu giao dịch.</a:t>
              </a:r>
              <a:endParaRPr b="0" sz="90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0" name="Google Shape;90;p15"/>
          <p:cNvGrpSpPr/>
          <p:nvPr/>
        </p:nvGrpSpPr>
        <p:grpSpPr>
          <a:xfrm>
            <a:off x="2147888" y="1995488"/>
            <a:ext cx="1571700" cy="2486100"/>
            <a:chOff x="2147888" y="1995488"/>
            <a:chExt cx="1571700" cy="2486100"/>
          </a:xfrm>
        </p:grpSpPr>
        <p:pic>
          <p:nvPicPr>
            <p:cNvPr id="91" name="Google Shape;91;p1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2147888" y="1995488"/>
              <a:ext cx="1571700" cy="2486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2" name="Google Shape;92;p15"/>
            <p:cNvSpPr/>
            <p:nvPr/>
          </p:nvSpPr>
          <p:spPr>
            <a:xfrm>
              <a:off x="2152650" y="2000250"/>
              <a:ext cx="1562100" cy="573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5"/>
            <p:cNvSpPr txBox="1"/>
            <p:nvPr/>
          </p:nvSpPr>
          <p:spPr>
            <a:xfrm>
              <a:off x="2305050" y="2171700"/>
              <a:ext cx="12573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405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02</a:t>
              </a:r>
              <a:endParaRPr b="0" sz="2405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94" name="Google Shape;94;p15"/>
            <p:cNvSpPr txBox="1"/>
            <p:nvPr/>
          </p:nvSpPr>
          <p:spPr>
            <a:xfrm>
              <a:off x="2305050" y="2647950"/>
              <a:ext cx="12573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Khám phá &amp;</a:t>
              </a:r>
              <a:b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Tiền xử lý</a:t>
              </a:r>
              <a:endParaRPr b="1" sz="1150">
                <a:solidFill>
                  <a:srgbClr val="00F2FE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5" name="Google Shape;95;p15"/>
            <p:cNvSpPr txBox="1"/>
            <p:nvPr/>
          </p:nvSpPr>
          <p:spPr>
            <a:xfrm>
              <a:off x="2305050" y="3162300"/>
              <a:ext cx="1257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90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Phân tích trực quan tập dữ liệu PaySim và áp dụng các kỹ thuật kiến tạo đặc trưng (Feature Engineering).</a:t>
              </a:r>
              <a:endParaRPr b="0" sz="90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6" name="Google Shape;96;p15"/>
          <p:cNvGrpSpPr/>
          <p:nvPr/>
        </p:nvGrpSpPr>
        <p:grpSpPr>
          <a:xfrm>
            <a:off x="3805238" y="1995488"/>
            <a:ext cx="1571700" cy="2486100"/>
            <a:chOff x="3805238" y="1995488"/>
            <a:chExt cx="1571700" cy="2486100"/>
          </a:xfrm>
        </p:grpSpPr>
        <p:pic>
          <p:nvPicPr>
            <p:cNvPr id="97" name="Google Shape;97;p15"/>
            <p:cNvPicPr preferRelativeResize="0"/>
            <p:nvPr/>
          </p:nvPicPr>
          <p:blipFill rotWithShape="1">
            <a:blip r:embed="rId10">
              <a:alphaModFix/>
            </a:blip>
            <a:srcRect b="0" l="0" r="0" t="0"/>
            <a:stretch/>
          </p:blipFill>
          <p:spPr>
            <a:xfrm>
              <a:off x="3805238" y="1995488"/>
              <a:ext cx="1571700" cy="2486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" name="Google Shape;98;p15"/>
            <p:cNvSpPr/>
            <p:nvPr/>
          </p:nvSpPr>
          <p:spPr>
            <a:xfrm>
              <a:off x="3810000" y="2000250"/>
              <a:ext cx="15621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5"/>
            <p:cNvSpPr txBox="1"/>
            <p:nvPr/>
          </p:nvSpPr>
          <p:spPr>
            <a:xfrm>
              <a:off x="3962400" y="2171700"/>
              <a:ext cx="12573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405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03</a:t>
              </a:r>
              <a:endParaRPr b="0" sz="2405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100" name="Google Shape;100;p15"/>
            <p:cNvSpPr txBox="1"/>
            <p:nvPr/>
          </p:nvSpPr>
          <p:spPr>
            <a:xfrm>
              <a:off x="3962400" y="2647950"/>
              <a:ext cx="12573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Mô hình</a:t>
              </a:r>
              <a:b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Đề xuất</a:t>
              </a:r>
              <a:endParaRPr b="1" sz="1150">
                <a:solidFill>
                  <a:srgbClr val="00F2FE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1" name="Google Shape;101;p15"/>
            <p:cNvSpPr txBox="1"/>
            <p:nvPr/>
          </p:nvSpPr>
          <p:spPr>
            <a:xfrm>
              <a:off x="3962400" y="3162300"/>
              <a:ext cx="1257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90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Xử lý mất cân bằng (SMOTE/ADASYN) kết hợp các mô hình phân lớp mạnh mẽ (RF, XGBoost, Autoencoder).</a:t>
              </a:r>
              <a:endParaRPr b="0" sz="90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2" name="Google Shape;102;p15"/>
          <p:cNvGrpSpPr/>
          <p:nvPr/>
        </p:nvGrpSpPr>
        <p:grpSpPr>
          <a:xfrm>
            <a:off x="5462588" y="1995488"/>
            <a:ext cx="1571700" cy="2486100"/>
            <a:chOff x="5462588" y="1995488"/>
            <a:chExt cx="1571700" cy="2486100"/>
          </a:xfrm>
        </p:grpSpPr>
        <p:pic>
          <p:nvPicPr>
            <p:cNvPr id="103" name="Google Shape;103;p15"/>
            <p:cNvPicPr preferRelativeResize="0"/>
            <p:nvPr/>
          </p:nvPicPr>
          <p:blipFill rotWithShape="1">
            <a:blip r:embed="rId11">
              <a:alphaModFix/>
            </a:blip>
            <a:srcRect b="0" l="0" r="0" t="0"/>
            <a:stretch/>
          </p:blipFill>
          <p:spPr>
            <a:xfrm>
              <a:off x="5462588" y="1995488"/>
              <a:ext cx="1571700" cy="2486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4" name="Google Shape;104;p15"/>
            <p:cNvSpPr/>
            <p:nvPr/>
          </p:nvSpPr>
          <p:spPr>
            <a:xfrm>
              <a:off x="5467350" y="2000250"/>
              <a:ext cx="1562100" cy="573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5"/>
            <p:cNvSpPr txBox="1"/>
            <p:nvPr/>
          </p:nvSpPr>
          <p:spPr>
            <a:xfrm>
              <a:off x="5619750" y="2171700"/>
              <a:ext cx="12573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405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04</a:t>
              </a:r>
              <a:endParaRPr b="0" sz="2405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106" name="Google Shape;106;p15"/>
            <p:cNvSpPr txBox="1"/>
            <p:nvPr/>
          </p:nvSpPr>
          <p:spPr>
            <a:xfrm>
              <a:off x="5619750" y="2647950"/>
              <a:ext cx="12573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Kết quả &amp;</a:t>
              </a:r>
              <a:b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Đánh giá</a:t>
              </a:r>
              <a:endParaRPr b="1" sz="1150">
                <a:solidFill>
                  <a:srgbClr val="00F2FE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7" name="Google Shape;107;p15"/>
            <p:cNvSpPr txBox="1"/>
            <p:nvPr/>
          </p:nvSpPr>
          <p:spPr>
            <a:xfrm>
              <a:off x="5619750" y="3162300"/>
              <a:ext cx="1257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90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So sánh đa chiều hiệu năng hoạt động của các kiến trúc mô hình (ROC-AUC, PR-AUC, F1-Score).</a:t>
              </a:r>
              <a:endParaRPr b="0" sz="90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8" name="Google Shape;108;p15"/>
          <p:cNvGrpSpPr/>
          <p:nvPr/>
        </p:nvGrpSpPr>
        <p:grpSpPr>
          <a:xfrm>
            <a:off x="7119938" y="1995488"/>
            <a:ext cx="1571700" cy="2486100"/>
            <a:chOff x="7119938" y="1995488"/>
            <a:chExt cx="1571700" cy="2486100"/>
          </a:xfrm>
        </p:grpSpPr>
        <p:pic>
          <p:nvPicPr>
            <p:cNvPr id="109" name="Google Shape;109;p15"/>
            <p:cNvPicPr preferRelativeResize="0"/>
            <p:nvPr/>
          </p:nvPicPr>
          <p:blipFill rotWithShape="1">
            <a:blip r:embed="rId11">
              <a:alphaModFix/>
            </a:blip>
            <a:srcRect b="0" l="0" r="0" t="0"/>
            <a:stretch/>
          </p:blipFill>
          <p:spPr>
            <a:xfrm>
              <a:off x="7119938" y="1995488"/>
              <a:ext cx="1571700" cy="2486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" name="Google Shape;110;p15"/>
            <p:cNvSpPr/>
            <p:nvPr/>
          </p:nvSpPr>
          <p:spPr>
            <a:xfrm>
              <a:off x="7124700" y="2000250"/>
              <a:ext cx="15621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5"/>
            <p:cNvSpPr txBox="1"/>
            <p:nvPr/>
          </p:nvSpPr>
          <p:spPr>
            <a:xfrm>
              <a:off x="7277100" y="2171700"/>
              <a:ext cx="12573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405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05</a:t>
              </a:r>
              <a:endParaRPr b="0" sz="2405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112" name="Google Shape;112;p15"/>
            <p:cNvSpPr txBox="1"/>
            <p:nvPr/>
          </p:nvSpPr>
          <p:spPr>
            <a:xfrm>
              <a:off x="7277100" y="2647950"/>
              <a:ext cx="12573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Demo &amp;</a:t>
              </a:r>
              <a:b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b="1" lang="vi" sz="1150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Kết luận</a:t>
              </a:r>
              <a:endParaRPr b="1" sz="1150">
                <a:solidFill>
                  <a:srgbClr val="00F2FE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3" name="Google Shape;113;p15"/>
            <p:cNvSpPr txBox="1"/>
            <p:nvPr/>
          </p:nvSpPr>
          <p:spPr>
            <a:xfrm>
              <a:off x="7277100" y="3162300"/>
              <a:ext cx="1257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90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Giới thiệu giao diện ứng dụng Streamlit UI tương tác thời gian thực &amp; định hướng phát triển.</a:t>
              </a:r>
              <a:endParaRPr b="0" sz="90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952500" y="2867025"/>
            <a:ext cx="10096500" cy="22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-952500" y="2233613"/>
            <a:ext cx="10096500" cy="29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71475" y="371475"/>
            <a:ext cx="8401200" cy="4400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6"/>
          <p:cNvSpPr/>
          <p:nvPr/>
        </p:nvSpPr>
        <p:spPr>
          <a:xfrm>
            <a:off x="476250" y="10477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23875" y="47625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 txBox="1"/>
          <p:nvPr/>
        </p:nvSpPr>
        <p:spPr>
          <a:xfrm>
            <a:off x="1190625" y="523875"/>
            <a:ext cx="4286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2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6191250" y="523875"/>
            <a:ext cx="2381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" name="Google Shape;126;p16"/>
          <p:cNvSpPr txBox="1"/>
          <p:nvPr/>
        </p:nvSpPr>
        <p:spPr>
          <a:xfrm>
            <a:off x="523875" y="1190625"/>
            <a:ext cx="8096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ĐẶT VẤN ĐỀ &amp; BÀI TOÁN CỐT LÕI</a:t>
            </a:r>
            <a:endParaRPr b="1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vi" sz="20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THÁCH THỨC TỪ </a:t>
            </a:r>
            <a:r>
              <a:rPr b="0" lang="vi" sz="20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GIAN LẬN GIAO DỊCH DI ĐỘNG</a:t>
            </a:r>
            <a:endParaRPr/>
          </a:p>
        </p:txBody>
      </p:sp>
      <p:pic>
        <p:nvPicPr>
          <p:cNvPr id="127" name="Google Shape;127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14350" y="1847850"/>
            <a:ext cx="3924300" cy="20193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/>
          <p:nvPr/>
        </p:nvSpPr>
        <p:spPr>
          <a:xfrm>
            <a:off x="523875" y="1857375"/>
            <a:ext cx="3905400" cy="47700"/>
          </a:xfrm>
          <a:prstGeom prst="roundRect">
            <a:avLst>
              <a:gd fmla="val 40000" name="adj"/>
            </a:avLst>
          </a:prstGeom>
          <a:solidFill>
            <a:srgbClr val="00F2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714375" y="2000250"/>
            <a:ext cx="35244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13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01 / BỐI CẢNH THỰC TẾ</a:t>
            </a:r>
            <a:endParaRPr b="0" sz="1300">
              <a:solidFill>
                <a:srgbClr val="00F2F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vi" sz="105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Bùng nổ Mobile Money</a:t>
            </a:r>
            <a:endParaRPr b="1" sz="105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vi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Sự tăng trưởng vượt bậc của các phương thức thanh toán di động tạo ra môi trường giao dịch vô cùng sôi động và tiện lợi.</a:t>
            </a:r>
            <a:endParaRPr b="0" sz="925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vi" sz="105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Phương thức tinh vi</a:t>
            </a:r>
            <a:endParaRPr b="1" sz="105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vi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Song hành cùng sự phát triển là các thủ đoạn rửa tiền, lừa đảo công nghệ cao có xu hướng ngày càng tinh vi và khó kiểm soát.</a:t>
            </a:r>
            <a:endParaRPr b="0" sz="925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0" name="Google Shape;130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05350" y="1847850"/>
            <a:ext cx="3924300" cy="20193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/>
          <p:nvPr/>
        </p:nvSpPr>
        <p:spPr>
          <a:xfrm>
            <a:off x="4714875" y="1857375"/>
            <a:ext cx="3905400" cy="47700"/>
          </a:xfrm>
          <a:prstGeom prst="roundRect">
            <a:avLst>
              <a:gd fmla="val 40000" name="adj"/>
            </a:avLst>
          </a:prstGeom>
          <a:solidFill>
            <a:srgbClr val="FF007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4905375" y="2000250"/>
            <a:ext cx="35244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1300">
                <a:solidFill>
                  <a:srgbClr val="FF007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02 / THÁCH THỨC KỸ THUẬT</a:t>
            </a:r>
            <a:endParaRPr b="0" sz="1300">
              <a:solidFill>
                <a:srgbClr val="FF007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vi" sz="105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Extreme Imbalance </a:t>
            </a:r>
            <a:r>
              <a:rPr b="1" lang="vi" sz="950">
                <a:solidFill>
                  <a:srgbClr val="FF007F"/>
                </a:solidFill>
                <a:latin typeface="Montserrat"/>
                <a:ea typeface="Montserrat"/>
                <a:cs typeface="Montserrat"/>
                <a:sym typeface="Montserrat"/>
              </a:rPr>
              <a:t>[~0.13%]</a:t>
            </a:r>
            <a:endParaRPr b="1" sz="105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vi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Tỷ lệ giao dịch gian lận cực kỳ thấp trong tổng thể dữ liệu gây ra sự khó khăn lớn cho các thuật toán phân lớp truyền thống.</a:t>
            </a:r>
            <a:endParaRPr b="0" sz="925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vi" sz="105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Chi phí bỏ sót (False Negative)</a:t>
            </a:r>
            <a:endParaRPr b="1" sz="105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vi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Thiệt hại tài chính trực tiếp từ việc bỏ sót một giao dịch gian lận lớn hơn rất nhiều so với chi phí vận hành cho một cảnh báo nhầm.</a:t>
            </a:r>
            <a:endParaRPr b="0" sz="925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3" name="Google Shape;133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9113" y="3995738"/>
            <a:ext cx="8105700" cy="6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/>
          <p:nvPr/>
        </p:nvSpPr>
        <p:spPr>
          <a:xfrm>
            <a:off x="523875" y="4000500"/>
            <a:ext cx="76200" cy="619200"/>
          </a:xfrm>
          <a:prstGeom prst="roundRect">
            <a:avLst>
              <a:gd fmla="val 25000" name="adj"/>
            </a:avLst>
          </a:prstGeom>
          <a:solidFill>
            <a:srgbClr val="00F2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762000" y="4076700"/>
            <a:ext cx="7620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1018">
                <a:solidFill>
                  <a:srgbClr val="FF007F"/>
                </a:solidFill>
                <a:latin typeface="Montserrat"/>
                <a:ea typeface="Montserrat"/>
                <a:cs typeface="Montserrat"/>
                <a:sym typeface="Montserrat"/>
              </a:rPr>
              <a:t>MỤC TIÊU DỰ ÁN </a:t>
            </a:r>
            <a:endParaRPr b="1" sz="1018">
              <a:solidFill>
                <a:srgbClr val="FF007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vi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Xây dựng hệ thống pipeline tự động hóa có khả năng phát hiện gian lận chuẩn xác cao, tối ưu hóa triệt để hai chỉ số đo lường cốt lõi: </a:t>
            </a:r>
            <a:r>
              <a:rPr b="1" lang="vi" sz="92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Recall &amp; PR-AUC</a:t>
            </a:r>
            <a:r>
              <a:rPr b="0" lang="vi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 nhằm bảo vệ an toàn tài chính.</a:t>
            </a:r>
            <a:endParaRPr b="0" sz="925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pic>
        <p:nvPicPr>
          <p:cNvPr id="141" name="Google Shape;141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952500" y="2867025"/>
            <a:ext cx="10096500" cy="22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/>
          <p:cNvPicPr preferRelativeResize="0"/>
          <p:nvPr/>
        </p:nvPicPr>
        <p:blipFill rotWithShape="1">
          <a:blip r:embed="rId5">
            <a:alphaModFix/>
          </a:blip>
          <a:srcRect b="80" l="0" r="0" t="80"/>
          <a:stretch/>
        </p:blipFill>
        <p:spPr>
          <a:xfrm>
            <a:off x="-952500" y="2233613"/>
            <a:ext cx="10096500" cy="290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71475" y="371475"/>
            <a:ext cx="8401200" cy="44007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sp>
        <p:nvSpPr>
          <p:cNvPr id="144" name="Google Shape;144;p17"/>
          <p:cNvSpPr/>
          <p:nvPr/>
        </p:nvSpPr>
        <p:spPr>
          <a:xfrm>
            <a:off x="476250" y="10477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5" name="Google Shape;145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23875" y="47625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7"/>
          <p:cNvSpPr txBox="1"/>
          <p:nvPr/>
        </p:nvSpPr>
        <p:spPr>
          <a:xfrm>
            <a:off x="1190625" y="523875"/>
            <a:ext cx="4286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2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17"/>
          <p:cNvSpPr txBox="1"/>
          <p:nvPr/>
        </p:nvSpPr>
        <p:spPr>
          <a:xfrm>
            <a:off x="6191250" y="523875"/>
            <a:ext cx="2381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17"/>
          <p:cNvSpPr txBox="1"/>
          <p:nvPr/>
        </p:nvSpPr>
        <p:spPr>
          <a:xfrm>
            <a:off x="523875" y="1190625"/>
            <a:ext cx="8096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THÔNG TIN KHẢO SÁT &amp; TIỀN XỬ LÝ</a:t>
            </a:r>
            <a:endParaRPr b="1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185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TỔNG QUAN </a:t>
            </a:r>
            <a:r>
              <a:rPr b="0" lang="vi" sz="1850">
                <a:solidFill>
                  <a:srgbClr val="00F2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BỘ DỮ LIỆU PAYSIM</a:t>
            </a:r>
            <a:endParaRPr b="0" sz="185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pic>
        <p:nvPicPr>
          <p:cNvPr id="149" name="Google Shape;149;p17"/>
          <p:cNvPicPr preferRelativeResize="0"/>
          <p:nvPr/>
        </p:nvPicPr>
        <p:blipFill rotWithShape="1">
          <a:blip r:embed="rId8">
            <a:alphaModFix/>
          </a:blip>
          <a:srcRect b="37706" l="0" r="0" t="37709"/>
          <a:stretch/>
        </p:blipFill>
        <p:spPr>
          <a:xfrm>
            <a:off x="514350" y="1857375"/>
            <a:ext cx="2571900" cy="10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7"/>
          <p:cNvSpPr/>
          <p:nvPr/>
        </p:nvSpPr>
        <p:spPr>
          <a:xfrm>
            <a:off x="514350" y="1857375"/>
            <a:ext cx="2571900" cy="38100"/>
          </a:xfrm>
          <a:prstGeom prst="roundRect">
            <a:avLst>
              <a:gd fmla="val 50000" name="adj"/>
            </a:avLst>
          </a:prstGeom>
          <a:solidFill>
            <a:srgbClr val="FF007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657225" y="1971675"/>
            <a:ext cx="2286000" cy="7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833">
                <a:solidFill>
                  <a:srgbClr val="FF007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QUY MÔ MẪU GỐC</a:t>
            </a:r>
            <a:endParaRPr b="0" sz="833">
              <a:solidFill>
                <a:srgbClr val="FF007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185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6.36M ➔ ~200K</a:t>
            </a:r>
            <a:endParaRPr b="0" sz="185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86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Downsample giữ nguyên 100% ca gian lận gốc nhằm tối ưu hóa bộ nhớ và hiệu suất huấn luyện mô hình.</a:t>
            </a:r>
            <a:endParaRPr b="0" sz="786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2" name="Google Shape;152;p17"/>
          <p:cNvPicPr preferRelativeResize="0"/>
          <p:nvPr/>
        </p:nvPicPr>
        <p:blipFill rotWithShape="1">
          <a:blip r:embed="rId9">
            <a:alphaModFix/>
          </a:blip>
          <a:srcRect b="37706" l="0" r="0" t="37709"/>
          <a:stretch/>
        </p:blipFill>
        <p:spPr>
          <a:xfrm>
            <a:off x="3181350" y="1857375"/>
            <a:ext cx="2571900" cy="10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7"/>
          <p:cNvSpPr/>
          <p:nvPr/>
        </p:nvSpPr>
        <p:spPr>
          <a:xfrm>
            <a:off x="3181350" y="1857375"/>
            <a:ext cx="2571900" cy="38100"/>
          </a:xfrm>
          <a:prstGeom prst="roundRect">
            <a:avLst>
              <a:gd fmla="val 50000" name="adj"/>
            </a:avLst>
          </a:prstGeom>
          <a:solidFill>
            <a:srgbClr val="00F2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3324225" y="1971675"/>
            <a:ext cx="2286000" cy="7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833">
                <a:solidFill>
                  <a:srgbClr val="FF007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SỐ LƯỢNG THUỘC TÍNH</a:t>
            </a:r>
            <a:endParaRPr b="0" sz="833">
              <a:solidFill>
                <a:srgbClr val="FF007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185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11 </a:t>
            </a:r>
            <a:r>
              <a:rPr b="1" lang="vi" sz="786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Biến dữ liệu</a:t>
            </a:r>
            <a:endParaRPr b="0" sz="185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86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Mô tả chi tiết các chiều thông tin giao dịch bao gồm bước thời gian, loại giao dịch, số dư tài khoản nguồn và đích.</a:t>
            </a:r>
            <a:endParaRPr b="0" sz="786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5" name="Google Shape;155;p17"/>
          <p:cNvPicPr preferRelativeResize="0"/>
          <p:nvPr/>
        </p:nvPicPr>
        <p:blipFill rotWithShape="1">
          <a:blip r:embed="rId10">
            <a:alphaModFix/>
          </a:blip>
          <a:srcRect b="37706" l="0" r="0" t="37709"/>
          <a:stretch/>
        </p:blipFill>
        <p:spPr>
          <a:xfrm>
            <a:off x="5848350" y="1857375"/>
            <a:ext cx="2571900" cy="10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7"/>
          <p:cNvSpPr/>
          <p:nvPr/>
        </p:nvSpPr>
        <p:spPr>
          <a:xfrm>
            <a:off x="5848350" y="1857375"/>
            <a:ext cx="2571900" cy="38100"/>
          </a:xfrm>
          <a:prstGeom prst="roundRect">
            <a:avLst>
              <a:gd fmla="val 50000" name="adj"/>
            </a:avLst>
          </a:prstGeom>
          <a:solidFill>
            <a:srgbClr val="FF007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5991225" y="1971675"/>
            <a:ext cx="2286000" cy="7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833">
                <a:solidFill>
                  <a:srgbClr val="FF007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CA GIAN LẬN THỰC TẾ</a:t>
            </a:r>
            <a:endParaRPr b="0" sz="833">
              <a:solidFill>
                <a:srgbClr val="FF007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185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8,213 </a:t>
            </a:r>
            <a:r>
              <a:rPr b="1" lang="vi" sz="786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Mẫu [isFraud = 1]</a:t>
            </a:r>
            <a:endParaRPr b="0" sz="185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86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Tập mẫu gian lận thực tế cực kỳ khan hiếm được bảo toàn trọn vẹn để giải quyết bài toán mất cân bằng dữ liệu.</a:t>
            </a:r>
            <a:endParaRPr b="0" sz="786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8" name="Google Shape;158;p17"/>
          <p:cNvPicPr preferRelativeResize="0"/>
          <p:nvPr/>
        </p:nvPicPr>
        <p:blipFill rotWithShape="1">
          <a:blip r:embed="rId6">
            <a:alphaModFix/>
          </a:blip>
          <a:srcRect b="31022" l="0" r="0" t="31026"/>
          <a:stretch/>
        </p:blipFill>
        <p:spPr>
          <a:xfrm>
            <a:off x="514350" y="3000375"/>
            <a:ext cx="7905900" cy="157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/>
          <p:nvPr/>
        </p:nvSpPr>
        <p:spPr>
          <a:xfrm>
            <a:off x="514350" y="3000375"/>
            <a:ext cx="7905900" cy="38100"/>
          </a:xfrm>
          <a:prstGeom prst="roundRect">
            <a:avLst>
              <a:gd fmla="val 50000" name="adj"/>
            </a:avLst>
          </a:prstGeom>
          <a:solidFill>
            <a:srgbClr val="00F2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60" name="Google Shape;160;p17"/>
          <p:cNvGraphicFramePr/>
          <p:nvPr/>
        </p:nvGraphicFramePr>
        <p:xfrm>
          <a:off x="704850" y="30956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{A64CBC3F-FB0C-4451-B137-EBF0E677657C}</a:tableStyleId>
              </a:tblPr>
              <a:tblGrid>
                <a:gridCol w="3762375"/>
                <a:gridCol w="3762375"/>
              </a:tblGrid>
              <a:tr h="460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vi">
                          <a:solidFill>
                            <a:srgbClr val="00F2FE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</a:t>
                      </a:r>
                      <a:endParaRPr b="1">
                        <a:solidFill>
                          <a:srgbClr val="00F2FE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0" marL="0">
                    <a:lnB cap="flat" cmpd="sng" w="9525">
                      <a:solidFill>
                        <a:srgbClr val="FFFFFF">
                          <a:alpha val="10196"/>
                          <a:alpha val="1000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vi" sz="850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Phân loại giao dịch tài chính: </a:t>
                      </a:r>
                      <a:r>
                        <a:rPr b="1" lang="vi" sz="850">
                          <a:solidFill>
                            <a:srgbClr val="00F2FE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CASH_OUT, TRANSFER, PAYMENT, CASH_IN, DEBIT</a:t>
                      </a:r>
                      <a:r>
                        <a:rPr b="0" lang="vi" sz="850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 Gian lận chủ yếu xảy ra trên hai hành vi TRANSFER và CASH_OUT.</a:t>
                      </a:r>
                      <a:endParaRPr b="0" sz="850">
                        <a:solidFill>
                          <a:srgbClr val="FFFFF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0" marL="0">
                    <a:lnB cap="flat" cmpd="sng" w="9525">
                      <a:solidFill>
                        <a:srgbClr val="FFFFFF">
                          <a:alpha val="10196"/>
                          <a:alpha val="1000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vi">
                          <a:solidFill>
                            <a:srgbClr val="00F2FE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oldbalanceOrg / newbalanceOrig</a:t>
                      </a:r>
                      <a:endParaRPr b="1">
                        <a:solidFill>
                          <a:srgbClr val="00F2FE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0" marL="0">
                    <a:lnT cap="flat" cmpd="sng" w="9525">
                      <a:solidFill>
                        <a:srgbClr val="FFFFFF">
                          <a:alpha val="10196"/>
                          <a:alpha val="1000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FFFFF">
                          <a:alpha val="10196"/>
                          <a:alpha val="1000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vi" sz="850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Biến động số dư tài khoản nguồn trước và sau khi thực hiện giao dịch. Chỉ dấu quan trọng về hành vi rút sạch tiền.</a:t>
                      </a:r>
                      <a:endParaRPr b="0" sz="850">
                        <a:solidFill>
                          <a:srgbClr val="FFFFF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0" marL="0">
                    <a:lnT cap="flat" cmpd="sng" w="9525">
                      <a:solidFill>
                        <a:srgbClr val="FFFFFF">
                          <a:alpha val="10196"/>
                          <a:alpha val="1000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FFFFF">
                          <a:alpha val="10196"/>
                          <a:alpha val="1000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vi">
                          <a:solidFill>
                            <a:srgbClr val="00F2FE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oldbalanceDest / newbalanceDest</a:t>
                      </a:r>
                      <a:endParaRPr b="1">
                        <a:solidFill>
                          <a:srgbClr val="00F2FE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0" marL="0">
                    <a:lnT cap="flat" cmpd="sng" w="9525">
                      <a:solidFill>
                        <a:srgbClr val="FFFFFF">
                          <a:alpha val="10196"/>
                          <a:alpha val="1000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vi" sz="850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Biến động số dư tài khoản đích nhận tiền. Rất quan trọng để theo dõi hành vi tẩu tán tài sản sang các ví trung gian.</a:t>
                      </a:r>
                      <a:endParaRPr b="0" sz="850">
                        <a:solidFill>
                          <a:srgbClr val="FFFFF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57150" marB="57150" marR="0" marL="0">
                    <a:lnT cap="flat" cmpd="sng" w="9525">
                      <a:solidFill>
                        <a:srgbClr val="FFFFFF">
                          <a:alpha val="10196"/>
                          <a:alpha val="1000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952500" y="2867025"/>
            <a:ext cx="10096500" cy="22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1475" y="371475"/>
            <a:ext cx="8401200" cy="4400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8"/>
          <p:cNvSpPr/>
          <p:nvPr/>
        </p:nvSpPr>
        <p:spPr>
          <a:xfrm>
            <a:off x="476250" y="10477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9" name="Google Shape;169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23875" y="47625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8"/>
          <p:cNvSpPr txBox="1"/>
          <p:nvPr/>
        </p:nvSpPr>
        <p:spPr>
          <a:xfrm>
            <a:off x="1190625" y="523875"/>
            <a:ext cx="4286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2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18"/>
          <p:cNvSpPr txBox="1"/>
          <p:nvPr/>
        </p:nvSpPr>
        <p:spPr>
          <a:xfrm>
            <a:off x="6191250" y="523875"/>
            <a:ext cx="2381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18"/>
          <p:cNvSpPr txBox="1"/>
          <p:nvPr/>
        </p:nvSpPr>
        <p:spPr>
          <a:xfrm>
            <a:off x="523875" y="1190625"/>
            <a:ext cx="8096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PHÂN TÍCH KHÁM PHÁ DỮ LIỆU</a:t>
            </a:r>
            <a:endParaRPr b="1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50"/>
              </a:spcAft>
              <a:buNone/>
            </a:pPr>
            <a:r>
              <a:rPr b="0" lang="vi" sz="20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NHỮNG PHÁT HIỆN TỪ </a:t>
            </a:r>
            <a:r>
              <a:rPr b="0" lang="vi" sz="2000">
                <a:solidFill>
                  <a:srgbClr val="00F2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TIẾN TRÌNH EDA</a:t>
            </a:r>
            <a:endParaRPr/>
          </a:p>
        </p:txBody>
      </p:sp>
      <p:grpSp>
        <p:nvGrpSpPr>
          <p:cNvPr id="173" name="Google Shape;173;p18"/>
          <p:cNvGrpSpPr/>
          <p:nvPr/>
        </p:nvGrpSpPr>
        <p:grpSpPr>
          <a:xfrm>
            <a:off x="514350" y="1847850"/>
            <a:ext cx="3924300" cy="904800"/>
            <a:chOff x="514350" y="1847850"/>
            <a:chExt cx="3924300" cy="904800"/>
          </a:xfrm>
        </p:grpSpPr>
        <p:sp>
          <p:nvSpPr>
            <p:cNvPr id="174" name="Google Shape;174;p18"/>
            <p:cNvSpPr/>
            <p:nvPr/>
          </p:nvSpPr>
          <p:spPr>
            <a:xfrm>
              <a:off x="514350" y="1847850"/>
              <a:ext cx="3924300" cy="904800"/>
            </a:xfrm>
            <a:prstGeom prst="roundRect">
              <a:avLst>
                <a:gd fmla="val 6315" name="adj"/>
              </a:avLst>
            </a:prstGeom>
            <a:solidFill>
              <a:srgbClr val="1A0B36">
                <a:alpha val="6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8"/>
            <p:cNvSpPr/>
            <p:nvPr/>
          </p:nvSpPr>
          <p:spPr>
            <a:xfrm>
              <a:off x="514350" y="1847850"/>
              <a:ext cx="38100" cy="9048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18"/>
            <p:cNvSpPr txBox="1"/>
            <p:nvPr/>
          </p:nvSpPr>
          <p:spPr>
            <a:xfrm>
              <a:off x="704850" y="19240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22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01</a:t>
              </a:r>
              <a:endParaRPr b="0" sz="222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177" name="Google Shape;177;p18"/>
            <p:cNvSpPr txBox="1"/>
            <p:nvPr/>
          </p:nvSpPr>
          <p:spPr>
            <a:xfrm>
              <a:off x="1181100" y="1943100"/>
              <a:ext cx="31053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0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Đặc trưng loại giao dịch</a:t>
              </a:r>
              <a:endParaRPr b="0" sz="10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Gian lận </a:t>
              </a:r>
              <a:r>
                <a:rPr b="1" lang="vi" sz="925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100%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chỉ xảy ra ở 2 loại giao dịch: </a:t>
              </a:r>
              <a:r>
                <a:rPr b="1" lang="vi" sz="925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TRANSFER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và </a:t>
              </a:r>
              <a:r>
                <a:rPr b="1" lang="vi" sz="925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CASH_OUT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(Chuyển tiền đi rồi rút mặt ngay).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8" name="Google Shape;178;p18"/>
          <p:cNvGrpSpPr/>
          <p:nvPr/>
        </p:nvGrpSpPr>
        <p:grpSpPr>
          <a:xfrm>
            <a:off x="514350" y="2886075"/>
            <a:ext cx="3924300" cy="904800"/>
            <a:chOff x="514350" y="2886075"/>
            <a:chExt cx="3924300" cy="904800"/>
          </a:xfrm>
        </p:grpSpPr>
        <p:sp>
          <p:nvSpPr>
            <p:cNvPr id="179" name="Google Shape;179;p18"/>
            <p:cNvSpPr/>
            <p:nvPr/>
          </p:nvSpPr>
          <p:spPr>
            <a:xfrm>
              <a:off x="514350" y="2886075"/>
              <a:ext cx="3924300" cy="904800"/>
            </a:xfrm>
            <a:prstGeom prst="roundRect">
              <a:avLst>
                <a:gd fmla="val 6315" name="adj"/>
              </a:avLst>
            </a:prstGeom>
            <a:solidFill>
              <a:srgbClr val="1A0B36">
                <a:alpha val="6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18"/>
            <p:cNvSpPr/>
            <p:nvPr/>
          </p:nvSpPr>
          <p:spPr>
            <a:xfrm>
              <a:off x="514350" y="2886075"/>
              <a:ext cx="38100" cy="9048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18"/>
            <p:cNvSpPr txBox="1"/>
            <p:nvPr/>
          </p:nvSpPr>
          <p:spPr>
            <a:xfrm>
              <a:off x="704850" y="2962275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22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02</a:t>
              </a:r>
              <a:endParaRPr b="0" sz="222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182" name="Google Shape;182;p18"/>
            <p:cNvSpPr txBox="1"/>
            <p:nvPr/>
          </p:nvSpPr>
          <p:spPr>
            <a:xfrm>
              <a:off x="1181100" y="2981325"/>
              <a:ext cx="31053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050">
                  <a:solidFill>
                    <a:srgbClr val="FF007F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Hành vi vét sạch tài khoản</a:t>
              </a:r>
              <a:endParaRPr b="0" sz="1050">
                <a:solidFill>
                  <a:srgbClr val="FF007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925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oldbalanceOrg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có giá trị cực kỳ lớn ban đầu nhưng toàn bộ số dư tài khoản nguồn ngay sau giao dịch bị đưa thẳng về </a:t>
              </a:r>
              <a:r>
                <a:rPr b="1" lang="vi" sz="925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0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3" name="Google Shape;183;p18"/>
          <p:cNvGrpSpPr/>
          <p:nvPr/>
        </p:nvGrpSpPr>
        <p:grpSpPr>
          <a:xfrm>
            <a:off x="514350" y="3924300"/>
            <a:ext cx="3924300" cy="904800"/>
            <a:chOff x="514350" y="3924300"/>
            <a:chExt cx="3924300" cy="904800"/>
          </a:xfrm>
        </p:grpSpPr>
        <p:sp>
          <p:nvSpPr>
            <p:cNvPr id="184" name="Google Shape;184;p18"/>
            <p:cNvSpPr/>
            <p:nvPr/>
          </p:nvSpPr>
          <p:spPr>
            <a:xfrm>
              <a:off x="514350" y="3924300"/>
              <a:ext cx="3924300" cy="904800"/>
            </a:xfrm>
            <a:prstGeom prst="roundRect">
              <a:avLst>
                <a:gd fmla="val 6315" name="adj"/>
              </a:avLst>
            </a:prstGeom>
            <a:solidFill>
              <a:srgbClr val="1A0B36">
                <a:alpha val="6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18"/>
            <p:cNvSpPr/>
            <p:nvPr/>
          </p:nvSpPr>
          <p:spPr>
            <a:xfrm>
              <a:off x="514350" y="3924300"/>
              <a:ext cx="38100" cy="9048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18"/>
            <p:cNvSpPr txBox="1"/>
            <p:nvPr/>
          </p:nvSpPr>
          <p:spPr>
            <a:xfrm>
              <a:off x="704850" y="400050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22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03</a:t>
              </a:r>
              <a:endParaRPr b="0" sz="222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187" name="Google Shape;187;p18"/>
            <p:cNvSpPr txBox="1"/>
            <p:nvPr/>
          </p:nvSpPr>
          <p:spPr>
            <a:xfrm>
              <a:off x="1181100" y="4019550"/>
              <a:ext cx="31053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0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Lỗ hổng biến động số dư</a:t>
              </a:r>
              <a:endParaRPr b="0" sz="10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Xuất hiện nghịch lý lớn khi số tiền chuyển đi khổng lồ nhưng số dư đích nhận (</a:t>
              </a:r>
              <a:r>
                <a:rPr b="1" lang="vi" sz="925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newbalanceDest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) không hề tăng tương ứng.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8" name="Google Shape;188;p18"/>
          <p:cNvGrpSpPr/>
          <p:nvPr/>
        </p:nvGrpSpPr>
        <p:grpSpPr>
          <a:xfrm>
            <a:off x="4700588" y="1843088"/>
            <a:ext cx="3933900" cy="1362000"/>
            <a:chOff x="4700588" y="1843088"/>
            <a:chExt cx="3933900" cy="1362000"/>
          </a:xfrm>
        </p:grpSpPr>
        <p:pic>
          <p:nvPicPr>
            <p:cNvPr id="189" name="Google Shape;189;p18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4700588" y="1843088"/>
              <a:ext cx="3933900" cy="136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minimalist data visualization line chart comparing transactional amounts between legitimate and fraudulent transactions. The fraudulent transactions spike intensely in a high-contrast magenta line, while legitimate transactions remain stable in a cool cyan line. Dark futuristic background with neon accents." id="190" name="Google Shape;190;p18"/>
            <p:cNvPicPr preferRelativeResize="0"/>
            <p:nvPr/>
          </p:nvPicPr>
          <p:blipFill rotWithShape="1">
            <a:blip r:embed="rId8">
              <a:alphaModFix/>
            </a:blip>
            <a:srcRect b="22386" l="0" r="0" t="19363"/>
            <a:stretch/>
          </p:blipFill>
          <p:spPr>
            <a:xfrm>
              <a:off x="4705350" y="1847850"/>
              <a:ext cx="3924300" cy="1285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1" name="Google Shape;191;p18"/>
            <p:cNvSpPr/>
            <p:nvPr/>
          </p:nvSpPr>
          <p:spPr>
            <a:xfrm>
              <a:off x="4800600" y="1943100"/>
              <a:ext cx="1714500" cy="228600"/>
            </a:xfrm>
            <a:prstGeom prst="roundRect">
              <a:avLst>
                <a:gd fmla="val 16666" name="adj"/>
              </a:avLst>
            </a:prstGeom>
            <a:solidFill>
              <a:srgbClr val="000000">
                <a:alpha val="8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8"/>
            <p:cNvSpPr txBox="1"/>
            <p:nvPr/>
          </p:nvSpPr>
          <p:spPr>
            <a:xfrm>
              <a:off x="4876800" y="1990725"/>
              <a:ext cx="15621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694">
                  <a:solidFill>
                    <a:srgbClr val="00F2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BIỂU ĐỒ LƯỢNG TIỀN GIAO DỊCH</a:t>
              </a:r>
              <a:endParaRPr b="1" sz="694">
                <a:solidFill>
                  <a:srgbClr val="00F2FE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93" name="Google Shape;193;p18"/>
          <p:cNvGrpSpPr/>
          <p:nvPr/>
        </p:nvGrpSpPr>
        <p:grpSpPr>
          <a:xfrm>
            <a:off x="4700588" y="3386138"/>
            <a:ext cx="3933900" cy="1447800"/>
            <a:chOff x="4700588" y="3386138"/>
            <a:chExt cx="3933900" cy="1447800"/>
          </a:xfrm>
        </p:grpSpPr>
        <p:pic>
          <p:nvPicPr>
            <p:cNvPr id="194" name="Google Shape;194;p18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4700588" y="3386138"/>
              <a:ext cx="3933900" cy="1447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high-tech digital 3D bar chart representing payment transaction types. Giant vertical bars highlight TRANSFER and CASH_OUT in glowing neon magenta, whereas other transaction types like PAYMENT, DEBIT, and CASH_IN are dim and grayed out. Neon dark cyber aesthetic." id="195" name="Google Shape;195;p18"/>
            <p:cNvPicPr preferRelativeResize="0"/>
            <p:nvPr/>
          </p:nvPicPr>
          <p:blipFill rotWithShape="1">
            <a:blip r:embed="rId10">
              <a:alphaModFix/>
            </a:blip>
            <a:srcRect b="24326" l="0" r="0" t="17423"/>
            <a:stretch/>
          </p:blipFill>
          <p:spPr>
            <a:xfrm>
              <a:off x="4705350" y="3390900"/>
              <a:ext cx="3924300" cy="1285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6" name="Google Shape;196;p18"/>
            <p:cNvSpPr/>
            <p:nvPr/>
          </p:nvSpPr>
          <p:spPr>
            <a:xfrm>
              <a:off x="4800600" y="3486150"/>
              <a:ext cx="1714500" cy="228600"/>
            </a:xfrm>
            <a:prstGeom prst="roundRect">
              <a:avLst>
                <a:gd fmla="val 16666" name="adj"/>
              </a:avLst>
            </a:prstGeom>
            <a:solidFill>
              <a:srgbClr val="000000">
                <a:alpha val="8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18"/>
            <p:cNvSpPr txBox="1"/>
            <p:nvPr/>
          </p:nvSpPr>
          <p:spPr>
            <a:xfrm>
              <a:off x="4876800" y="3533775"/>
              <a:ext cx="15621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694">
                  <a:solidFill>
                    <a:srgbClr val="FF007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TỶ LỆ LOẠI GIAO DỊCH GIAN LẬN</a:t>
              </a:r>
              <a:endParaRPr b="1" sz="694">
                <a:solidFill>
                  <a:srgbClr val="FF007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952500" y="2867025"/>
            <a:ext cx="10096500" cy="22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1475" y="371475"/>
            <a:ext cx="8401200" cy="4400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9"/>
          <p:cNvSpPr/>
          <p:nvPr/>
        </p:nvSpPr>
        <p:spPr>
          <a:xfrm>
            <a:off x="476250" y="10477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6" name="Google Shape;206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23875" y="47625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9"/>
          <p:cNvSpPr txBox="1"/>
          <p:nvPr/>
        </p:nvSpPr>
        <p:spPr>
          <a:xfrm>
            <a:off x="1190625" y="523875"/>
            <a:ext cx="4286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2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19"/>
          <p:cNvSpPr txBox="1"/>
          <p:nvPr/>
        </p:nvSpPr>
        <p:spPr>
          <a:xfrm>
            <a:off x="6191250" y="523875"/>
            <a:ext cx="2381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19"/>
          <p:cNvSpPr txBox="1"/>
          <p:nvPr/>
        </p:nvSpPr>
        <p:spPr>
          <a:xfrm>
            <a:off x="523875" y="1190625"/>
            <a:ext cx="8096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KIẾN TRÚC TỔNG THỂ HỆ THỐNG</a:t>
            </a:r>
            <a:endParaRPr b="1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vi" sz="20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PHÁT TRIỂN PIPELINE </a:t>
            </a:r>
            <a:r>
              <a:rPr b="0" lang="vi" sz="2000">
                <a:solidFill>
                  <a:srgbClr val="00F2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PHÁT HIỆN GIAN LẬN END-TO-END</a:t>
            </a:r>
            <a:endParaRPr b="1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10" name="Google Shape;210;p19"/>
          <p:cNvGrpSpPr/>
          <p:nvPr/>
        </p:nvGrpSpPr>
        <p:grpSpPr>
          <a:xfrm>
            <a:off x="523875" y="2000250"/>
            <a:ext cx="1000200" cy="1285800"/>
            <a:chOff x="523875" y="2000250"/>
            <a:chExt cx="1000200" cy="1285800"/>
          </a:xfrm>
        </p:grpSpPr>
        <p:sp>
          <p:nvSpPr>
            <p:cNvPr id="211" name="Google Shape;211;p19"/>
            <p:cNvSpPr/>
            <p:nvPr/>
          </p:nvSpPr>
          <p:spPr>
            <a:xfrm>
              <a:off x="523875" y="2000250"/>
              <a:ext cx="1000200" cy="1285800"/>
            </a:xfrm>
            <a:prstGeom prst="roundRect">
              <a:avLst>
                <a:gd fmla="val 5714" name="adj"/>
              </a:avLst>
            </a:prstGeom>
            <a:solidFill>
              <a:srgbClr val="1A0B36">
                <a:alpha val="6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19"/>
            <p:cNvSpPr/>
            <p:nvPr/>
          </p:nvSpPr>
          <p:spPr>
            <a:xfrm>
              <a:off x="523875" y="2000250"/>
              <a:ext cx="1000200" cy="381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19"/>
            <p:cNvSpPr txBox="1"/>
            <p:nvPr/>
          </p:nvSpPr>
          <p:spPr>
            <a:xfrm>
              <a:off x="571500" y="2095500"/>
              <a:ext cx="90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2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01</a:t>
              </a:r>
              <a:endParaRPr b="0" sz="12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8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Raw PaySim</a:t>
              </a:r>
              <a:endParaRPr b="1" sz="80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Dữ liệu thô mô phỏng giao dịch di động quy mô lớn.</a:t>
              </a:r>
              <a:endParaRPr b="0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pic>
        <p:nvPicPr>
          <p:cNvPr id="214" name="Google Shape;214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81150" y="2628900"/>
            <a:ext cx="114300" cy="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695450" y="2609850"/>
            <a:ext cx="57300" cy="57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6" name="Google Shape;216;p19"/>
          <p:cNvGrpSpPr/>
          <p:nvPr/>
        </p:nvGrpSpPr>
        <p:grpSpPr>
          <a:xfrm>
            <a:off x="1809750" y="2000250"/>
            <a:ext cx="1000200" cy="1285800"/>
            <a:chOff x="1809750" y="2000250"/>
            <a:chExt cx="1000200" cy="1285800"/>
          </a:xfrm>
        </p:grpSpPr>
        <p:sp>
          <p:nvSpPr>
            <p:cNvPr id="217" name="Google Shape;217;p19"/>
            <p:cNvSpPr/>
            <p:nvPr/>
          </p:nvSpPr>
          <p:spPr>
            <a:xfrm>
              <a:off x="1809750" y="2000250"/>
              <a:ext cx="1000200" cy="1285800"/>
            </a:xfrm>
            <a:prstGeom prst="roundRect">
              <a:avLst>
                <a:gd fmla="val 5714" name="adj"/>
              </a:avLst>
            </a:prstGeom>
            <a:solidFill>
              <a:srgbClr val="1A0B36">
                <a:alpha val="6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19"/>
            <p:cNvSpPr/>
            <p:nvPr/>
          </p:nvSpPr>
          <p:spPr>
            <a:xfrm>
              <a:off x="1809750" y="2000250"/>
              <a:ext cx="1000200" cy="381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19"/>
            <p:cNvSpPr txBox="1"/>
            <p:nvPr/>
          </p:nvSpPr>
          <p:spPr>
            <a:xfrm>
              <a:off x="1857375" y="2095500"/>
              <a:ext cx="90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2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02</a:t>
              </a:r>
              <a:endParaRPr b="0" sz="12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8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Engineering</a:t>
              </a:r>
              <a:endParaRPr b="1" sz="80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Làm sạch &amp; trích xuất đặc trưng biến động số dư.</a:t>
              </a:r>
              <a:endParaRPr b="0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pic>
        <p:nvPicPr>
          <p:cNvPr id="220" name="Google Shape;220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867025" y="2628900"/>
            <a:ext cx="114300" cy="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981325" y="2609850"/>
            <a:ext cx="57300" cy="57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2" name="Google Shape;222;p19"/>
          <p:cNvGrpSpPr/>
          <p:nvPr/>
        </p:nvGrpSpPr>
        <p:grpSpPr>
          <a:xfrm>
            <a:off x="3095625" y="2000250"/>
            <a:ext cx="1000200" cy="1285800"/>
            <a:chOff x="3095625" y="2000250"/>
            <a:chExt cx="1000200" cy="1285800"/>
          </a:xfrm>
        </p:grpSpPr>
        <p:sp>
          <p:nvSpPr>
            <p:cNvPr id="223" name="Google Shape;223;p19"/>
            <p:cNvSpPr/>
            <p:nvPr/>
          </p:nvSpPr>
          <p:spPr>
            <a:xfrm>
              <a:off x="3095625" y="2000250"/>
              <a:ext cx="1000200" cy="1285800"/>
            </a:xfrm>
            <a:prstGeom prst="roundRect">
              <a:avLst>
                <a:gd fmla="val 5714" name="adj"/>
              </a:avLst>
            </a:prstGeom>
            <a:solidFill>
              <a:srgbClr val="1A0B36">
                <a:alpha val="6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" name="Google Shape;224;p19"/>
            <p:cNvSpPr/>
            <p:nvPr/>
          </p:nvSpPr>
          <p:spPr>
            <a:xfrm>
              <a:off x="3095625" y="2000250"/>
              <a:ext cx="1000200" cy="381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3143250" y="2095500"/>
              <a:ext cx="90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2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03</a:t>
              </a:r>
              <a:endParaRPr b="0" sz="12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8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Split 80/20</a:t>
              </a:r>
              <a:endParaRPr b="1" sz="80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Phân hoạch dữ liệu Train/Test phân tầng nghiêm ngặt.</a:t>
              </a:r>
              <a:endParaRPr b="0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pic>
        <p:nvPicPr>
          <p:cNvPr id="226" name="Google Shape;226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152900" y="2628900"/>
            <a:ext cx="114300" cy="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267200" y="2609850"/>
            <a:ext cx="57300" cy="57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19"/>
          <p:cNvGrpSpPr/>
          <p:nvPr/>
        </p:nvGrpSpPr>
        <p:grpSpPr>
          <a:xfrm>
            <a:off x="4381500" y="2000250"/>
            <a:ext cx="1000200" cy="1285800"/>
            <a:chOff x="4381500" y="2000250"/>
            <a:chExt cx="1000200" cy="1285800"/>
          </a:xfrm>
        </p:grpSpPr>
        <p:sp>
          <p:nvSpPr>
            <p:cNvPr id="229" name="Google Shape;229;p19"/>
            <p:cNvSpPr/>
            <p:nvPr/>
          </p:nvSpPr>
          <p:spPr>
            <a:xfrm>
              <a:off x="4381500" y="2000250"/>
              <a:ext cx="1000200" cy="1285800"/>
            </a:xfrm>
            <a:prstGeom prst="roundRect">
              <a:avLst>
                <a:gd fmla="val 5714" name="adj"/>
              </a:avLst>
            </a:prstGeom>
            <a:solidFill>
              <a:srgbClr val="1A0B36">
                <a:alpha val="6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19"/>
            <p:cNvSpPr/>
            <p:nvPr/>
          </p:nvSpPr>
          <p:spPr>
            <a:xfrm>
              <a:off x="4381500" y="2000250"/>
              <a:ext cx="1000200" cy="381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19"/>
            <p:cNvSpPr txBox="1"/>
            <p:nvPr/>
          </p:nvSpPr>
          <p:spPr>
            <a:xfrm>
              <a:off x="4429125" y="2095500"/>
              <a:ext cx="90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2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04</a:t>
              </a:r>
              <a:endParaRPr b="0" sz="12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8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SMOTE</a:t>
              </a:r>
              <a:endParaRPr b="1" sz="80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ADASYN cân bằng mẫu (chỉ áp dụng trên Train set).</a:t>
              </a:r>
              <a:endParaRPr b="0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pic>
        <p:nvPicPr>
          <p:cNvPr id="232" name="Google Shape;232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438775" y="2628900"/>
            <a:ext cx="114300" cy="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553075" y="2609850"/>
            <a:ext cx="57300" cy="57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4" name="Google Shape;234;p19"/>
          <p:cNvGrpSpPr/>
          <p:nvPr/>
        </p:nvGrpSpPr>
        <p:grpSpPr>
          <a:xfrm>
            <a:off x="5667375" y="2000250"/>
            <a:ext cx="1000200" cy="1285800"/>
            <a:chOff x="5667375" y="2000250"/>
            <a:chExt cx="1000200" cy="1285800"/>
          </a:xfrm>
        </p:grpSpPr>
        <p:sp>
          <p:nvSpPr>
            <p:cNvPr id="235" name="Google Shape;235;p19"/>
            <p:cNvSpPr/>
            <p:nvPr/>
          </p:nvSpPr>
          <p:spPr>
            <a:xfrm>
              <a:off x="5667375" y="2000250"/>
              <a:ext cx="1000200" cy="1285800"/>
            </a:xfrm>
            <a:prstGeom prst="roundRect">
              <a:avLst>
                <a:gd fmla="val 5714" name="adj"/>
              </a:avLst>
            </a:prstGeom>
            <a:solidFill>
              <a:srgbClr val="1A0B36">
                <a:alpha val="6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19"/>
            <p:cNvSpPr/>
            <p:nvPr/>
          </p:nvSpPr>
          <p:spPr>
            <a:xfrm>
              <a:off x="5667375" y="2000250"/>
              <a:ext cx="1000200" cy="381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19"/>
            <p:cNvSpPr txBox="1"/>
            <p:nvPr/>
          </p:nvSpPr>
          <p:spPr>
            <a:xfrm>
              <a:off x="5715000" y="2095500"/>
              <a:ext cx="90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2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05</a:t>
              </a:r>
              <a:endParaRPr b="0" sz="12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8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Training</a:t>
              </a:r>
              <a:endParaRPr b="1" sz="80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Huấn luyện: RF, XGBoost &amp; Autoencoder.</a:t>
              </a:r>
              <a:endParaRPr b="0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pic>
        <p:nvPicPr>
          <p:cNvPr id="238" name="Google Shape;238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4650" y="2628900"/>
            <a:ext cx="114300" cy="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838950" y="2609850"/>
            <a:ext cx="57300" cy="57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0" name="Google Shape;240;p19"/>
          <p:cNvGrpSpPr/>
          <p:nvPr/>
        </p:nvGrpSpPr>
        <p:grpSpPr>
          <a:xfrm>
            <a:off x="6953250" y="2000250"/>
            <a:ext cx="1000200" cy="1285800"/>
            <a:chOff x="6953250" y="2000250"/>
            <a:chExt cx="1000200" cy="1285800"/>
          </a:xfrm>
        </p:grpSpPr>
        <p:sp>
          <p:nvSpPr>
            <p:cNvPr id="241" name="Google Shape;241;p19"/>
            <p:cNvSpPr/>
            <p:nvPr/>
          </p:nvSpPr>
          <p:spPr>
            <a:xfrm>
              <a:off x="6953250" y="2000250"/>
              <a:ext cx="1000200" cy="1285800"/>
            </a:xfrm>
            <a:prstGeom prst="roundRect">
              <a:avLst>
                <a:gd fmla="val 5714" name="adj"/>
              </a:avLst>
            </a:prstGeom>
            <a:solidFill>
              <a:srgbClr val="1A0B36">
                <a:alpha val="6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19"/>
            <p:cNvSpPr/>
            <p:nvPr/>
          </p:nvSpPr>
          <p:spPr>
            <a:xfrm>
              <a:off x="6953250" y="2000250"/>
              <a:ext cx="1000200" cy="381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19"/>
            <p:cNvSpPr txBox="1"/>
            <p:nvPr/>
          </p:nvSpPr>
          <p:spPr>
            <a:xfrm>
              <a:off x="7000875" y="2095500"/>
              <a:ext cx="90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2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06</a:t>
              </a:r>
              <a:endParaRPr b="0" sz="12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8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Evaluation</a:t>
              </a:r>
              <a:endParaRPr b="1" sz="80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Đo lường F1, Recall, ROC-AUC, PR-AUC.</a:t>
              </a:r>
              <a:endParaRPr b="0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pic>
        <p:nvPicPr>
          <p:cNvPr id="244" name="Google Shape;244;p19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010525" y="2628900"/>
            <a:ext cx="57300" cy="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067675" y="2609850"/>
            <a:ext cx="57300" cy="57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19"/>
          <p:cNvGrpSpPr/>
          <p:nvPr/>
        </p:nvGrpSpPr>
        <p:grpSpPr>
          <a:xfrm>
            <a:off x="8181975" y="2000250"/>
            <a:ext cx="438300" cy="1285800"/>
            <a:chOff x="8181975" y="2000250"/>
            <a:chExt cx="438300" cy="1285800"/>
          </a:xfrm>
        </p:grpSpPr>
        <p:sp>
          <p:nvSpPr>
            <p:cNvPr id="247" name="Google Shape;247;p19"/>
            <p:cNvSpPr/>
            <p:nvPr/>
          </p:nvSpPr>
          <p:spPr>
            <a:xfrm>
              <a:off x="8181975" y="2000250"/>
              <a:ext cx="438300" cy="1285800"/>
            </a:xfrm>
            <a:prstGeom prst="roundRect">
              <a:avLst>
                <a:gd fmla="val 13043" name="adj"/>
              </a:avLst>
            </a:prstGeom>
            <a:solidFill>
              <a:srgbClr val="1A0B36">
                <a:alpha val="6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19"/>
            <p:cNvSpPr/>
            <p:nvPr/>
          </p:nvSpPr>
          <p:spPr>
            <a:xfrm>
              <a:off x="8181975" y="2000250"/>
              <a:ext cx="438300" cy="381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19"/>
            <p:cNvSpPr txBox="1"/>
            <p:nvPr/>
          </p:nvSpPr>
          <p:spPr>
            <a:xfrm>
              <a:off x="8210550" y="2095500"/>
              <a:ext cx="38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2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07</a:t>
              </a:r>
              <a:endParaRPr b="0" sz="12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68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Web</a:t>
              </a:r>
              <a:endParaRPr b="1" sz="68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vi" sz="70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Demo UI.</a:t>
              </a:r>
              <a:endParaRPr b="0" sz="70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50" name="Google Shape;250;p19"/>
          <p:cNvGrpSpPr/>
          <p:nvPr/>
        </p:nvGrpSpPr>
        <p:grpSpPr>
          <a:xfrm>
            <a:off x="523875" y="3952875"/>
            <a:ext cx="8096400" cy="628800"/>
            <a:chOff x="523875" y="3952875"/>
            <a:chExt cx="8096400" cy="628800"/>
          </a:xfrm>
        </p:grpSpPr>
        <p:sp>
          <p:nvSpPr>
            <p:cNvPr id="251" name="Google Shape;251;p19"/>
            <p:cNvSpPr/>
            <p:nvPr/>
          </p:nvSpPr>
          <p:spPr>
            <a:xfrm>
              <a:off x="523875" y="3952875"/>
              <a:ext cx="8096400" cy="628800"/>
            </a:xfrm>
            <a:prstGeom prst="roundRect">
              <a:avLst>
                <a:gd fmla="val 9090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9"/>
            <p:cNvSpPr/>
            <p:nvPr/>
          </p:nvSpPr>
          <p:spPr>
            <a:xfrm>
              <a:off x="523875" y="3952875"/>
              <a:ext cx="76200" cy="628800"/>
            </a:xfrm>
            <a:prstGeom prst="roundRect">
              <a:avLst>
                <a:gd fmla="val 25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19"/>
            <p:cNvSpPr txBox="1"/>
            <p:nvPr/>
          </p:nvSpPr>
          <p:spPr>
            <a:xfrm>
              <a:off x="762000" y="4029075"/>
              <a:ext cx="7620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1018">
                  <a:solidFill>
                    <a:srgbClr val="FF007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NGUYÊN TẮC VÀNG CHỐNG RÒ RỈ DỮ LIỆU (DATA LEAKAGE)</a:t>
              </a:r>
              <a:endParaRPr b="1" sz="1018">
                <a:solidFill>
                  <a:srgbClr val="FF007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vi" sz="925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Tuyệt đối </a:t>
              </a:r>
              <a:r>
                <a:rPr b="1" lang="vi" sz="925">
                  <a:solidFill>
                    <a:srgbClr val="FF007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không thực hiện oversampling / SMOTE trên tập Test</a:t>
              </a:r>
              <a:r>
                <a:rPr b="0" lang="vi" sz="925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. Tiến trình xử lý mất cân bằng chỉ được thực thi cô lập trong nội bộ tập Train sau khi đã phân tách.</a:t>
              </a:r>
              <a:endParaRPr b="0" sz="92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0"/>
          <p:cNvSpPr/>
          <p:nvPr/>
        </p:nvSpPr>
        <p:spPr>
          <a:xfrm>
            <a:off x="476250" y="10477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0"/>
          <p:cNvSpPr txBox="1"/>
          <p:nvPr/>
        </p:nvSpPr>
        <p:spPr>
          <a:xfrm>
            <a:off x="1190625" y="523875"/>
            <a:ext cx="4286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2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20"/>
          <p:cNvSpPr txBox="1"/>
          <p:nvPr/>
        </p:nvSpPr>
        <p:spPr>
          <a:xfrm>
            <a:off x="6191250" y="523875"/>
            <a:ext cx="2381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0"/>
          <p:cNvSpPr txBox="1"/>
          <p:nvPr/>
        </p:nvSpPr>
        <p:spPr>
          <a:xfrm>
            <a:off x="523875" y="1190625"/>
            <a:ext cx="80964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THÔNG TIN KHẢO SÁT &amp; TIỀN XỬ LÝ</a:t>
            </a:r>
            <a:endParaRPr b="1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13"/>
              </a:spcBef>
              <a:spcAft>
                <a:spcPts val="113"/>
              </a:spcAft>
              <a:buNone/>
            </a:pPr>
            <a:r>
              <a:rPr b="0" lang="vi" sz="20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TIỀN XỬ LÝ &amp; </a:t>
            </a:r>
            <a:r>
              <a:rPr b="0" lang="vi" sz="2000">
                <a:solidFill>
                  <a:srgbClr val="00F2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KỸ THUẬT ĐẶC TRƯNG (14 FEATURES)</a:t>
            </a:r>
            <a:endParaRPr b="1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3" name="Google Shape;263;p20"/>
          <p:cNvGrpSpPr/>
          <p:nvPr/>
        </p:nvGrpSpPr>
        <p:grpSpPr>
          <a:xfrm>
            <a:off x="523875" y="2000250"/>
            <a:ext cx="2571900" cy="2571900"/>
            <a:chOff x="523875" y="2000250"/>
            <a:chExt cx="2571900" cy="2571900"/>
          </a:xfrm>
        </p:grpSpPr>
        <p:sp>
          <p:nvSpPr>
            <p:cNvPr id="264" name="Google Shape;264;p20"/>
            <p:cNvSpPr/>
            <p:nvPr/>
          </p:nvSpPr>
          <p:spPr>
            <a:xfrm>
              <a:off x="523875" y="2000250"/>
              <a:ext cx="2571900" cy="2571900"/>
            </a:xfrm>
            <a:prstGeom prst="roundRect">
              <a:avLst>
                <a:gd fmla="val 2222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20"/>
            <p:cNvSpPr/>
            <p:nvPr/>
          </p:nvSpPr>
          <p:spPr>
            <a:xfrm>
              <a:off x="523875" y="2000250"/>
              <a:ext cx="25719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20"/>
            <p:cNvSpPr txBox="1"/>
            <p:nvPr/>
          </p:nvSpPr>
          <p:spPr>
            <a:xfrm>
              <a:off x="714375" y="2209800"/>
              <a:ext cx="2190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01</a:t>
              </a:r>
              <a:endParaRPr b="0" sz="2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267" name="Google Shape;267;p20"/>
            <p:cNvSpPr txBox="1"/>
            <p:nvPr/>
          </p:nvSpPr>
          <p:spPr>
            <a:xfrm>
              <a:off x="714375" y="2686050"/>
              <a:ext cx="2190900" cy="17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Lọc &amp; Mã hóa (Encoding)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563"/>
                </a:spcBef>
                <a:spcAft>
                  <a:spcPts val="0"/>
                </a:spcAft>
                <a:buNone/>
              </a:pP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• </a:t>
              </a:r>
              <a:r>
                <a:rPr b="1" lang="vi" sz="8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Lọc loại giao dịch:</a:t>
              </a: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Tập trung vào TRANSFER và CASH_OUT.</a:t>
              </a:r>
              <a:endParaRPr b="0" sz="8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• </a:t>
              </a:r>
              <a:r>
                <a:rPr b="1" lang="vi" sz="8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One-Hot Encoding:</a:t>
              </a: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Mã hóa cột type thành vector nhị phân.</a:t>
              </a:r>
              <a:endParaRPr b="0" sz="8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• </a:t>
              </a:r>
              <a:r>
                <a:rPr b="1" lang="vi" sz="8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Loại bỏ cột nhiễu:</a:t>
              </a: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Bỏ nameOrig, nameDest và isFlaggedFraud.</a:t>
              </a:r>
              <a:endParaRPr b="0" sz="8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</p:grpSp>
      <p:grpSp>
        <p:nvGrpSpPr>
          <p:cNvPr id="268" name="Google Shape;268;p20"/>
          <p:cNvGrpSpPr/>
          <p:nvPr/>
        </p:nvGrpSpPr>
        <p:grpSpPr>
          <a:xfrm>
            <a:off x="3286125" y="2000250"/>
            <a:ext cx="2571900" cy="2571900"/>
            <a:chOff x="3286125" y="2000250"/>
            <a:chExt cx="2571900" cy="2571900"/>
          </a:xfrm>
        </p:grpSpPr>
        <p:sp>
          <p:nvSpPr>
            <p:cNvPr id="269" name="Google Shape;269;p20"/>
            <p:cNvSpPr/>
            <p:nvPr/>
          </p:nvSpPr>
          <p:spPr>
            <a:xfrm>
              <a:off x="3286125" y="2000250"/>
              <a:ext cx="2571900" cy="2571900"/>
            </a:xfrm>
            <a:prstGeom prst="roundRect">
              <a:avLst>
                <a:gd fmla="val 2222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20"/>
            <p:cNvSpPr/>
            <p:nvPr/>
          </p:nvSpPr>
          <p:spPr>
            <a:xfrm>
              <a:off x="3286125" y="2000250"/>
              <a:ext cx="2571900" cy="573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" name="Google Shape;271;p20"/>
            <p:cNvSpPr txBox="1"/>
            <p:nvPr/>
          </p:nvSpPr>
          <p:spPr>
            <a:xfrm>
              <a:off x="3476625" y="2209800"/>
              <a:ext cx="2190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02</a:t>
              </a:r>
              <a:endParaRPr b="0" sz="2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272" name="Google Shape;272;p20"/>
            <p:cNvSpPr txBox="1"/>
            <p:nvPr/>
          </p:nvSpPr>
          <p:spPr>
            <a:xfrm>
              <a:off x="3476625" y="2686050"/>
              <a:ext cx="2190900" cy="17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Kỹ thuật đặc trưng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563"/>
                </a:spcBef>
                <a:spcAft>
                  <a:spcPts val="0"/>
                </a:spcAft>
                <a:buNone/>
              </a:pPr>
              <a:r>
                <a:rPr b="1" lang="vi" sz="75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errorOrig = oldOrig - amount - newOrig</a:t>
              </a:r>
              <a:endParaRPr b="1" sz="750">
                <a:solidFill>
                  <a:srgbClr val="FF007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75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errorDest = oldDest + amount - newDest</a:t>
              </a:r>
              <a:endParaRPr b="1" sz="750">
                <a:solidFill>
                  <a:srgbClr val="FF007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vi" sz="8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is_drain_account:</a:t>
              </a:r>
              <a:r>
                <a:rPr b="0" lang="vi" sz="80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Rút sạch ví (97.56% Fraud).</a:t>
              </a:r>
              <a:endParaRPr b="0" sz="8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8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hour &amp; night:</a:t>
              </a:r>
              <a:r>
                <a:rPr b="0" lang="vi" sz="80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Bắt chu kỳ giờ và đêm (0h-5h).</a:t>
              </a:r>
              <a:endParaRPr b="0" sz="8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8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ratio &amp; large:</a:t>
              </a:r>
              <a:r>
                <a:rPr b="0" lang="vi" sz="80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Tỉ lệ chuyển và cờ giao dịch lớn.</a:t>
              </a:r>
              <a:endParaRPr b="0" sz="8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</p:grpSp>
      <p:grpSp>
        <p:nvGrpSpPr>
          <p:cNvPr id="273" name="Google Shape;273;p20"/>
          <p:cNvGrpSpPr/>
          <p:nvPr/>
        </p:nvGrpSpPr>
        <p:grpSpPr>
          <a:xfrm>
            <a:off x="6048375" y="2000250"/>
            <a:ext cx="2571900" cy="2571900"/>
            <a:chOff x="6048375" y="2000250"/>
            <a:chExt cx="2571900" cy="2571900"/>
          </a:xfrm>
        </p:grpSpPr>
        <p:sp>
          <p:nvSpPr>
            <p:cNvPr id="274" name="Google Shape;274;p20"/>
            <p:cNvSpPr/>
            <p:nvPr/>
          </p:nvSpPr>
          <p:spPr>
            <a:xfrm>
              <a:off x="6048375" y="2000250"/>
              <a:ext cx="2571900" cy="2571900"/>
            </a:xfrm>
            <a:prstGeom prst="roundRect">
              <a:avLst>
                <a:gd fmla="val 2222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20"/>
            <p:cNvSpPr/>
            <p:nvPr/>
          </p:nvSpPr>
          <p:spPr>
            <a:xfrm>
              <a:off x="6048375" y="2000250"/>
              <a:ext cx="25719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20"/>
            <p:cNvSpPr txBox="1"/>
            <p:nvPr/>
          </p:nvSpPr>
          <p:spPr>
            <a:xfrm>
              <a:off x="6238875" y="2209800"/>
              <a:ext cx="2190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03</a:t>
              </a:r>
              <a:endParaRPr b="0" sz="2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277" name="Google Shape;277;p20"/>
            <p:cNvSpPr txBox="1"/>
            <p:nvPr/>
          </p:nvSpPr>
          <p:spPr>
            <a:xfrm>
              <a:off x="6238875" y="2686050"/>
              <a:ext cx="2190900" cy="17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Chuẩn hóa dữ liệu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563"/>
                </a:spcBef>
                <a:spcAft>
                  <a:spcPts val="0"/>
                </a:spcAft>
                <a:buNone/>
              </a:pP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• </a:t>
              </a:r>
              <a:r>
                <a:rPr b="1" lang="vi" sz="8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StandardScaler:</a:t>
              </a: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Fit trên Train set, transform trên Test set cho các biến liên tục.</a:t>
              </a:r>
              <a:endParaRPr b="0" sz="8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• </a:t>
              </a:r>
              <a:r>
                <a:rPr b="1" lang="vi" sz="8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Bảo toàn cờ:</a:t>
              </a: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Giữ nguyên các cờ (0/1) không scale để bảo toàn tính phân tách.</a:t>
              </a:r>
              <a:endParaRPr b="0" sz="8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• </a:t>
              </a:r>
              <a:r>
                <a:rPr b="1" lang="vi" sz="8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Không gian cuối:</a:t>
              </a: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Ma trận 14 đặc trưng đầu vào.</a:t>
              </a:r>
              <a:endParaRPr b="0" sz="8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</p:grpSp>
      <p:pic>
        <p:nvPicPr>
          <p:cNvPr id="278" name="Google Shape;27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1475" y="371475"/>
            <a:ext cx="8401200" cy="440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3875" y="476250"/>
            <a:ext cx="571500" cy="57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Google Shape;28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pic>
        <p:nvPicPr>
          <p:cNvPr id="285" name="Google Shape;28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1475" y="371475"/>
            <a:ext cx="8401200" cy="44007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1"/>
          <p:cNvSpPr/>
          <p:nvPr/>
        </p:nvSpPr>
        <p:spPr>
          <a:xfrm>
            <a:off x="476250" y="10477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87" name="Google Shape;287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3875" y="47625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1"/>
          <p:cNvSpPr txBox="1"/>
          <p:nvPr/>
        </p:nvSpPr>
        <p:spPr>
          <a:xfrm>
            <a:off x="1190625" y="523875"/>
            <a:ext cx="4286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2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9" name="Google Shape;289;p21"/>
          <p:cNvSpPr txBox="1"/>
          <p:nvPr/>
        </p:nvSpPr>
        <p:spPr>
          <a:xfrm>
            <a:off x="6191250" y="523875"/>
            <a:ext cx="2381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0" name="Google Shape;290;p21"/>
          <p:cNvSpPr txBox="1"/>
          <p:nvPr/>
        </p:nvSpPr>
        <p:spPr>
          <a:xfrm>
            <a:off x="523875" y="1190625"/>
            <a:ext cx="8096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THÔNG TIN KHẢO SÁT &amp; TIỀN XỬ LÝ</a:t>
            </a:r>
            <a:endParaRPr b="1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13"/>
              </a:spcBef>
              <a:spcAft>
                <a:spcPts val="0"/>
              </a:spcAft>
              <a:buNone/>
            </a:pPr>
            <a:r>
              <a:rPr b="0" lang="vi" sz="20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KỸ THUẬT XỬ LÝ </a:t>
            </a:r>
            <a:r>
              <a:rPr b="0" lang="vi" sz="2000">
                <a:solidFill>
                  <a:srgbClr val="00F2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MẤT CÂN BẰNG DỮ LIỆU</a:t>
            </a:r>
            <a:endParaRPr/>
          </a:p>
        </p:txBody>
      </p:sp>
      <p:grpSp>
        <p:nvGrpSpPr>
          <p:cNvPr id="291" name="Google Shape;291;p21"/>
          <p:cNvGrpSpPr/>
          <p:nvPr/>
        </p:nvGrpSpPr>
        <p:grpSpPr>
          <a:xfrm>
            <a:off x="523875" y="1905000"/>
            <a:ext cx="3905400" cy="2667000"/>
            <a:chOff x="523875" y="1905000"/>
            <a:chExt cx="3905400" cy="2667000"/>
          </a:xfrm>
        </p:grpSpPr>
        <p:sp>
          <p:nvSpPr>
            <p:cNvPr id="292" name="Google Shape;292;p21"/>
            <p:cNvSpPr/>
            <p:nvPr/>
          </p:nvSpPr>
          <p:spPr>
            <a:xfrm>
              <a:off x="523875" y="1905000"/>
              <a:ext cx="3905400" cy="2667000"/>
            </a:xfrm>
            <a:prstGeom prst="roundRect">
              <a:avLst>
                <a:gd fmla="val 2142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21"/>
            <p:cNvSpPr/>
            <p:nvPr/>
          </p:nvSpPr>
          <p:spPr>
            <a:xfrm>
              <a:off x="523875" y="1905000"/>
              <a:ext cx="39054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21"/>
            <p:cNvSpPr txBox="1"/>
            <p:nvPr/>
          </p:nvSpPr>
          <p:spPr>
            <a:xfrm>
              <a:off x="714375" y="2095500"/>
              <a:ext cx="3524400" cy="233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FF007F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VÌ SAO KHÔNG DÙNG ACCURACY?</a:t>
              </a:r>
              <a:endParaRPr b="0" sz="1150">
                <a:solidFill>
                  <a:srgbClr val="FF007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vi" sz="26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99.87%</a:t>
              </a:r>
              <a:endParaRPr b="0" sz="26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10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Accuracy đạt cực kỳ cao</a:t>
              </a:r>
              <a:endParaRPr b="1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Nếu hệ thống chỉ đơn giản dự đoán tất cả giao dịch là </a:t>
              </a:r>
              <a:r>
                <a:rPr b="1" lang="vi" sz="8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"Hợp lệ"</a:t>
              </a: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 b="0" sz="8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vi" sz="9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Nhưng mô hình này </a:t>
              </a:r>
              <a:r>
                <a:rPr b="1" lang="vi" sz="95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hoàn toàn vô dụng</a:t>
              </a:r>
              <a:r>
                <a:rPr b="0" lang="vi" sz="9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trong thực tế vì bỏ lọt hoàn toàn </a:t>
              </a:r>
              <a:r>
                <a:rPr b="1" lang="vi" sz="95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100% ca gian lận</a:t>
              </a:r>
              <a:r>
                <a:rPr b="0" lang="vi" sz="9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thực tế. Điều này dẫn đến thiệt hại tài chính khổng lồ do chi phí bỏ sót cực kỳ cao.</a:t>
              </a:r>
              <a:endParaRPr b="0" sz="9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95" name="Google Shape;295;p21"/>
          <p:cNvGrpSpPr/>
          <p:nvPr/>
        </p:nvGrpSpPr>
        <p:grpSpPr>
          <a:xfrm>
            <a:off x="4714875" y="1905000"/>
            <a:ext cx="3905400" cy="2667000"/>
            <a:chOff x="4714875" y="1905000"/>
            <a:chExt cx="3905400" cy="2667000"/>
          </a:xfrm>
        </p:grpSpPr>
        <p:sp>
          <p:nvSpPr>
            <p:cNvPr id="296" name="Google Shape;296;p21"/>
            <p:cNvSpPr/>
            <p:nvPr/>
          </p:nvSpPr>
          <p:spPr>
            <a:xfrm>
              <a:off x="4714875" y="1905000"/>
              <a:ext cx="3905400" cy="2667000"/>
            </a:xfrm>
            <a:prstGeom prst="roundRect">
              <a:avLst>
                <a:gd fmla="val 2142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21"/>
            <p:cNvSpPr/>
            <p:nvPr/>
          </p:nvSpPr>
          <p:spPr>
            <a:xfrm>
              <a:off x="4714875" y="1905000"/>
              <a:ext cx="3905400" cy="573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21"/>
            <p:cNvSpPr txBox="1"/>
            <p:nvPr/>
          </p:nvSpPr>
          <p:spPr>
            <a:xfrm>
              <a:off x="4905375" y="2095500"/>
              <a:ext cx="3524400" cy="233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CÁC GIẢI PHÁP ĐƯỢC ÁP DỤNG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vi" sz="9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SMOTE</a:t>
              </a:r>
              <a:r>
                <a:rPr b="1" lang="vi" sz="9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(Synthetic Minority Over-sampling)</a:t>
              </a:r>
              <a:endParaRPr b="1" sz="9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Tự động kiến tạo dữ liệu tổng hợp dựa trên thuật toán </a:t>
              </a:r>
              <a:r>
                <a:rPr b="1" lang="vi" sz="8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k-NN</a:t>
              </a: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cho riêng lớp thiểu số.</a:t>
              </a:r>
              <a:endParaRPr b="0" sz="8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vi" sz="9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ADASYN</a:t>
              </a:r>
              <a:r>
                <a:rPr b="1" lang="vi" sz="9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(Adaptive Synthetic Sampling)</a:t>
              </a:r>
              <a:endParaRPr b="1" sz="9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Tập trung sinh mẫu nhân tạo tại các phân vùng </a:t>
              </a:r>
              <a:r>
                <a:rPr b="1" lang="vi" sz="85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biên giới phân loại khó</a:t>
              </a: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đánh giá.</a:t>
              </a:r>
              <a:endParaRPr b="0" sz="8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vi" sz="90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Class Weights</a:t>
              </a:r>
              <a:r>
                <a:rPr b="1" lang="vi" sz="9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(Trọng số Loss)</a:t>
              </a:r>
              <a:endParaRPr b="1" sz="9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Điều chỉnh trực tiếp trọng số phạt loss thông qua tham số </a:t>
              </a:r>
              <a:r>
                <a:rPr b="1" lang="vi" sz="8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scale_pos_weight</a:t>
              </a:r>
              <a:r>
                <a:rPr b="0" lang="vi" sz="8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trong XGBoost.</a:t>
              </a:r>
              <a:endParaRPr b="0" sz="8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Google Shape;30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1475" y="371475"/>
            <a:ext cx="8401200" cy="44007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sp>
        <p:nvSpPr>
          <p:cNvPr id="305" name="Google Shape;305;p22"/>
          <p:cNvSpPr/>
          <p:nvPr/>
        </p:nvSpPr>
        <p:spPr>
          <a:xfrm>
            <a:off x="476250" y="10477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6" name="Google Shape;306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3875" y="47625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2"/>
          <p:cNvSpPr txBox="1"/>
          <p:nvPr/>
        </p:nvSpPr>
        <p:spPr>
          <a:xfrm>
            <a:off x="1190625" y="523875"/>
            <a:ext cx="4286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2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Google Shape;308;p22"/>
          <p:cNvSpPr txBox="1"/>
          <p:nvPr/>
        </p:nvSpPr>
        <p:spPr>
          <a:xfrm>
            <a:off x="6191250" y="523875"/>
            <a:ext cx="2381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9" name="Google Shape;309;p22"/>
          <p:cNvSpPr txBox="1"/>
          <p:nvPr/>
        </p:nvSpPr>
        <p:spPr>
          <a:xfrm>
            <a:off x="523875" y="1190625"/>
            <a:ext cx="8096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MÔ HÌNH HỌC MÁY &amp; HỌC SÂU ĐỀ XUẤT</a:t>
            </a:r>
            <a:endParaRPr b="1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13"/>
              </a:spcBef>
              <a:spcAft>
                <a:spcPts val="113"/>
              </a:spcAft>
              <a:buNone/>
            </a:pPr>
            <a:r>
              <a:rPr b="0" lang="vi" sz="20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CÁC PHƯƠNG PHÁP </a:t>
            </a:r>
            <a:r>
              <a:rPr b="0" lang="vi" sz="2000">
                <a:solidFill>
                  <a:srgbClr val="00F2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HUẤN LUYỆN HIỆU QUẢ</a:t>
            </a:r>
            <a:endParaRPr b="0" sz="200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grpSp>
        <p:nvGrpSpPr>
          <p:cNvPr id="310" name="Google Shape;310;p22"/>
          <p:cNvGrpSpPr/>
          <p:nvPr/>
        </p:nvGrpSpPr>
        <p:grpSpPr>
          <a:xfrm>
            <a:off x="523875" y="2000250"/>
            <a:ext cx="2571900" cy="2571900"/>
            <a:chOff x="523875" y="2000250"/>
            <a:chExt cx="2571900" cy="2571900"/>
          </a:xfrm>
        </p:grpSpPr>
        <p:sp>
          <p:nvSpPr>
            <p:cNvPr id="311" name="Google Shape;311;p22"/>
            <p:cNvSpPr/>
            <p:nvPr/>
          </p:nvSpPr>
          <p:spPr>
            <a:xfrm>
              <a:off x="523875" y="2000250"/>
              <a:ext cx="2571900" cy="2571900"/>
            </a:xfrm>
            <a:prstGeom prst="roundRect">
              <a:avLst>
                <a:gd fmla="val 2222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22"/>
            <p:cNvSpPr/>
            <p:nvPr/>
          </p:nvSpPr>
          <p:spPr>
            <a:xfrm>
              <a:off x="523875" y="2000250"/>
              <a:ext cx="25719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22"/>
            <p:cNvSpPr txBox="1"/>
            <p:nvPr/>
          </p:nvSpPr>
          <p:spPr>
            <a:xfrm>
              <a:off x="714375" y="2209800"/>
              <a:ext cx="2190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01</a:t>
              </a:r>
              <a:endParaRPr b="0" sz="2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314" name="Google Shape;314;p22"/>
            <p:cNvSpPr txBox="1"/>
            <p:nvPr/>
          </p:nvSpPr>
          <p:spPr>
            <a:xfrm>
              <a:off x="714375" y="2686050"/>
              <a:ext cx="21909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Random Forest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563"/>
                </a:spcBef>
                <a:spcAft>
                  <a:spcPts val="0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Tập hợp cây quyết định (</a:t>
              </a:r>
              <a:r>
                <a:rPr b="1" lang="vi" sz="925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Ensemble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), giúp giảm thiểu phương sai và tránh hiện tượng quá khớp.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563"/>
                </a:spcBef>
                <a:spcAft>
                  <a:spcPts val="563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Cung cấp khả năng đánh giá mức độ quan trọng của đặc trưng (</a:t>
              </a:r>
              <a:r>
                <a:rPr b="1" lang="vi" sz="925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Feature Importance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) trực quan.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15" name="Google Shape;315;p22"/>
          <p:cNvGrpSpPr/>
          <p:nvPr/>
        </p:nvGrpSpPr>
        <p:grpSpPr>
          <a:xfrm>
            <a:off x="3286125" y="2000250"/>
            <a:ext cx="2571900" cy="2571900"/>
            <a:chOff x="3286125" y="2000250"/>
            <a:chExt cx="2571900" cy="2571900"/>
          </a:xfrm>
        </p:grpSpPr>
        <p:sp>
          <p:nvSpPr>
            <p:cNvPr id="316" name="Google Shape;316;p22"/>
            <p:cNvSpPr/>
            <p:nvPr/>
          </p:nvSpPr>
          <p:spPr>
            <a:xfrm>
              <a:off x="3286125" y="2000250"/>
              <a:ext cx="2571900" cy="2571900"/>
            </a:xfrm>
            <a:prstGeom prst="roundRect">
              <a:avLst>
                <a:gd fmla="val 2222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22"/>
            <p:cNvSpPr/>
            <p:nvPr/>
          </p:nvSpPr>
          <p:spPr>
            <a:xfrm>
              <a:off x="3286125" y="2000250"/>
              <a:ext cx="2571900" cy="573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22"/>
            <p:cNvSpPr txBox="1"/>
            <p:nvPr/>
          </p:nvSpPr>
          <p:spPr>
            <a:xfrm>
              <a:off x="3476625" y="2209800"/>
              <a:ext cx="2190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02</a:t>
              </a:r>
              <a:endParaRPr b="0" sz="2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319" name="Google Shape;319;p22"/>
            <p:cNvSpPr txBox="1"/>
            <p:nvPr/>
          </p:nvSpPr>
          <p:spPr>
            <a:xfrm>
              <a:off x="3476625" y="2686050"/>
              <a:ext cx="21909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XGBoost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563"/>
                </a:spcBef>
                <a:spcAft>
                  <a:spcPts val="0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Tối ưu hóa gradient theo bước lặp, mang lại tốc độ xử lý và hiệu năng </a:t>
              </a:r>
              <a:r>
                <a:rPr b="1" lang="vi" sz="925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vượt trội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trên cấu trúc dữ liệu bảng.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563"/>
                </a:spcBef>
                <a:spcAft>
                  <a:spcPts val="563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Hỗ trợ xử lý cực tốt các tập mẫu mất cân bằng và biểu diễn các mối quan hệ </a:t>
              </a:r>
              <a:r>
                <a:rPr b="1" lang="vi" sz="925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tương tác phi tuyến tính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0" name="Google Shape;320;p22"/>
          <p:cNvGrpSpPr/>
          <p:nvPr/>
        </p:nvGrpSpPr>
        <p:grpSpPr>
          <a:xfrm>
            <a:off x="6048375" y="2000250"/>
            <a:ext cx="2571900" cy="2571900"/>
            <a:chOff x="6048375" y="2000250"/>
            <a:chExt cx="2571900" cy="2571900"/>
          </a:xfrm>
        </p:grpSpPr>
        <p:sp>
          <p:nvSpPr>
            <p:cNvPr id="321" name="Google Shape;321;p22"/>
            <p:cNvSpPr/>
            <p:nvPr/>
          </p:nvSpPr>
          <p:spPr>
            <a:xfrm>
              <a:off x="6048375" y="2000250"/>
              <a:ext cx="2571900" cy="2571900"/>
            </a:xfrm>
            <a:prstGeom prst="roundRect">
              <a:avLst>
                <a:gd fmla="val 2222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p22"/>
            <p:cNvSpPr/>
            <p:nvPr/>
          </p:nvSpPr>
          <p:spPr>
            <a:xfrm>
              <a:off x="6048375" y="2000250"/>
              <a:ext cx="25719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22"/>
            <p:cNvSpPr txBox="1"/>
            <p:nvPr/>
          </p:nvSpPr>
          <p:spPr>
            <a:xfrm>
              <a:off x="6238875" y="2209800"/>
              <a:ext cx="2190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2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03</a:t>
              </a:r>
              <a:endParaRPr b="0" sz="2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324" name="Google Shape;324;p22"/>
            <p:cNvSpPr txBox="1"/>
            <p:nvPr/>
          </p:nvSpPr>
          <p:spPr>
            <a:xfrm>
              <a:off x="6238875" y="2686050"/>
              <a:ext cx="21909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Autoencoder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563"/>
                </a:spcBef>
                <a:spcAft>
                  <a:spcPts val="0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Phát hiện bất thường (</a:t>
              </a:r>
              <a:r>
                <a:rPr b="1" lang="vi" sz="925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Anomaly Detection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) bằng phương pháp học không giám sát/bán giám sát mạng deep learning.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563"/>
                </a:spcBef>
                <a:spcAft>
                  <a:spcPts val="563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Mô hình chỉ học trên mẫu giao dịch bình thường; hành vi gian lận sẽ tạo ra sai số tái tạo (</a:t>
              </a:r>
              <a:r>
                <a:rPr b="1" lang="vi" sz="925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Reconstruction Error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) vượt ngưỡng.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pic>
        <p:nvPicPr>
          <p:cNvPr id="330" name="Google Shape;330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1475" y="371475"/>
            <a:ext cx="8401200" cy="440070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23"/>
          <p:cNvSpPr/>
          <p:nvPr/>
        </p:nvSpPr>
        <p:spPr>
          <a:xfrm>
            <a:off x="476250" y="10477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2" name="Google Shape;332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3875" y="476250"/>
            <a:ext cx="571500" cy="5715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sp>
        <p:nvSpPr>
          <p:cNvPr id="333" name="Google Shape;333;p23"/>
          <p:cNvSpPr txBox="1"/>
          <p:nvPr/>
        </p:nvSpPr>
        <p:spPr>
          <a:xfrm>
            <a:off x="1190625" y="523875"/>
            <a:ext cx="4286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2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4" name="Google Shape;334;p23"/>
          <p:cNvSpPr txBox="1"/>
          <p:nvPr/>
        </p:nvSpPr>
        <p:spPr>
          <a:xfrm>
            <a:off x="6191250" y="523875"/>
            <a:ext cx="2381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5" name="Google Shape;335;p23"/>
          <p:cNvSpPr txBox="1"/>
          <p:nvPr/>
        </p:nvSpPr>
        <p:spPr>
          <a:xfrm>
            <a:off x="523875" y="1190625"/>
            <a:ext cx="8096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TIÊU CHÍ &amp; THƯỚC ĐO ĐÁNH GIÁ</a:t>
            </a:r>
            <a:endParaRPr b="1" sz="9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20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CHIẾN LƯỢC ĐÁNH GIÁ </a:t>
            </a:r>
            <a:r>
              <a:rPr b="0" lang="vi" sz="2000">
                <a:solidFill>
                  <a:srgbClr val="00F2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HIỆU NĂNG MÔ HÌNH</a:t>
            </a:r>
            <a:endParaRPr b="0" sz="200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grpSp>
        <p:nvGrpSpPr>
          <p:cNvPr id="336" name="Google Shape;336;p23"/>
          <p:cNvGrpSpPr/>
          <p:nvPr/>
        </p:nvGrpSpPr>
        <p:grpSpPr>
          <a:xfrm>
            <a:off x="523875" y="2000250"/>
            <a:ext cx="1905000" cy="2571900"/>
            <a:chOff x="523875" y="2000250"/>
            <a:chExt cx="1905000" cy="2571900"/>
          </a:xfrm>
        </p:grpSpPr>
        <p:sp>
          <p:nvSpPr>
            <p:cNvPr id="337" name="Google Shape;337;p23"/>
            <p:cNvSpPr/>
            <p:nvPr/>
          </p:nvSpPr>
          <p:spPr>
            <a:xfrm>
              <a:off x="523875" y="2000250"/>
              <a:ext cx="1905000" cy="2571900"/>
            </a:xfrm>
            <a:prstGeom prst="roundRect">
              <a:avLst>
                <a:gd fmla="val 3000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23"/>
            <p:cNvSpPr/>
            <p:nvPr/>
          </p:nvSpPr>
          <p:spPr>
            <a:xfrm>
              <a:off x="523875" y="2000250"/>
              <a:ext cx="19050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23"/>
            <p:cNvSpPr txBox="1"/>
            <p:nvPr/>
          </p:nvSpPr>
          <p:spPr>
            <a:xfrm>
              <a:off x="714375" y="2209800"/>
              <a:ext cx="1524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750"/>
                </a:spcAft>
                <a:buNone/>
              </a:pPr>
              <a:r>
                <a:rPr b="0" lang="vi" sz="2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01</a:t>
              </a:r>
              <a:endParaRPr b="0" sz="2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340" name="Google Shape;340;p23"/>
            <p:cNvSpPr txBox="1"/>
            <p:nvPr/>
          </p:nvSpPr>
          <p:spPr>
            <a:xfrm>
              <a:off x="714375" y="2686050"/>
              <a:ext cx="1524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Recall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Tỷ lệ bắt trúng gian lận trên tổng số gian lận thực tế </a:t>
              </a:r>
              <a:r>
                <a:rPr b="1" lang="vi" sz="925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(Chỉ số quan trọng nhất)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nhằm tối thiểu hóa chi phí bỏ lọt đối tượng nguy hại.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1" name="Google Shape;341;p23"/>
          <p:cNvGrpSpPr/>
          <p:nvPr/>
        </p:nvGrpSpPr>
        <p:grpSpPr>
          <a:xfrm>
            <a:off x="2571750" y="2000250"/>
            <a:ext cx="1905000" cy="2571900"/>
            <a:chOff x="2571750" y="2000250"/>
            <a:chExt cx="1905000" cy="2571900"/>
          </a:xfrm>
        </p:grpSpPr>
        <p:sp>
          <p:nvSpPr>
            <p:cNvPr id="342" name="Google Shape;342;p23"/>
            <p:cNvSpPr/>
            <p:nvPr/>
          </p:nvSpPr>
          <p:spPr>
            <a:xfrm>
              <a:off x="2571750" y="2000250"/>
              <a:ext cx="1905000" cy="2571900"/>
            </a:xfrm>
            <a:prstGeom prst="roundRect">
              <a:avLst>
                <a:gd fmla="val 3000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" name="Google Shape;343;p23"/>
            <p:cNvSpPr/>
            <p:nvPr/>
          </p:nvSpPr>
          <p:spPr>
            <a:xfrm>
              <a:off x="2571750" y="2000250"/>
              <a:ext cx="1905000" cy="573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23"/>
            <p:cNvSpPr txBox="1"/>
            <p:nvPr/>
          </p:nvSpPr>
          <p:spPr>
            <a:xfrm>
              <a:off x="2762250" y="2209800"/>
              <a:ext cx="1524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750"/>
                </a:spcAft>
                <a:buNone/>
              </a:pPr>
              <a:r>
                <a:rPr b="0" lang="vi" sz="2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02</a:t>
              </a:r>
              <a:endParaRPr b="0" sz="2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345" name="Google Shape;345;p23"/>
            <p:cNvSpPr txBox="1"/>
            <p:nvPr/>
          </p:nvSpPr>
          <p:spPr>
            <a:xfrm>
              <a:off x="2762250" y="2686050"/>
              <a:ext cx="1524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Precision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Tỷ lệ cảnh báo đúng trong số các ca bị hệ thống báo động, đảm bảo </a:t>
              </a:r>
              <a:r>
                <a:rPr b="1" lang="vi" sz="925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tránh quá tải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cho nhân sự vận hành kiểm duyệt thủ công.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6" name="Google Shape;346;p23"/>
          <p:cNvGrpSpPr/>
          <p:nvPr/>
        </p:nvGrpSpPr>
        <p:grpSpPr>
          <a:xfrm>
            <a:off x="4619625" y="2000250"/>
            <a:ext cx="1905000" cy="2571900"/>
            <a:chOff x="4619625" y="2000250"/>
            <a:chExt cx="1905000" cy="2571900"/>
          </a:xfrm>
        </p:grpSpPr>
        <p:sp>
          <p:nvSpPr>
            <p:cNvPr id="347" name="Google Shape;347;p23"/>
            <p:cNvSpPr/>
            <p:nvPr/>
          </p:nvSpPr>
          <p:spPr>
            <a:xfrm>
              <a:off x="4619625" y="2000250"/>
              <a:ext cx="1905000" cy="2571900"/>
            </a:xfrm>
            <a:prstGeom prst="roundRect">
              <a:avLst>
                <a:gd fmla="val 3000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" name="Google Shape;348;p23"/>
            <p:cNvSpPr/>
            <p:nvPr/>
          </p:nvSpPr>
          <p:spPr>
            <a:xfrm>
              <a:off x="4619625" y="2000250"/>
              <a:ext cx="19050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23"/>
            <p:cNvSpPr txBox="1"/>
            <p:nvPr/>
          </p:nvSpPr>
          <p:spPr>
            <a:xfrm>
              <a:off x="4810125" y="2209800"/>
              <a:ext cx="1524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750"/>
                </a:spcAft>
                <a:buNone/>
              </a:pPr>
              <a:r>
                <a:rPr b="0" lang="vi" sz="2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03</a:t>
              </a:r>
              <a:endParaRPr b="0" sz="2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350" name="Google Shape;350;p23"/>
            <p:cNvSpPr txBox="1"/>
            <p:nvPr/>
          </p:nvSpPr>
          <p:spPr>
            <a:xfrm>
              <a:off x="4810125" y="2686050"/>
              <a:ext cx="1524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F1-Score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Trung bình điều hòa giữa </a:t>
              </a:r>
              <a:r>
                <a:rPr b="1" lang="vi" sz="925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Precision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và </a:t>
              </a:r>
              <a:r>
                <a:rPr b="1" lang="vi" sz="925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Recall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, cung cấp thước đo cân bằng trên tập dữ liệu mất cân bằng nghiêm trọng.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51" name="Google Shape;351;p23"/>
          <p:cNvGrpSpPr/>
          <p:nvPr/>
        </p:nvGrpSpPr>
        <p:grpSpPr>
          <a:xfrm>
            <a:off x="6667500" y="2000250"/>
            <a:ext cx="1905000" cy="2571900"/>
            <a:chOff x="6667500" y="2000250"/>
            <a:chExt cx="1905000" cy="2571900"/>
          </a:xfrm>
        </p:grpSpPr>
        <p:sp>
          <p:nvSpPr>
            <p:cNvPr id="352" name="Google Shape;352;p23"/>
            <p:cNvSpPr/>
            <p:nvPr/>
          </p:nvSpPr>
          <p:spPr>
            <a:xfrm>
              <a:off x="6667500" y="2000250"/>
              <a:ext cx="1905000" cy="2571900"/>
            </a:xfrm>
            <a:prstGeom prst="roundRect">
              <a:avLst>
                <a:gd fmla="val 3000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23"/>
            <p:cNvSpPr/>
            <p:nvPr/>
          </p:nvSpPr>
          <p:spPr>
            <a:xfrm>
              <a:off x="6667500" y="2000250"/>
              <a:ext cx="1905000" cy="573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23"/>
            <p:cNvSpPr txBox="1"/>
            <p:nvPr/>
          </p:nvSpPr>
          <p:spPr>
            <a:xfrm>
              <a:off x="6858000" y="2209800"/>
              <a:ext cx="1524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750"/>
                </a:spcAft>
                <a:buNone/>
              </a:pPr>
              <a:r>
                <a:rPr b="0" lang="vi" sz="2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04</a:t>
              </a:r>
              <a:endParaRPr b="0" sz="2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  <p:sp>
          <p:nvSpPr>
            <p:cNvPr id="355" name="Google Shape;355;p23"/>
            <p:cNvSpPr txBox="1"/>
            <p:nvPr/>
          </p:nvSpPr>
          <p:spPr>
            <a:xfrm>
              <a:off x="6858000" y="2686050"/>
              <a:ext cx="1524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0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PR &amp; ROC AUC</a:t>
              </a:r>
              <a:endParaRPr b="0" sz="10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Đánh giá khả năng phân loại tổng thể trên toàn dải ngưỡng phân loại (threshold) để lựa chọn điểm quyết định </a:t>
              </a:r>
              <a:r>
                <a:rPr b="1" lang="vi" sz="925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tối ưu nhất</a:t>
              </a:r>
              <a:r>
                <a:rPr b="0" lang="vi" sz="925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 b="0" sz="925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524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Google Shape;360;p24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42862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4"/>
          <p:cNvSpPr txBox="1"/>
          <p:nvPr/>
        </p:nvSpPr>
        <p:spPr>
          <a:xfrm>
            <a:off x="1190625" y="457200"/>
            <a:ext cx="42864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24"/>
          <p:cNvSpPr txBox="1"/>
          <p:nvPr/>
        </p:nvSpPr>
        <p:spPr>
          <a:xfrm>
            <a:off x="6191250" y="457200"/>
            <a:ext cx="23814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5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50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0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90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24"/>
          <p:cNvSpPr/>
          <p:nvPr/>
        </p:nvSpPr>
        <p:spPr>
          <a:xfrm>
            <a:off x="476250" y="9715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4"/>
          <p:cNvSpPr txBox="1"/>
          <p:nvPr/>
        </p:nvSpPr>
        <p:spPr>
          <a:xfrm>
            <a:off x="523875" y="1066800"/>
            <a:ext cx="80964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KẾT QUẢ THỬ NGHIỆM &amp; SO SÁNH (MODEL COMPARISON)</a:t>
            </a:r>
            <a:endParaRPr b="1" sz="7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vi" sz="18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ĐÁNH GIÁ HIỆU NĂNG &amp; </a:t>
            </a:r>
            <a:r>
              <a:rPr b="0" lang="vi" sz="1800">
                <a:solidFill>
                  <a:srgbClr val="00F2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SO SÁNH TOÀN DIỆN MÔ HÌNH</a:t>
            </a:r>
            <a:endParaRPr b="0" sz="180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366" name="Google Shape;366;p24"/>
          <p:cNvSpPr/>
          <p:nvPr/>
        </p:nvSpPr>
        <p:spPr>
          <a:xfrm>
            <a:off x="523875" y="1571625"/>
            <a:ext cx="5619900" cy="1809600"/>
          </a:xfrm>
          <a:prstGeom prst="roundRect">
            <a:avLst>
              <a:gd fmla="val 3157" name="adj"/>
            </a:avLst>
          </a:prstGeom>
          <a:solidFill>
            <a:srgbClr val="1A0B36">
              <a:alpha val="80000"/>
            </a:srgbClr>
          </a:solidFill>
          <a:ln cap="flat" cmpd="sng" w="11425">
            <a:solidFill>
              <a:srgbClr val="00F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67" name="Google Shape;367;p24"/>
          <p:cNvGrpSpPr/>
          <p:nvPr/>
        </p:nvGrpSpPr>
        <p:grpSpPr>
          <a:xfrm>
            <a:off x="581025" y="1628775"/>
            <a:ext cx="5505600" cy="1571775"/>
            <a:chOff x="581025" y="1628775"/>
            <a:chExt cx="5505600" cy="1571775"/>
          </a:xfrm>
        </p:grpSpPr>
        <p:sp>
          <p:nvSpPr>
            <p:cNvPr id="368" name="Google Shape;368;p24"/>
            <p:cNvSpPr/>
            <p:nvPr/>
          </p:nvSpPr>
          <p:spPr>
            <a:xfrm>
              <a:off x="581025" y="1628775"/>
              <a:ext cx="5505600" cy="190500"/>
            </a:xfrm>
            <a:prstGeom prst="roundRect">
              <a:avLst>
                <a:gd fmla="val 15000" name="adj"/>
              </a:avLst>
            </a:prstGeom>
            <a:solidFill>
              <a:srgbClr val="00F2FE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24"/>
            <p:cNvSpPr txBox="1"/>
            <p:nvPr/>
          </p:nvSpPr>
          <p:spPr>
            <a:xfrm>
              <a:off x="581025" y="1628775"/>
              <a:ext cx="55056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47625" spcFirstLastPara="1" rIns="47625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60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MÔ HÌNH (KỸ THUẬT)PRECISIONRECALLF1-SCOREPR-AUCROC-AUCTIMETRẠNG THÁI / ĐÁNH GIÁ</a:t>
              </a:r>
              <a:endParaRPr b="0" sz="6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370" name="Google Shape;370;p24"/>
            <p:cNvSpPr/>
            <p:nvPr/>
          </p:nvSpPr>
          <p:spPr>
            <a:xfrm>
              <a:off x="581025" y="1847850"/>
              <a:ext cx="5505600" cy="209700"/>
            </a:xfrm>
            <a:prstGeom prst="roundRect">
              <a:avLst>
                <a:gd fmla="val 13636" name="adj"/>
              </a:avLst>
            </a:prstGeom>
            <a:solidFill>
              <a:srgbClr val="FFFFFF">
                <a:alpha val="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24"/>
            <p:cNvSpPr txBox="1"/>
            <p:nvPr/>
          </p:nvSpPr>
          <p:spPr>
            <a:xfrm>
              <a:off x="581025" y="1847850"/>
              <a:ext cx="55056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47625" spcFirstLastPara="1" rIns="47625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65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Random Forest</a:t>
              </a:r>
              <a:b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b="0" lang="vi" sz="5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Baseline (None)</a:t>
              </a:r>
              <a: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0.99810.89230.94220.96100.9854~350s</a:t>
              </a:r>
              <a:r>
                <a:rPr b="0" lang="vi" sz="55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Bỏ lọt nhiều gian lận</a:t>
              </a:r>
              <a:endParaRPr b="0" sz="6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2" name="Google Shape;372;p24"/>
            <p:cNvSpPr/>
            <p:nvPr/>
          </p:nvSpPr>
          <p:spPr>
            <a:xfrm>
              <a:off x="581025" y="2076450"/>
              <a:ext cx="5505600" cy="209700"/>
            </a:xfrm>
            <a:prstGeom prst="roundRect">
              <a:avLst>
                <a:gd fmla="val 13636" name="adj"/>
              </a:avLst>
            </a:prstGeom>
            <a:solidFill>
              <a:srgbClr val="FFFFFF">
                <a:alpha val="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24"/>
            <p:cNvSpPr txBox="1"/>
            <p:nvPr/>
          </p:nvSpPr>
          <p:spPr>
            <a:xfrm>
              <a:off x="581025" y="2076450"/>
              <a:ext cx="55056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47625" spcFirstLastPara="1" rIns="47625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65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Random Forest</a:t>
              </a:r>
              <a:b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b="0" lang="vi" sz="5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ADASYN</a:t>
              </a:r>
              <a: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0.99820.99510.99660.99790.99921,167.5s</a:t>
              </a:r>
              <a:r>
                <a:rPr b="0" lang="vi" sz="5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Train rất chậm</a:t>
              </a:r>
              <a:endParaRPr b="0" sz="6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4" name="Google Shape;374;p24"/>
            <p:cNvSpPr/>
            <p:nvPr/>
          </p:nvSpPr>
          <p:spPr>
            <a:xfrm>
              <a:off x="581025" y="2305050"/>
              <a:ext cx="5505600" cy="209700"/>
            </a:xfrm>
            <a:prstGeom prst="roundRect">
              <a:avLst>
                <a:gd fmla="val 13636" name="adj"/>
              </a:avLst>
            </a:prstGeom>
            <a:solidFill>
              <a:srgbClr val="FF007F">
                <a:alpha val="15000"/>
              </a:srgbClr>
            </a:solidFill>
            <a:ln cap="flat" cmpd="sng" w="7625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24"/>
            <p:cNvSpPr txBox="1"/>
            <p:nvPr/>
          </p:nvSpPr>
          <p:spPr>
            <a:xfrm>
              <a:off x="581025" y="2305050"/>
              <a:ext cx="55056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47625" spcFirstLastPara="1" rIns="47625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65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Random Forest</a:t>
              </a:r>
              <a: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b="0" lang="vi" sz="550">
                  <a:solidFill>
                    <a:srgbClr val="1A0B36"/>
                  </a:solidFill>
                  <a:highlight>
                    <a:srgbClr val="FF007F"/>
                  </a:highlight>
                  <a:latin typeface="Montserrat Black"/>
                  <a:ea typeface="Montserrat Black"/>
                  <a:cs typeface="Montserrat Black"/>
                  <a:sym typeface="Montserrat Black"/>
                </a:rPr>
                <a:t>BENCHMARK</a:t>
              </a:r>
              <a:b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b="0" lang="vi" sz="550">
                  <a:solidFill>
                    <a:srgbClr val="FFB6C1"/>
                  </a:solidFill>
                  <a:latin typeface="Roboto"/>
                  <a:ea typeface="Roboto"/>
                  <a:cs typeface="Roboto"/>
                  <a:sym typeface="Roboto"/>
                </a:rPr>
                <a:t>SMOTE</a:t>
              </a:r>
              <a:r>
                <a:rPr b="1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0.99940.99510.99730.99830.9994</a:t>
              </a:r>
              <a: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1,187.7s</a:t>
              </a:r>
              <a:r>
                <a:rPr b="1" lang="vi" sz="55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F1 cao nhất lý thuyết</a:t>
              </a:r>
              <a:endParaRPr b="0" sz="6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6" name="Google Shape;376;p24"/>
            <p:cNvSpPr/>
            <p:nvPr/>
          </p:nvSpPr>
          <p:spPr>
            <a:xfrm>
              <a:off x="581025" y="2533650"/>
              <a:ext cx="5505600" cy="209700"/>
            </a:xfrm>
            <a:prstGeom prst="roundRect">
              <a:avLst>
                <a:gd fmla="val 13636" name="adj"/>
              </a:avLst>
            </a:prstGeom>
            <a:solidFill>
              <a:srgbClr val="00F2FE">
                <a:alpha val="15000"/>
              </a:srgbClr>
            </a:solidFill>
            <a:ln cap="flat" cmpd="sng" w="11425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24"/>
            <p:cNvSpPr txBox="1"/>
            <p:nvPr/>
          </p:nvSpPr>
          <p:spPr>
            <a:xfrm>
              <a:off x="581025" y="2533650"/>
              <a:ext cx="55056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47625" spcFirstLastPara="1" rIns="47625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6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🏆 XGBoost</a:t>
              </a:r>
              <a: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  <a:r>
                <a:rPr b="0" lang="vi" sz="550">
                  <a:solidFill>
                    <a:srgbClr val="1A0B36"/>
                  </a:solidFill>
                  <a:highlight>
                    <a:srgbClr val="00F2FE"/>
                  </a:highlight>
                  <a:latin typeface="Montserrat Black"/>
                  <a:ea typeface="Montserrat Black"/>
                  <a:cs typeface="Montserrat Black"/>
                  <a:sym typeface="Montserrat Black"/>
                </a:rPr>
                <a:t>PRODUCTION</a:t>
              </a:r>
              <a:b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b="0" lang="vi" sz="550">
                  <a:solidFill>
                    <a:srgbClr val="A0EEFF"/>
                  </a:solidFill>
                  <a:latin typeface="Roboto"/>
                  <a:ea typeface="Roboto"/>
                  <a:cs typeface="Roboto"/>
                  <a:sym typeface="Roboto"/>
                </a:rPr>
                <a:t>SMOTE (Best Config)</a:t>
              </a:r>
              <a:r>
                <a:rPr b="1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0.99760.99510.99630.99690.9993</a:t>
              </a:r>
              <a:r>
                <a:rPr b="1" lang="vi" sz="6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41.6s</a:t>
              </a:r>
              <a:r>
                <a:rPr b="1" lang="vi" sz="5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Nhanh ~28x, nhẹ 410KB</a:t>
              </a:r>
              <a:endParaRPr b="0" sz="6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8" name="Google Shape;378;p24"/>
            <p:cNvSpPr/>
            <p:nvPr/>
          </p:nvSpPr>
          <p:spPr>
            <a:xfrm>
              <a:off x="581025" y="2762250"/>
              <a:ext cx="5505600" cy="209700"/>
            </a:xfrm>
            <a:prstGeom prst="roundRect">
              <a:avLst>
                <a:gd fmla="val 13636" name="adj"/>
              </a:avLst>
            </a:prstGeom>
            <a:solidFill>
              <a:srgbClr val="FFFFFF">
                <a:alpha val="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24"/>
            <p:cNvSpPr txBox="1"/>
            <p:nvPr/>
          </p:nvSpPr>
          <p:spPr>
            <a:xfrm>
              <a:off x="581025" y="2762250"/>
              <a:ext cx="55056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47625" spcFirstLastPara="1" rIns="47625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65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XGBoost</a:t>
              </a:r>
              <a:b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b="0" lang="vi" sz="5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ADASYN</a:t>
              </a:r>
              <a: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0.99570.99510.99540.99760.999441.5s</a:t>
              </a:r>
              <a:r>
                <a:rPr b="0" lang="vi" sz="5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Rất tốt, xấp xỉ SMOTE</a:t>
              </a:r>
              <a:endParaRPr b="0" sz="6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0" name="Google Shape;380;p24"/>
            <p:cNvSpPr/>
            <p:nvPr/>
          </p:nvSpPr>
          <p:spPr>
            <a:xfrm>
              <a:off x="581025" y="2990850"/>
              <a:ext cx="5505600" cy="209700"/>
            </a:xfrm>
            <a:prstGeom prst="roundRect">
              <a:avLst>
                <a:gd fmla="val 13636" name="adj"/>
              </a:avLst>
            </a:prstGeom>
            <a:solidFill>
              <a:srgbClr val="FFFFFF">
                <a:alpha val="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24"/>
            <p:cNvSpPr txBox="1"/>
            <p:nvPr/>
          </p:nvSpPr>
          <p:spPr>
            <a:xfrm>
              <a:off x="581025" y="2990850"/>
              <a:ext cx="55056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47625" spcFirstLastPara="1" rIns="47625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65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Autoencoder</a:t>
              </a:r>
              <a:b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b="0" lang="vi" sz="5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Unsupervised</a:t>
              </a:r>
              <a:r>
                <a:rPr b="0" lang="vi" sz="6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0.38220.75230.50690.59720.931815.2s</a:t>
              </a:r>
              <a:r>
                <a:rPr b="0" lang="vi" sz="5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Zero-day Anomaly Det.</a:t>
              </a:r>
              <a:endParaRPr b="0" sz="6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82" name="Google Shape;382;p24"/>
          <p:cNvSpPr/>
          <p:nvPr/>
        </p:nvSpPr>
        <p:spPr>
          <a:xfrm>
            <a:off x="6334125" y="1571625"/>
            <a:ext cx="2286000" cy="1809600"/>
          </a:xfrm>
          <a:prstGeom prst="roundRect">
            <a:avLst>
              <a:gd fmla="val 3157" name="adj"/>
            </a:avLst>
          </a:prstGeom>
          <a:solidFill>
            <a:srgbClr val="1A0B36">
              <a:alpha val="80000"/>
            </a:srgbClr>
          </a:solidFill>
          <a:ln cap="flat" cmpd="sng" w="11425">
            <a:solidFill>
              <a:srgbClr val="FF00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lot of ROC curves and Precision-Recall curves comparing Random Forest, XGBoost and Autoencoder. Supervised models show near perfect curves in the top left, unsupervised Autoencoder shows a steady curve with AUC around 0.93." id="383" name="Google Shape;383;p24"/>
          <p:cNvPicPr preferRelativeResize="0"/>
          <p:nvPr/>
        </p:nvPicPr>
        <p:blipFill rotWithShape="1">
          <a:blip r:embed="rId5">
            <a:alphaModFix/>
          </a:blip>
          <a:srcRect b="4545" l="0" r="0" t="4545"/>
          <a:stretch/>
        </p:blipFill>
        <p:spPr>
          <a:xfrm>
            <a:off x="6429375" y="1666875"/>
            <a:ext cx="2095500" cy="1428900"/>
          </a:xfrm>
          <a:prstGeom prst="roundRect">
            <a:avLst>
              <a:gd fmla="val 4000" name="adj"/>
            </a:avLst>
          </a:prstGeom>
          <a:noFill/>
          <a:ln>
            <a:noFill/>
          </a:ln>
        </p:spPr>
      </p:pic>
      <p:sp>
        <p:nvSpPr>
          <p:cNvPr id="384" name="Google Shape;384;p24"/>
          <p:cNvSpPr/>
          <p:nvPr/>
        </p:nvSpPr>
        <p:spPr>
          <a:xfrm>
            <a:off x="6429375" y="1666875"/>
            <a:ext cx="2095500" cy="1428900"/>
          </a:xfrm>
          <a:prstGeom prst="roundRect">
            <a:avLst>
              <a:gd fmla="val 4000" name="adj"/>
            </a:avLst>
          </a:prstGeom>
          <a:solidFill>
            <a:srgbClr val="000000">
              <a:alpha val="0"/>
            </a:srgbClr>
          </a:solidFill>
          <a:ln cap="flat" cmpd="sng" w="9525">
            <a:solidFill>
              <a:srgbClr val="FF00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24"/>
          <p:cNvSpPr txBox="1"/>
          <p:nvPr/>
        </p:nvSpPr>
        <p:spPr>
          <a:xfrm>
            <a:off x="6429375" y="3152775"/>
            <a:ext cx="2095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58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ĐƯỜNG CONG ROC-AUC &amp; PR-AUC TOÀN DIỆN</a:t>
            </a:r>
            <a:endParaRPr b="1" sz="58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86" name="Google Shape;386;p24"/>
          <p:cNvGrpSpPr/>
          <p:nvPr/>
        </p:nvGrpSpPr>
        <p:grpSpPr>
          <a:xfrm>
            <a:off x="523875" y="3524250"/>
            <a:ext cx="2571900" cy="1381200"/>
            <a:chOff x="523875" y="3524250"/>
            <a:chExt cx="2571900" cy="1381200"/>
          </a:xfrm>
        </p:grpSpPr>
        <p:sp>
          <p:nvSpPr>
            <p:cNvPr id="387" name="Google Shape;387;p24"/>
            <p:cNvSpPr/>
            <p:nvPr/>
          </p:nvSpPr>
          <p:spPr>
            <a:xfrm>
              <a:off x="523875" y="3524250"/>
              <a:ext cx="2571900" cy="1381200"/>
            </a:xfrm>
            <a:prstGeom prst="roundRect">
              <a:avLst>
                <a:gd fmla="val 4137" name="adj"/>
              </a:avLst>
            </a:prstGeom>
            <a:solidFill>
              <a:srgbClr val="1A0B36">
                <a:alpha val="80000"/>
              </a:srgbClr>
            </a:solidFill>
            <a:ln cap="flat" cmpd="sng" w="9525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24"/>
            <p:cNvSpPr/>
            <p:nvPr/>
          </p:nvSpPr>
          <p:spPr>
            <a:xfrm>
              <a:off x="523875" y="3524250"/>
              <a:ext cx="2571900" cy="381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24"/>
            <p:cNvSpPr txBox="1"/>
            <p:nvPr/>
          </p:nvSpPr>
          <p:spPr>
            <a:xfrm>
              <a:off x="666750" y="3638550"/>
              <a:ext cx="2286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01</a:t>
              </a:r>
              <a:endParaRPr b="0" sz="1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80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XỬ LÝ MẤT CÂN BẰNG TRIỆT ĐỂ</a:t>
              </a:r>
              <a:endParaRPr b="0" sz="8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vi" sz="72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SMOTE &amp; ADASYN</a:t>
              </a:r>
              <a:r>
                <a:rPr b="0" lang="vi" sz="7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giải quyết bài toán bỏ sót, tăng vọt Recall từ </a:t>
              </a:r>
              <a:r>
                <a:rPr b="1" lang="vi" sz="72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~89.2% lên 99.51%</a:t>
              </a:r>
              <a:r>
                <a:rPr b="0" lang="vi" sz="7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(bắt thành công </a:t>
              </a:r>
              <a:r>
                <a:rPr b="1" lang="vi" sz="72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1,635 / 1,643</a:t>
              </a:r>
              <a:r>
                <a:rPr b="0" lang="vi" sz="7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ca gian lận).</a:t>
              </a:r>
              <a:endParaRPr b="0" sz="72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90" name="Google Shape;390;p24"/>
          <p:cNvGrpSpPr/>
          <p:nvPr/>
        </p:nvGrpSpPr>
        <p:grpSpPr>
          <a:xfrm>
            <a:off x="3286125" y="3524250"/>
            <a:ext cx="2571900" cy="1381200"/>
            <a:chOff x="3286125" y="3524250"/>
            <a:chExt cx="2571900" cy="1381200"/>
          </a:xfrm>
        </p:grpSpPr>
        <p:sp>
          <p:nvSpPr>
            <p:cNvPr id="391" name="Google Shape;391;p24"/>
            <p:cNvSpPr/>
            <p:nvPr/>
          </p:nvSpPr>
          <p:spPr>
            <a:xfrm>
              <a:off x="3286125" y="3524250"/>
              <a:ext cx="2571900" cy="1381200"/>
            </a:xfrm>
            <a:prstGeom prst="roundRect">
              <a:avLst>
                <a:gd fmla="val 4137" name="adj"/>
              </a:avLst>
            </a:prstGeom>
            <a:solidFill>
              <a:srgbClr val="1A0B36">
                <a:alpha val="80000"/>
              </a:srgbClr>
            </a:solidFill>
            <a:ln cap="flat" cmpd="sng" w="9525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24"/>
            <p:cNvSpPr/>
            <p:nvPr/>
          </p:nvSpPr>
          <p:spPr>
            <a:xfrm>
              <a:off x="3286125" y="3524250"/>
              <a:ext cx="2571900" cy="381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" name="Google Shape;393;p24"/>
            <p:cNvSpPr txBox="1"/>
            <p:nvPr/>
          </p:nvSpPr>
          <p:spPr>
            <a:xfrm>
              <a:off x="3429000" y="3638550"/>
              <a:ext cx="2286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02</a:t>
              </a:r>
              <a:endParaRPr b="0" sz="1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80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TẠI SAO LÀ XGBOOST PRODUCTION?</a:t>
              </a:r>
              <a:endParaRPr b="0" sz="8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vi" sz="7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Hiệu năng tương đương RF (</a:t>
              </a:r>
              <a:r>
                <a:rPr b="1" lang="vi" sz="72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F1: 0.9963 vs 0.9973</a:t>
              </a:r>
              <a:r>
                <a:rPr b="0" lang="vi" sz="7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) nhưng train nhanh gấp </a:t>
              </a:r>
              <a:r>
                <a:rPr b="1" lang="vi" sz="72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~28 lần (41.6s)</a:t>
              </a:r>
              <a:r>
                <a:rPr b="0" lang="vi" sz="7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, model siêu nhẹ </a:t>
              </a:r>
              <a:r>
                <a:rPr b="1" lang="vi" sz="72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410KB</a:t>
              </a:r>
              <a:r>
                <a:rPr b="0" lang="vi" sz="7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hỗ trợ real-time.</a:t>
              </a:r>
              <a:endParaRPr b="0" sz="72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94" name="Google Shape;394;p24"/>
          <p:cNvGrpSpPr/>
          <p:nvPr/>
        </p:nvGrpSpPr>
        <p:grpSpPr>
          <a:xfrm>
            <a:off x="6048375" y="3524250"/>
            <a:ext cx="2571900" cy="1381200"/>
            <a:chOff x="6048375" y="3524250"/>
            <a:chExt cx="2571900" cy="1381200"/>
          </a:xfrm>
        </p:grpSpPr>
        <p:sp>
          <p:nvSpPr>
            <p:cNvPr id="395" name="Google Shape;395;p24"/>
            <p:cNvSpPr/>
            <p:nvPr/>
          </p:nvSpPr>
          <p:spPr>
            <a:xfrm>
              <a:off x="6048375" y="3524250"/>
              <a:ext cx="2571900" cy="1381200"/>
            </a:xfrm>
            <a:prstGeom prst="roundRect">
              <a:avLst>
                <a:gd fmla="val 4137" name="adj"/>
              </a:avLst>
            </a:prstGeom>
            <a:solidFill>
              <a:srgbClr val="1A0B36">
                <a:alpha val="80000"/>
              </a:srgbClr>
            </a:solidFill>
            <a:ln cap="flat" cmpd="sng" w="9525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24"/>
            <p:cNvSpPr/>
            <p:nvPr/>
          </p:nvSpPr>
          <p:spPr>
            <a:xfrm>
              <a:off x="6048375" y="3524250"/>
              <a:ext cx="2571900" cy="381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24"/>
            <p:cNvSpPr txBox="1"/>
            <p:nvPr/>
          </p:nvSpPr>
          <p:spPr>
            <a:xfrm>
              <a:off x="6191250" y="3638550"/>
              <a:ext cx="2286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03</a:t>
              </a:r>
              <a:endParaRPr b="0" sz="1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80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GIÁ TRỊ CỦA AUTOENCODER</a:t>
              </a:r>
              <a:endParaRPr b="0" sz="8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vi" sz="7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Hoạt động ko giám sát, dựa trên sai số tái tạo (</a:t>
              </a:r>
              <a:r>
                <a:rPr b="1" lang="vi" sz="72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MSE Thresh = 0.0454</a:t>
              </a:r>
              <a:r>
                <a:rPr b="0" lang="vi" sz="7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), phát hiện </a:t>
              </a:r>
              <a:r>
                <a:rPr b="1" lang="vi" sz="72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75.23%</a:t>
              </a:r>
              <a:r>
                <a:rPr b="0" lang="vi" sz="7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gian lận Zero-day ko cần nhãn lịch sử.</a:t>
              </a:r>
              <a:endParaRPr b="0" sz="72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25"/>
          <p:cNvPicPr preferRelativeResize="0"/>
          <p:nvPr/>
        </p:nvPicPr>
        <p:blipFill rotWithShape="1">
          <a:blip r:embed="rId4">
            <a:alphaModFix amt="30000"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25"/>
          <p:cNvSpPr/>
          <p:nvPr/>
        </p:nvSpPr>
        <p:spPr>
          <a:xfrm>
            <a:off x="476250" y="10477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05" name="Google Shape;405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3875" y="47625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25"/>
          <p:cNvSpPr txBox="1"/>
          <p:nvPr/>
        </p:nvSpPr>
        <p:spPr>
          <a:xfrm>
            <a:off x="1190625" y="523875"/>
            <a:ext cx="4286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2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7" name="Google Shape;407;p25"/>
          <p:cNvSpPr txBox="1"/>
          <p:nvPr/>
        </p:nvSpPr>
        <p:spPr>
          <a:xfrm>
            <a:off x="6191250" y="523875"/>
            <a:ext cx="2381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808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808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25"/>
          <p:cNvSpPr txBox="1"/>
          <p:nvPr/>
        </p:nvSpPr>
        <p:spPr>
          <a:xfrm>
            <a:off x="523875" y="1190625"/>
            <a:ext cx="8096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808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ĐÁNH GIÁ CHI TIẾT &amp; GIẢI THÍCH TRỰC QUAN</a:t>
            </a:r>
            <a:endParaRPr b="1" sz="808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13"/>
              </a:spcAft>
              <a:buNone/>
            </a:pPr>
            <a:r>
              <a:rPr b="0" lang="vi" sz="17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ĐÁNH GIÁ MA TRẬN NHẦM LẪN &amp; </a:t>
            </a:r>
            <a:r>
              <a:rPr b="0" lang="vi" sz="1700">
                <a:solidFill>
                  <a:srgbClr val="00F2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ĐẶC TRƯNG CỐT LÕI (XGBoost)</a:t>
            </a:r>
            <a:endParaRPr b="1" sz="808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09" name="Google Shape;409;p25"/>
          <p:cNvGrpSpPr/>
          <p:nvPr/>
        </p:nvGrpSpPr>
        <p:grpSpPr>
          <a:xfrm>
            <a:off x="523875" y="1905000"/>
            <a:ext cx="3905400" cy="2809800"/>
            <a:chOff x="523875" y="1905000"/>
            <a:chExt cx="3905400" cy="2809800"/>
          </a:xfrm>
        </p:grpSpPr>
        <p:sp>
          <p:nvSpPr>
            <p:cNvPr id="410" name="Google Shape;410;p25"/>
            <p:cNvSpPr/>
            <p:nvPr/>
          </p:nvSpPr>
          <p:spPr>
            <a:xfrm>
              <a:off x="523875" y="1905000"/>
              <a:ext cx="3905400" cy="2809800"/>
            </a:xfrm>
            <a:prstGeom prst="roundRect">
              <a:avLst>
                <a:gd fmla="val 2033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25"/>
            <p:cNvSpPr/>
            <p:nvPr/>
          </p:nvSpPr>
          <p:spPr>
            <a:xfrm>
              <a:off x="523875" y="1905000"/>
              <a:ext cx="39054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25"/>
            <p:cNvSpPr txBox="1"/>
            <p:nvPr/>
          </p:nvSpPr>
          <p:spPr>
            <a:xfrm>
              <a:off x="666750" y="3333600"/>
              <a:ext cx="36195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MA TRẬN NHẦM LẪN &amp; PHÂN TÍCH RỦI RO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Tập Test gồm </a:t>
              </a:r>
              <a:r>
                <a:rPr b="1" lang="vi" sz="7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40.000</a:t>
              </a: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giao dịch (38.357 Hợp lệ &amp; 1.643 Gian lận).</a:t>
              </a:r>
              <a:endParaRPr b="0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vi" sz="82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1. Rủi ro bỏ sót (False Negative = 8 ca):</a:t>
              </a:r>
              <a:r>
                <a:rPr b="0" lang="vi" sz="8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Tỷ lệ bỏ sót chỉ </a:t>
              </a:r>
              <a:r>
                <a:rPr b="1" lang="vi" sz="82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0.49%</a:t>
              </a:r>
              <a:r>
                <a:rPr b="0" lang="vi" sz="8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, tối thiểu hóa thiệt hại dòng tiền ngân hàng.</a:t>
              </a:r>
              <a:endParaRPr b="0" sz="82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vi" sz="82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2. Rủi ro báo động giả (False Positive = 4 ca):</a:t>
              </a:r>
              <a:r>
                <a:rPr b="0" lang="vi" sz="8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Tỷ lệ cực thấp </a:t>
              </a:r>
              <a:r>
                <a:rPr b="1" lang="vi" sz="82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0.01%</a:t>
              </a:r>
              <a:r>
                <a:rPr b="0" lang="vi" sz="8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, giảm tối đa áp lực xác minh thủ công.</a:t>
              </a:r>
              <a:endParaRPr b="0" sz="82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300"/>
                </a:spcAft>
                <a:buNone/>
              </a:pPr>
              <a:r>
                <a:rPr b="0" i="1" lang="vi" sz="7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Bắt đúng 1.635/1.643 ca gian lận thực tế, đạt Recall 99.51%.</a:t>
              </a:r>
              <a:endParaRPr b="0" i="1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413" name="Google Shape;413;p25"/>
            <p:cNvGrpSpPr/>
            <p:nvPr/>
          </p:nvGrpSpPr>
          <p:grpSpPr>
            <a:xfrm>
              <a:off x="666750" y="2324100"/>
              <a:ext cx="2905125" cy="704850"/>
              <a:chOff x="666750" y="2324100"/>
              <a:chExt cx="2905125" cy="704850"/>
            </a:xfrm>
          </p:grpSpPr>
          <p:sp>
            <p:nvSpPr>
              <p:cNvPr id="414" name="Google Shape;414;p25"/>
              <p:cNvSpPr/>
              <p:nvPr/>
            </p:nvSpPr>
            <p:spPr>
              <a:xfrm>
                <a:off x="2000250" y="2324100"/>
                <a:ext cx="762000" cy="171600"/>
              </a:xfrm>
              <a:prstGeom prst="roundRect">
                <a:avLst>
                  <a:gd fmla="val 11111" name="adj"/>
                </a:avLst>
              </a:prstGeom>
              <a:solidFill>
                <a:srgbClr val="00F2FE">
                  <a:alpha val="1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5" name="Google Shape;415;p25"/>
              <p:cNvSpPr txBox="1"/>
              <p:nvPr/>
            </p:nvSpPr>
            <p:spPr>
              <a:xfrm>
                <a:off x="2000250" y="2324100"/>
                <a:ext cx="7620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543">
                    <a:solidFill>
                      <a:srgbClr val="00F2FE"/>
                    </a:solidFill>
                    <a:latin typeface="Montserrat Black"/>
                    <a:ea typeface="Montserrat Black"/>
                    <a:cs typeface="Montserrat Black"/>
                    <a:sym typeface="Montserrat Black"/>
                  </a:rPr>
                  <a:t>DỰ ĐOÁN HỢP LỆ</a:t>
                </a:r>
                <a:endParaRPr b="0" sz="543">
                  <a:solidFill>
                    <a:srgbClr val="00F2FE"/>
                  </a:solidFill>
                  <a:latin typeface="Montserrat Black"/>
                  <a:ea typeface="Montserrat Black"/>
                  <a:cs typeface="Montserrat Black"/>
                  <a:sym typeface="Montserrat Black"/>
                </a:endParaRPr>
              </a:p>
            </p:txBody>
          </p:sp>
          <p:sp>
            <p:nvSpPr>
              <p:cNvPr id="416" name="Google Shape;416;p25"/>
              <p:cNvSpPr/>
              <p:nvPr/>
            </p:nvSpPr>
            <p:spPr>
              <a:xfrm>
                <a:off x="2809875" y="2324100"/>
                <a:ext cx="762000" cy="171600"/>
              </a:xfrm>
              <a:prstGeom prst="roundRect">
                <a:avLst>
                  <a:gd fmla="val 11111" name="adj"/>
                </a:avLst>
              </a:prstGeom>
              <a:solidFill>
                <a:srgbClr val="FF007F">
                  <a:alpha val="1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7" name="Google Shape;417;p25"/>
              <p:cNvSpPr txBox="1"/>
              <p:nvPr/>
            </p:nvSpPr>
            <p:spPr>
              <a:xfrm>
                <a:off x="2809875" y="2324100"/>
                <a:ext cx="7620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543">
                    <a:solidFill>
                      <a:srgbClr val="FF007F"/>
                    </a:solidFill>
                    <a:latin typeface="Montserrat Black"/>
                    <a:ea typeface="Montserrat Black"/>
                    <a:cs typeface="Montserrat Black"/>
                    <a:sym typeface="Montserrat Black"/>
                  </a:rPr>
                  <a:t>DỰ ĐOÁN GIAN LẬN</a:t>
                </a:r>
                <a:endParaRPr b="0" sz="543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endParaRPr>
              </a:p>
            </p:txBody>
          </p:sp>
          <p:sp>
            <p:nvSpPr>
              <p:cNvPr id="418" name="Google Shape;418;p25"/>
              <p:cNvSpPr txBox="1"/>
              <p:nvPr/>
            </p:nvSpPr>
            <p:spPr>
              <a:xfrm>
                <a:off x="666750" y="2533650"/>
                <a:ext cx="1285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543">
                    <a:solidFill>
                      <a:srgbClr val="FFFFFF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THỰC TẾ HỢP LỆ</a:t>
                </a:r>
                <a:endParaRPr b="0" sz="543">
                  <a:solidFill>
                    <a:srgbClr val="FFFFFF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419" name="Google Shape;419;p25"/>
              <p:cNvSpPr/>
              <p:nvPr/>
            </p:nvSpPr>
            <p:spPr>
              <a:xfrm>
                <a:off x="2000250" y="2533650"/>
                <a:ext cx="762000" cy="228600"/>
              </a:xfrm>
              <a:prstGeom prst="roundRect">
                <a:avLst>
                  <a:gd fmla="val 12500" name="adj"/>
                </a:avLst>
              </a:prstGeom>
              <a:solidFill>
                <a:srgbClr val="FFFFFF">
                  <a:alpha val="3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0" name="Google Shape;420;p25"/>
              <p:cNvSpPr txBox="1"/>
              <p:nvPr/>
            </p:nvSpPr>
            <p:spPr>
              <a:xfrm>
                <a:off x="2000250" y="2533650"/>
                <a:ext cx="762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vi" sz="833">
                    <a:solidFill>
                      <a:srgbClr val="FFFFFF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38.353</a:t>
                </a:r>
                <a:endParaRPr b="1" sz="833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  <a:sym typeface="JetBrains Mono"/>
                </a:endParaRPr>
              </a:p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601">
                    <a:solidFill>
                      <a:srgbClr val="B0C4DE"/>
                    </a:solidFill>
                    <a:latin typeface="Roboto"/>
                    <a:ea typeface="Roboto"/>
                    <a:cs typeface="Roboto"/>
                    <a:sym typeface="Roboto"/>
                  </a:rPr>
                  <a:t>TN (99.99%)</a:t>
                </a:r>
                <a:endParaRPr b="0" sz="601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421" name="Google Shape;421;p25"/>
              <p:cNvSpPr/>
              <p:nvPr/>
            </p:nvSpPr>
            <p:spPr>
              <a:xfrm>
                <a:off x="2809875" y="2533650"/>
                <a:ext cx="762000" cy="228600"/>
              </a:xfrm>
              <a:prstGeom prst="roundRect">
                <a:avLst>
                  <a:gd fmla="val 12500" name="adj"/>
                </a:avLst>
              </a:prstGeom>
              <a:solidFill>
                <a:srgbClr val="FFFFFF">
                  <a:alpha val="3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2" name="Google Shape;422;p25"/>
              <p:cNvSpPr txBox="1"/>
              <p:nvPr/>
            </p:nvSpPr>
            <p:spPr>
              <a:xfrm>
                <a:off x="2809875" y="2533650"/>
                <a:ext cx="762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vi" sz="833">
                    <a:solidFill>
                      <a:srgbClr val="FF007F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</a:t>
                </a:r>
                <a:endParaRPr b="1" sz="833">
                  <a:solidFill>
                    <a:srgbClr val="FF007F"/>
                  </a:solidFill>
                  <a:latin typeface="JetBrains Mono"/>
                  <a:ea typeface="JetBrains Mono"/>
                  <a:cs typeface="JetBrains Mono"/>
                  <a:sym typeface="JetBrains Mono"/>
                </a:endParaRPr>
              </a:p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601">
                    <a:solidFill>
                      <a:srgbClr val="FFB6C1"/>
                    </a:solidFill>
                    <a:latin typeface="Roboto"/>
                    <a:ea typeface="Roboto"/>
                    <a:cs typeface="Roboto"/>
                    <a:sym typeface="Roboto"/>
                  </a:rPr>
                  <a:t>FP (0.01%)</a:t>
                </a:r>
                <a:endParaRPr b="0" sz="601">
                  <a:solidFill>
                    <a:srgbClr val="FFB6C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423" name="Google Shape;423;p25"/>
              <p:cNvSpPr txBox="1"/>
              <p:nvPr/>
            </p:nvSpPr>
            <p:spPr>
              <a:xfrm>
                <a:off x="666750" y="2800350"/>
                <a:ext cx="1285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543">
                    <a:solidFill>
                      <a:srgbClr val="FF007F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THỰC TẾ GIAN LẬN</a:t>
                </a:r>
                <a:endParaRPr b="0" sz="543">
                  <a:solidFill>
                    <a:srgbClr val="FF007F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424" name="Google Shape;424;p25"/>
              <p:cNvSpPr/>
              <p:nvPr/>
            </p:nvSpPr>
            <p:spPr>
              <a:xfrm>
                <a:off x="2000250" y="2800350"/>
                <a:ext cx="762000" cy="228600"/>
              </a:xfrm>
              <a:prstGeom prst="roundRect">
                <a:avLst>
                  <a:gd fmla="val 12500" name="adj"/>
                </a:avLst>
              </a:prstGeom>
              <a:solidFill>
                <a:srgbClr val="FFFFFF">
                  <a:alpha val="3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5" name="Google Shape;425;p25"/>
              <p:cNvSpPr txBox="1"/>
              <p:nvPr/>
            </p:nvSpPr>
            <p:spPr>
              <a:xfrm>
                <a:off x="2000250" y="2800350"/>
                <a:ext cx="762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vi" sz="833">
                    <a:solidFill>
                      <a:srgbClr val="FFB6C1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</a:t>
                </a:r>
                <a:endParaRPr b="1" sz="833">
                  <a:solidFill>
                    <a:srgbClr val="FFB6C1"/>
                  </a:solidFill>
                  <a:latin typeface="JetBrains Mono"/>
                  <a:ea typeface="JetBrains Mono"/>
                  <a:cs typeface="JetBrains Mono"/>
                  <a:sym typeface="JetBrains Mono"/>
                </a:endParaRPr>
              </a:p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601">
                    <a:solidFill>
                      <a:srgbClr val="B0C4DE"/>
                    </a:solidFill>
                    <a:latin typeface="Roboto"/>
                    <a:ea typeface="Roboto"/>
                    <a:cs typeface="Roboto"/>
                    <a:sym typeface="Roboto"/>
                  </a:rPr>
                  <a:t>FN (0.49%)</a:t>
                </a:r>
                <a:endParaRPr b="0" sz="601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426" name="Google Shape;426;p25"/>
              <p:cNvSpPr/>
              <p:nvPr/>
            </p:nvSpPr>
            <p:spPr>
              <a:xfrm>
                <a:off x="2809875" y="2800350"/>
                <a:ext cx="762000" cy="228600"/>
              </a:xfrm>
              <a:prstGeom prst="roundRect">
                <a:avLst>
                  <a:gd fmla="val 12500" name="adj"/>
                </a:avLst>
              </a:prstGeom>
              <a:solidFill>
                <a:srgbClr val="00F2FE">
                  <a:alpha val="15000"/>
                </a:srgbClr>
              </a:solidFill>
              <a:ln cap="flat" cmpd="sng" w="4775">
                <a:solidFill>
                  <a:srgbClr val="00F2F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" name="Google Shape;427;p25"/>
              <p:cNvSpPr txBox="1"/>
              <p:nvPr/>
            </p:nvSpPr>
            <p:spPr>
              <a:xfrm>
                <a:off x="2809875" y="2800350"/>
                <a:ext cx="762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vi" sz="833">
                    <a:solidFill>
                      <a:srgbClr val="00F2FE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1.635</a:t>
                </a:r>
                <a:endParaRPr b="1" sz="833">
                  <a:solidFill>
                    <a:srgbClr val="00F2FE"/>
                  </a:solidFill>
                  <a:latin typeface="JetBrains Mono"/>
                  <a:ea typeface="JetBrains Mono"/>
                  <a:cs typeface="JetBrains Mono"/>
                  <a:sym typeface="JetBrains Mono"/>
                </a:endParaRPr>
              </a:p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601">
                    <a:solidFill>
                      <a:srgbClr val="A0EEFF"/>
                    </a:solidFill>
                    <a:latin typeface="Roboto"/>
                    <a:ea typeface="Roboto"/>
                    <a:cs typeface="Roboto"/>
                    <a:sym typeface="Roboto"/>
                  </a:rPr>
                  <a:t>TP (99.51%)</a:t>
                </a:r>
                <a:endParaRPr b="0" sz="601">
                  <a:solidFill>
                    <a:srgbClr val="A0EE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428" name="Google Shape;428;p25"/>
          <p:cNvGrpSpPr/>
          <p:nvPr/>
        </p:nvGrpSpPr>
        <p:grpSpPr>
          <a:xfrm>
            <a:off x="4572000" y="1905000"/>
            <a:ext cx="4048200" cy="2809800"/>
            <a:chOff x="4572000" y="1905000"/>
            <a:chExt cx="4048200" cy="2809800"/>
          </a:xfrm>
        </p:grpSpPr>
        <p:sp>
          <p:nvSpPr>
            <p:cNvPr id="429" name="Google Shape;429;p25"/>
            <p:cNvSpPr/>
            <p:nvPr/>
          </p:nvSpPr>
          <p:spPr>
            <a:xfrm>
              <a:off x="4572000" y="1905000"/>
              <a:ext cx="4048200" cy="2809800"/>
            </a:xfrm>
            <a:prstGeom prst="roundRect">
              <a:avLst>
                <a:gd fmla="val 2033" name="adj"/>
              </a:avLst>
            </a:prstGeom>
            <a:solidFill>
              <a:srgbClr val="1A0B36">
                <a:alpha val="80000"/>
              </a:srgbClr>
            </a:solidFill>
            <a:ln cap="flat" cmpd="sng" w="14300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" name="Google Shape;430;p25"/>
            <p:cNvSpPr/>
            <p:nvPr/>
          </p:nvSpPr>
          <p:spPr>
            <a:xfrm>
              <a:off x="4572000" y="1905000"/>
              <a:ext cx="4048200" cy="573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" name="Google Shape;431;p25"/>
            <p:cNvSpPr txBox="1"/>
            <p:nvPr/>
          </p:nvSpPr>
          <p:spPr>
            <a:xfrm>
              <a:off x="4714875" y="3257550"/>
              <a:ext cx="3762300" cy="131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1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TẦM QUAN TRỌNG ĐẶC TRƯNG &amp; NGHIỆP VỤ</a:t>
              </a:r>
              <a:endParaRPr b="0" sz="11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vi" sz="82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errorBalanceOrig (~50%):</a:t>
              </a:r>
              <a:r>
                <a:rPr b="0" lang="vi" sz="8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Sai lệch số dư gốc. "Dấu vân tay" điển hình của hành vi chuyển/rút tiền bất hợp pháp.</a:t>
              </a:r>
              <a:endParaRPr b="0" sz="82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vi" sz="82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newbalanceOrig &amp; is_drain_account:</a:t>
              </a:r>
              <a:r>
                <a:rPr b="0" lang="vi" sz="8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Hành vi vét sạch ví về </a:t>
              </a:r>
              <a:r>
                <a:rPr b="1" lang="vi" sz="82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0</a:t>
              </a:r>
              <a:r>
                <a:rPr b="0" lang="vi" sz="8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ngay sau khi thực hiện giao dịch.</a:t>
              </a:r>
              <a:endParaRPr b="0" sz="82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300"/>
                </a:spcAft>
                <a:buNone/>
              </a:pPr>
              <a:r>
                <a:rPr b="0" i="1" lang="vi" sz="7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Tính đồng thuận: Cả XGBoost &amp; Random Forest đều xác định nhóm chênh lệch số dư tài khoản gửi là quan trọng nhất.</a:t>
              </a:r>
              <a:endParaRPr b="0" i="1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432" name="Google Shape;432;p25"/>
            <p:cNvGrpSpPr/>
            <p:nvPr/>
          </p:nvGrpSpPr>
          <p:grpSpPr>
            <a:xfrm>
              <a:off x="4714875" y="2343150"/>
              <a:ext cx="3619500" cy="723900"/>
              <a:chOff x="4714875" y="2343150"/>
              <a:chExt cx="3619500" cy="723900"/>
            </a:xfrm>
          </p:grpSpPr>
          <p:sp>
            <p:nvSpPr>
              <p:cNvPr id="433" name="Google Shape;433;p25"/>
              <p:cNvSpPr txBox="1"/>
              <p:nvPr/>
            </p:nvSpPr>
            <p:spPr>
              <a:xfrm>
                <a:off x="4714875" y="2343150"/>
                <a:ext cx="11430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75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errorBalanceOrig</a:t>
                </a:r>
                <a:endParaRPr b="0" sz="75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</p:txBody>
          </p:sp>
          <p:sp>
            <p:nvSpPr>
              <p:cNvPr id="434" name="Google Shape;434;p25"/>
              <p:cNvSpPr/>
              <p:nvPr/>
            </p:nvSpPr>
            <p:spPr>
              <a:xfrm>
                <a:off x="5953125" y="2362200"/>
                <a:ext cx="1714500" cy="76200"/>
              </a:xfrm>
              <a:prstGeom prst="roundRect">
                <a:avLst>
                  <a:gd fmla="val 25000" name="adj"/>
                </a:avLst>
              </a:prstGeom>
              <a:solidFill>
                <a:srgbClr val="FFFFFF">
                  <a:alpha val="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435" name="Google Shape;435;p2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5953125" y="2362200"/>
                <a:ext cx="857400" cy="762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36" name="Google Shape;436;p25"/>
              <p:cNvSpPr txBox="1"/>
              <p:nvPr/>
            </p:nvSpPr>
            <p:spPr>
              <a:xfrm>
                <a:off x="7762875" y="2343150"/>
                <a:ext cx="5715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vi" sz="750">
                    <a:solidFill>
                      <a:srgbClr val="00F2FE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49.94%</a:t>
                </a:r>
                <a:endParaRPr b="1" sz="750">
                  <a:solidFill>
                    <a:srgbClr val="00F2FE"/>
                  </a:solidFill>
                  <a:latin typeface="JetBrains Mono"/>
                  <a:ea typeface="JetBrains Mono"/>
                  <a:cs typeface="JetBrains Mono"/>
                  <a:sym typeface="JetBrains Mono"/>
                </a:endParaRPr>
              </a:p>
            </p:txBody>
          </p:sp>
          <p:sp>
            <p:nvSpPr>
              <p:cNvPr id="437" name="Google Shape;437;p25"/>
              <p:cNvSpPr txBox="1"/>
              <p:nvPr/>
            </p:nvSpPr>
            <p:spPr>
              <a:xfrm>
                <a:off x="4714875" y="2495550"/>
                <a:ext cx="11430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75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newbalanceOrig</a:t>
                </a:r>
                <a:endParaRPr b="0" sz="75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</p:txBody>
          </p:sp>
          <p:sp>
            <p:nvSpPr>
              <p:cNvPr id="438" name="Google Shape;438;p25"/>
              <p:cNvSpPr/>
              <p:nvPr/>
            </p:nvSpPr>
            <p:spPr>
              <a:xfrm>
                <a:off x="5953125" y="2514600"/>
                <a:ext cx="1714500" cy="76200"/>
              </a:xfrm>
              <a:prstGeom prst="roundRect">
                <a:avLst>
                  <a:gd fmla="val 25000" name="adj"/>
                </a:avLst>
              </a:prstGeom>
              <a:solidFill>
                <a:srgbClr val="FFFFFF">
                  <a:alpha val="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439" name="Google Shape;439;p25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5953125" y="2514600"/>
                <a:ext cx="809700" cy="762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40" name="Google Shape;440;p25"/>
              <p:cNvSpPr txBox="1"/>
              <p:nvPr/>
            </p:nvSpPr>
            <p:spPr>
              <a:xfrm>
                <a:off x="7762875" y="2495550"/>
                <a:ext cx="5715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vi" sz="750">
                    <a:solidFill>
                      <a:srgbClr val="00F2FE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47.17%</a:t>
                </a:r>
                <a:endParaRPr b="1" sz="750">
                  <a:solidFill>
                    <a:srgbClr val="00F2FE"/>
                  </a:solidFill>
                  <a:latin typeface="JetBrains Mono"/>
                  <a:ea typeface="JetBrains Mono"/>
                  <a:cs typeface="JetBrains Mono"/>
                  <a:sym typeface="JetBrains Mono"/>
                </a:endParaRPr>
              </a:p>
            </p:txBody>
          </p:sp>
          <p:sp>
            <p:nvSpPr>
              <p:cNvPr id="441" name="Google Shape;441;p25"/>
              <p:cNvSpPr txBox="1"/>
              <p:nvPr/>
            </p:nvSpPr>
            <p:spPr>
              <a:xfrm>
                <a:off x="4714875" y="2647950"/>
                <a:ext cx="11430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75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errorBalanceDest</a:t>
                </a:r>
                <a:endParaRPr b="0" sz="75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</p:txBody>
          </p:sp>
          <p:sp>
            <p:nvSpPr>
              <p:cNvPr id="442" name="Google Shape;442;p25"/>
              <p:cNvSpPr/>
              <p:nvPr/>
            </p:nvSpPr>
            <p:spPr>
              <a:xfrm>
                <a:off x="5953125" y="2667000"/>
                <a:ext cx="1714500" cy="76200"/>
              </a:xfrm>
              <a:prstGeom prst="roundRect">
                <a:avLst>
                  <a:gd fmla="val 25000" name="adj"/>
                </a:avLst>
              </a:prstGeom>
              <a:solidFill>
                <a:srgbClr val="FFFFFF">
                  <a:alpha val="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443" name="Google Shape;443;p25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5953125" y="2667000"/>
                <a:ext cx="19200" cy="762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44" name="Google Shape;444;p25"/>
              <p:cNvSpPr txBox="1"/>
              <p:nvPr/>
            </p:nvSpPr>
            <p:spPr>
              <a:xfrm>
                <a:off x="7762875" y="2647950"/>
                <a:ext cx="5715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vi" sz="750">
                    <a:solidFill>
                      <a:srgbClr val="00F2FE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0.98%</a:t>
                </a:r>
                <a:endParaRPr b="1" sz="750">
                  <a:solidFill>
                    <a:srgbClr val="00F2FE"/>
                  </a:solidFill>
                  <a:latin typeface="JetBrains Mono"/>
                  <a:ea typeface="JetBrains Mono"/>
                  <a:cs typeface="JetBrains Mono"/>
                  <a:sym typeface="JetBrains Mono"/>
                </a:endParaRPr>
              </a:p>
            </p:txBody>
          </p:sp>
          <p:sp>
            <p:nvSpPr>
              <p:cNvPr id="445" name="Google Shape;445;p25"/>
              <p:cNvSpPr txBox="1"/>
              <p:nvPr/>
            </p:nvSpPr>
            <p:spPr>
              <a:xfrm>
                <a:off x="4714875" y="2800350"/>
                <a:ext cx="11430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75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is_drain_account</a:t>
                </a:r>
                <a:endParaRPr b="0" sz="75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</p:txBody>
          </p:sp>
          <p:sp>
            <p:nvSpPr>
              <p:cNvPr id="446" name="Google Shape;446;p25"/>
              <p:cNvSpPr/>
              <p:nvPr/>
            </p:nvSpPr>
            <p:spPr>
              <a:xfrm>
                <a:off x="5953125" y="2819400"/>
                <a:ext cx="1714500" cy="76200"/>
              </a:xfrm>
              <a:prstGeom prst="roundRect">
                <a:avLst>
                  <a:gd fmla="val 25000" name="adj"/>
                </a:avLst>
              </a:prstGeom>
              <a:solidFill>
                <a:srgbClr val="FFFFFF">
                  <a:alpha val="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447" name="Google Shape;447;p25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5953125" y="2819400"/>
                <a:ext cx="9600" cy="762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48" name="Google Shape;448;p25"/>
              <p:cNvSpPr txBox="1"/>
              <p:nvPr/>
            </p:nvSpPr>
            <p:spPr>
              <a:xfrm>
                <a:off x="7762875" y="2800350"/>
                <a:ext cx="5715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vi" sz="750">
                    <a:solidFill>
                      <a:srgbClr val="00F2FE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0.59%</a:t>
                </a:r>
                <a:endParaRPr b="1" sz="750">
                  <a:solidFill>
                    <a:srgbClr val="00F2FE"/>
                  </a:solidFill>
                  <a:latin typeface="JetBrains Mono"/>
                  <a:ea typeface="JetBrains Mono"/>
                  <a:cs typeface="JetBrains Mono"/>
                  <a:sym typeface="JetBrains Mono"/>
                </a:endParaRPr>
              </a:p>
            </p:txBody>
          </p:sp>
          <p:sp>
            <p:nvSpPr>
              <p:cNvPr id="449" name="Google Shape;449;p25"/>
              <p:cNvSpPr txBox="1"/>
              <p:nvPr/>
            </p:nvSpPr>
            <p:spPr>
              <a:xfrm>
                <a:off x="4714875" y="2952750"/>
                <a:ext cx="11430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vi" sz="75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amount</a:t>
                </a:r>
                <a:endParaRPr b="0" sz="75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</p:txBody>
          </p:sp>
          <p:sp>
            <p:nvSpPr>
              <p:cNvPr id="450" name="Google Shape;450;p25"/>
              <p:cNvSpPr/>
              <p:nvPr/>
            </p:nvSpPr>
            <p:spPr>
              <a:xfrm>
                <a:off x="5953125" y="2971800"/>
                <a:ext cx="1714500" cy="76200"/>
              </a:xfrm>
              <a:prstGeom prst="roundRect">
                <a:avLst>
                  <a:gd fmla="val 25000" name="adj"/>
                </a:avLst>
              </a:prstGeom>
              <a:solidFill>
                <a:srgbClr val="FFFFFF">
                  <a:alpha val="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451" name="Google Shape;451;p25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5953125" y="2971800"/>
                <a:ext cx="9600" cy="762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2" name="Google Shape;452;p25"/>
              <p:cNvSpPr txBox="1"/>
              <p:nvPr/>
            </p:nvSpPr>
            <p:spPr>
              <a:xfrm>
                <a:off x="7762875" y="2952750"/>
                <a:ext cx="5715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vi" sz="750">
                    <a:solidFill>
                      <a:srgbClr val="00F2FE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0.49%</a:t>
                </a:r>
                <a:endParaRPr b="1" sz="750">
                  <a:solidFill>
                    <a:srgbClr val="00F2FE"/>
                  </a:solidFill>
                  <a:latin typeface="JetBrains Mono"/>
                  <a:ea typeface="JetBrains Mono"/>
                  <a:cs typeface="JetBrains Mono"/>
                  <a:sym typeface="JetBrains Mono"/>
                </a:endParaRPr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524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7" name="Google Shape;457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8" name="Google Shape;458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42862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p26"/>
          <p:cNvSpPr txBox="1"/>
          <p:nvPr/>
        </p:nvSpPr>
        <p:spPr>
          <a:xfrm>
            <a:off x="1190625" y="457200"/>
            <a:ext cx="42864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2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0" name="Google Shape;460;p26"/>
          <p:cNvSpPr txBox="1"/>
          <p:nvPr/>
        </p:nvSpPr>
        <p:spPr>
          <a:xfrm>
            <a:off x="6191250" y="457200"/>
            <a:ext cx="23814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65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65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808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808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1" name="Google Shape;461;p26"/>
          <p:cNvSpPr/>
          <p:nvPr/>
        </p:nvSpPr>
        <p:spPr>
          <a:xfrm>
            <a:off x="476250" y="9715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26"/>
          <p:cNvSpPr txBox="1"/>
          <p:nvPr/>
        </p:nvSpPr>
        <p:spPr>
          <a:xfrm>
            <a:off x="523875" y="1066800"/>
            <a:ext cx="80964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HỆ THỐNG GIÁM SÁT &amp; DỰ ĐOÁN GIAN LẬN THỜI GIAN THỰC</a:t>
            </a:r>
            <a:endParaRPr b="1" sz="7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13"/>
              </a:spcBef>
              <a:spcAft>
                <a:spcPts val="0"/>
              </a:spcAft>
              <a:buNone/>
            </a:pPr>
            <a:r>
              <a:rPr b="0" lang="vi" sz="18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HỆ THỐNG DEMO </a:t>
            </a:r>
            <a:r>
              <a:rPr b="0" lang="vi" sz="1800">
                <a:solidFill>
                  <a:srgbClr val="00F2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FRAUD SHIELD AI</a:t>
            </a:r>
            <a:endParaRPr b="0" sz="180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grpSp>
        <p:nvGrpSpPr>
          <p:cNvPr id="463" name="Google Shape;463;p26"/>
          <p:cNvGrpSpPr/>
          <p:nvPr/>
        </p:nvGrpSpPr>
        <p:grpSpPr>
          <a:xfrm>
            <a:off x="620325" y="1676400"/>
            <a:ext cx="4476900" cy="3000300"/>
            <a:chOff x="0" y="0"/>
            <a:chExt cx="4476900" cy="3000300"/>
          </a:xfrm>
        </p:grpSpPr>
        <p:sp>
          <p:nvSpPr>
            <p:cNvPr id="464" name="Google Shape;464;p26"/>
            <p:cNvSpPr/>
            <p:nvPr/>
          </p:nvSpPr>
          <p:spPr>
            <a:xfrm>
              <a:off x="0" y="0"/>
              <a:ext cx="4476900" cy="3000300"/>
            </a:xfrm>
            <a:prstGeom prst="roundRect">
              <a:avLst>
                <a:gd fmla="val 1904" name="adj"/>
              </a:avLst>
            </a:prstGeom>
            <a:solidFill>
              <a:srgbClr val="1A0B36">
                <a:alpha val="80000"/>
              </a:srgbClr>
            </a:solidFill>
            <a:ln cap="flat" cmpd="sng" w="11425">
              <a:solidFill>
                <a:srgbClr val="00F2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26"/>
            <p:cNvSpPr/>
            <p:nvPr/>
          </p:nvSpPr>
          <p:spPr>
            <a:xfrm>
              <a:off x="0" y="0"/>
              <a:ext cx="4476900" cy="573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66" name="Google Shape;466;p26"/>
          <p:cNvGrpSpPr/>
          <p:nvPr/>
        </p:nvGrpSpPr>
        <p:grpSpPr>
          <a:xfrm>
            <a:off x="5191125" y="1619250"/>
            <a:ext cx="3429000" cy="3000300"/>
            <a:chOff x="0" y="0"/>
            <a:chExt cx="3429000" cy="3000300"/>
          </a:xfrm>
        </p:grpSpPr>
        <p:sp>
          <p:nvSpPr>
            <p:cNvPr id="467" name="Google Shape;467;p26"/>
            <p:cNvSpPr/>
            <p:nvPr/>
          </p:nvSpPr>
          <p:spPr>
            <a:xfrm>
              <a:off x="0" y="0"/>
              <a:ext cx="3429000" cy="3000300"/>
            </a:xfrm>
            <a:prstGeom prst="roundRect">
              <a:avLst>
                <a:gd fmla="val 1904" name="adj"/>
              </a:avLst>
            </a:prstGeom>
            <a:solidFill>
              <a:srgbClr val="1A0B36">
                <a:alpha val="80000"/>
              </a:srgbClr>
            </a:solidFill>
            <a:ln cap="flat" cmpd="sng" w="11425">
              <a:solidFill>
                <a:srgbClr val="FF007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26"/>
            <p:cNvSpPr/>
            <p:nvPr/>
          </p:nvSpPr>
          <p:spPr>
            <a:xfrm>
              <a:off x="0" y="0"/>
              <a:ext cx="34290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69" name="Google Shape;469;p26"/>
            <p:cNvGrpSpPr/>
            <p:nvPr/>
          </p:nvGrpSpPr>
          <p:grpSpPr>
            <a:xfrm>
              <a:off x="190500" y="190500"/>
              <a:ext cx="3048000" cy="2476425"/>
              <a:chOff x="0" y="0"/>
              <a:chExt cx="3048000" cy="2476425"/>
            </a:xfrm>
          </p:grpSpPr>
          <p:sp>
            <p:nvSpPr>
              <p:cNvPr id="470" name="Google Shape;470;p26"/>
              <p:cNvSpPr txBox="1"/>
              <p:nvPr/>
            </p:nvSpPr>
            <p:spPr>
              <a:xfrm>
                <a:off x="0" y="0"/>
                <a:ext cx="30480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b="0" lang="vi" sz="1050">
                    <a:solidFill>
                      <a:srgbClr val="00F2FE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KEY HIGHLIGHTS &amp; TECH STACK</a:t>
                </a:r>
                <a:endParaRPr b="0" sz="10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grpSp>
            <p:nvGrpSpPr>
              <p:cNvPr id="471" name="Google Shape;471;p26"/>
              <p:cNvGrpSpPr/>
              <p:nvPr/>
            </p:nvGrpSpPr>
            <p:grpSpPr>
              <a:xfrm>
                <a:off x="0" y="285750"/>
                <a:ext cx="3048000" cy="333300"/>
                <a:chOff x="0" y="0"/>
                <a:chExt cx="3048000" cy="333300"/>
              </a:xfrm>
            </p:grpSpPr>
            <p:sp>
              <p:nvSpPr>
                <p:cNvPr id="472" name="Google Shape;472;p26"/>
                <p:cNvSpPr/>
                <p:nvPr/>
              </p:nvSpPr>
              <p:spPr>
                <a:xfrm>
                  <a:off x="0" y="0"/>
                  <a:ext cx="285900" cy="285900"/>
                </a:xfrm>
                <a:prstGeom prst="roundRect">
                  <a:avLst>
                    <a:gd fmla="val 20000" name="adj"/>
                  </a:avLst>
                </a:prstGeom>
                <a:solidFill>
                  <a:srgbClr val="00F2FE">
                    <a:alpha val="1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3" name="Google Shape;473;p26"/>
                <p:cNvSpPr txBox="1"/>
                <p:nvPr/>
              </p:nvSpPr>
              <p:spPr>
                <a:xfrm>
                  <a:off x="57150" y="80518"/>
                  <a:ext cx="171600" cy="171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vi" sz="1240">
                      <a:solidFill>
                        <a:srgbClr val="00F2FE"/>
                      </a:solidFill>
                      <a:latin typeface="Material Icons"/>
                      <a:ea typeface="Material Icons"/>
                      <a:cs typeface="Material Icons"/>
                      <a:sym typeface="Material Icons"/>
                    </a:rPr>
                    <a:t>bolt</a:t>
                  </a:r>
                  <a:endParaRPr sz="1085"/>
                </a:p>
              </p:txBody>
            </p:sp>
            <p:sp>
              <p:nvSpPr>
                <p:cNvPr id="474" name="Google Shape;474;p26"/>
                <p:cNvSpPr txBox="1"/>
                <p:nvPr/>
              </p:nvSpPr>
              <p:spPr>
                <a:xfrm>
                  <a:off x="381000" y="0"/>
                  <a:ext cx="2667000" cy="333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vi" sz="786">
                      <a:solidFill>
                        <a:srgbClr val="FFFFFF"/>
                      </a:solidFill>
                      <a:latin typeface="Montserrat ExtraBold"/>
                      <a:ea typeface="Montserrat ExtraBold"/>
                      <a:cs typeface="Montserrat ExtraBold"/>
                      <a:sym typeface="Montserrat ExtraBold"/>
                    </a:rPr>
                    <a:t>Real-time Inference Engine</a:t>
                  </a:r>
                  <a:endParaRPr b="0" sz="786">
                    <a:solidFill>
                      <a:srgbClr val="FFFFFF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endParaRPr>
                </a:p>
                <a:p>
                  <a:pPr indent="0" lvl="0" marL="0" rtl="0" algn="l">
                    <a:spcBef>
                      <a:spcPts val="225"/>
                    </a:spcBef>
                    <a:spcAft>
                      <a:spcPts val="0"/>
                    </a:spcAft>
                    <a:buNone/>
                  </a:pPr>
                  <a:r>
                    <a:rPr b="0" lang="vi" sz="722">
                      <a:solidFill>
                        <a:srgbClr val="E0E0E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Pipeline tinh gọn (14 features). Phản hồi cực nhanh &lt; 50ms.</a:t>
                  </a:r>
                  <a:endParaRPr b="0" sz="722">
                    <a:solidFill>
                      <a:srgbClr val="E0E0E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</p:grpSp>
          <p:grpSp>
            <p:nvGrpSpPr>
              <p:cNvPr id="475" name="Google Shape;475;p26"/>
              <p:cNvGrpSpPr/>
              <p:nvPr/>
            </p:nvGrpSpPr>
            <p:grpSpPr>
              <a:xfrm>
                <a:off x="0" y="904875"/>
                <a:ext cx="3048000" cy="428700"/>
                <a:chOff x="0" y="0"/>
                <a:chExt cx="3048000" cy="428700"/>
              </a:xfrm>
            </p:grpSpPr>
            <p:sp>
              <p:nvSpPr>
                <p:cNvPr id="476" name="Google Shape;476;p26"/>
                <p:cNvSpPr/>
                <p:nvPr/>
              </p:nvSpPr>
              <p:spPr>
                <a:xfrm>
                  <a:off x="0" y="0"/>
                  <a:ext cx="285900" cy="285900"/>
                </a:xfrm>
                <a:prstGeom prst="roundRect">
                  <a:avLst>
                    <a:gd fmla="val 20000" name="adj"/>
                  </a:avLst>
                </a:prstGeom>
                <a:solidFill>
                  <a:srgbClr val="00F2FE">
                    <a:alpha val="1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7" name="Google Shape;477;p26"/>
                <p:cNvSpPr txBox="1"/>
                <p:nvPr/>
              </p:nvSpPr>
              <p:spPr>
                <a:xfrm>
                  <a:off x="57150" y="80518"/>
                  <a:ext cx="171600" cy="171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vi" sz="1240">
                      <a:solidFill>
                        <a:srgbClr val="00F2FE"/>
                      </a:solidFill>
                      <a:latin typeface="Material Icons"/>
                      <a:ea typeface="Material Icons"/>
                      <a:cs typeface="Material Icons"/>
                      <a:sym typeface="Material Icons"/>
                    </a:rPr>
                    <a:t>dashboard</a:t>
                  </a:r>
                  <a:endParaRPr sz="1085"/>
                </a:p>
              </p:txBody>
            </p:sp>
            <p:sp>
              <p:nvSpPr>
                <p:cNvPr id="478" name="Google Shape;478;p26"/>
                <p:cNvSpPr txBox="1"/>
                <p:nvPr/>
              </p:nvSpPr>
              <p:spPr>
                <a:xfrm>
                  <a:off x="381000" y="0"/>
                  <a:ext cx="2667000" cy="42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vi" sz="786">
                      <a:solidFill>
                        <a:srgbClr val="FFFFFF"/>
                      </a:solidFill>
                      <a:latin typeface="Montserrat ExtraBold"/>
                      <a:ea typeface="Montserrat ExtraBold"/>
                      <a:cs typeface="Montserrat ExtraBold"/>
                      <a:sym typeface="Montserrat ExtraBold"/>
                    </a:rPr>
                    <a:t>Interactive UI (Streamlit)</a:t>
                  </a:r>
                  <a:endParaRPr b="0" sz="786">
                    <a:solidFill>
                      <a:srgbClr val="FFFFFF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endParaRPr>
                </a:p>
                <a:p>
                  <a:pPr indent="0" lvl="0" marL="0" rtl="0" algn="l">
                    <a:spcBef>
                      <a:spcPts val="225"/>
                    </a:spcBef>
                    <a:spcAft>
                      <a:spcPts val="0"/>
                    </a:spcAft>
                    <a:buNone/>
                  </a:pPr>
                  <a:r>
                    <a:rPr b="0" lang="vi" sz="722">
                      <a:solidFill>
                        <a:srgbClr val="E0E0E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Nhập liệu linh hoạt, hỗ trợ 1-click Quick Presets (Normal, Drain, Wash).</a:t>
                  </a:r>
                  <a:endParaRPr b="0" sz="722">
                    <a:solidFill>
                      <a:srgbClr val="E0E0E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</p:grpSp>
          <p:grpSp>
            <p:nvGrpSpPr>
              <p:cNvPr id="479" name="Google Shape;479;p26"/>
              <p:cNvGrpSpPr/>
              <p:nvPr/>
            </p:nvGrpSpPr>
            <p:grpSpPr>
              <a:xfrm>
                <a:off x="0" y="1524000"/>
                <a:ext cx="3048000" cy="428700"/>
                <a:chOff x="0" y="0"/>
                <a:chExt cx="3048000" cy="428700"/>
              </a:xfrm>
            </p:grpSpPr>
            <p:sp>
              <p:nvSpPr>
                <p:cNvPr id="480" name="Google Shape;480;p26"/>
                <p:cNvSpPr/>
                <p:nvPr/>
              </p:nvSpPr>
              <p:spPr>
                <a:xfrm>
                  <a:off x="0" y="0"/>
                  <a:ext cx="285900" cy="285900"/>
                </a:xfrm>
                <a:prstGeom prst="roundRect">
                  <a:avLst>
                    <a:gd fmla="val 20000" name="adj"/>
                  </a:avLst>
                </a:prstGeom>
                <a:solidFill>
                  <a:srgbClr val="FF007F">
                    <a:alpha val="1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1" name="Google Shape;481;p26"/>
                <p:cNvSpPr txBox="1"/>
                <p:nvPr/>
              </p:nvSpPr>
              <p:spPr>
                <a:xfrm>
                  <a:off x="57150" y="80518"/>
                  <a:ext cx="171600" cy="171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vi" sz="1240">
                      <a:solidFill>
                        <a:srgbClr val="FF007F"/>
                      </a:solidFill>
                      <a:latin typeface="Material Icons"/>
                      <a:ea typeface="Material Icons"/>
                      <a:cs typeface="Material Icons"/>
                      <a:sym typeface="Material Icons"/>
                    </a:rPr>
                    <a:t>warning</a:t>
                  </a:r>
                  <a:endParaRPr sz="1085"/>
                </a:p>
              </p:txBody>
            </p:sp>
            <p:sp>
              <p:nvSpPr>
                <p:cNvPr id="482" name="Google Shape;482;p26"/>
                <p:cNvSpPr txBox="1"/>
                <p:nvPr/>
              </p:nvSpPr>
              <p:spPr>
                <a:xfrm>
                  <a:off x="381000" y="0"/>
                  <a:ext cx="2667000" cy="42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vi" sz="786">
                      <a:solidFill>
                        <a:srgbClr val="FFFFFF"/>
                      </a:solidFill>
                      <a:latin typeface="Montserrat ExtraBold"/>
                      <a:ea typeface="Montserrat ExtraBold"/>
                      <a:cs typeface="Montserrat ExtraBold"/>
                      <a:sym typeface="Montserrat ExtraBold"/>
                    </a:rPr>
                    <a:t>Dynamic Alert &amp; Scoring</a:t>
                  </a:r>
                  <a:endParaRPr b="0" sz="786">
                    <a:solidFill>
                      <a:srgbClr val="FFFFFF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endParaRPr>
                </a:p>
                <a:p>
                  <a:pPr indent="0" lvl="0" marL="0" rtl="0" algn="l">
                    <a:spcBef>
                      <a:spcPts val="225"/>
                    </a:spcBef>
                    <a:spcAft>
                      <a:spcPts val="0"/>
                    </a:spcAft>
                    <a:buNone/>
                  </a:pPr>
                  <a:r>
                    <a:rPr b="0" lang="vi" sz="722">
                      <a:solidFill>
                        <a:srgbClr val="E0E0E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🟢 Safe &lt; 5% | 🔴 Alert &gt; 90% kèm còi báo &amp; khoanh vùng lỗi Orig.</a:t>
                  </a:r>
                  <a:endParaRPr b="0" sz="722">
                    <a:solidFill>
                      <a:srgbClr val="E0E0E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</p:grpSp>
          <p:grpSp>
            <p:nvGrpSpPr>
              <p:cNvPr id="483" name="Google Shape;483;p26"/>
              <p:cNvGrpSpPr/>
              <p:nvPr/>
            </p:nvGrpSpPr>
            <p:grpSpPr>
              <a:xfrm>
                <a:off x="0" y="2143125"/>
                <a:ext cx="3048000" cy="333300"/>
                <a:chOff x="0" y="0"/>
                <a:chExt cx="3048000" cy="333300"/>
              </a:xfrm>
            </p:grpSpPr>
            <p:sp>
              <p:nvSpPr>
                <p:cNvPr id="484" name="Google Shape;484;p26"/>
                <p:cNvSpPr/>
                <p:nvPr/>
              </p:nvSpPr>
              <p:spPr>
                <a:xfrm>
                  <a:off x="0" y="0"/>
                  <a:ext cx="285900" cy="285900"/>
                </a:xfrm>
                <a:prstGeom prst="roundRect">
                  <a:avLst>
                    <a:gd fmla="val 20000" name="adj"/>
                  </a:avLst>
                </a:prstGeom>
                <a:solidFill>
                  <a:srgbClr val="00F2FE">
                    <a:alpha val="1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5" name="Google Shape;485;p26"/>
                <p:cNvSpPr txBox="1"/>
                <p:nvPr/>
              </p:nvSpPr>
              <p:spPr>
                <a:xfrm>
                  <a:off x="57150" y="80518"/>
                  <a:ext cx="171600" cy="171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vi" sz="1240">
                      <a:solidFill>
                        <a:srgbClr val="00F2FE"/>
                      </a:solidFill>
                      <a:latin typeface="Material Icons"/>
                      <a:ea typeface="Material Icons"/>
                      <a:cs typeface="Material Icons"/>
                      <a:sym typeface="Material Icons"/>
                    </a:rPr>
                    <a:t>contrast</a:t>
                  </a:r>
                  <a:endParaRPr sz="1085"/>
                </a:p>
              </p:txBody>
            </p:sp>
            <p:sp>
              <p:nvSpPr>
                <p:cNvPr id="486" name="Google Shape;486;p26"/>
                <p:cNvSpPr txBox="1"/>
                <p:nvPr/>
              </p:nvSpPr>
              <p:spPr>
                <a:xfrm>
                  <a:off x="381000" y="0"/>
                  <a:ext cx="2667000" cy="333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vi" sz="786">
                      <a:solidFill>
                        <a:srgbClr val="FFFFFF"/>
                      </a:solidFill>
                      <a:latin typeface="Montserrat ExtraBold"/>
                      <a:ea typeface="Montserrat ExtraBold"/>
                      <a:cs typeface="Montserrat ExtraBold"/>
                      <a:sym typeface="Montserrat ExtraBold"/>
                    </a:rPr>
                    <a:t>Theme Adaptability</a:t>
                  </a:r>
                  <a:endParaRPr b="0" sz="786">
                    <a:solidFill>
                      <a:srgbClr val="FFFFFF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endParaRPr>
                </a:p>
                <a:p>
                  <a:pPr indent="0" lvl="0" marL="0" rtl="0" algn="l">
                    <a:spcBef>
                      <a:spcPts val="225"/>
                    </a:spcBef>
                    <a:spcAft>
                      <a:spcPts val="0"/>
                    </a:spcAft>
                    <a:buNone/>
                  </a:pPr>
                  <a:r>
                    <a:rPr b="0" lang="vi" sz="722">
                      <a:solidFill>
                        <a:srgbClr val="E0E0E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Chuyển đổi linh hoạt Light/Dark mode, tối ưu hóa cho trình chiếu.</a:t>
                  </a:r>
                  <a:endParaRPr b="0" sz="722">
                    <a:solidFill>
                      <a:srgbClr val="E0E0E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</p:grpSp>
        </p:grpSp>
      </p:grpSp>
      <p:pic>
        <p:nvPicPr>
          <p:cNvPr id="487" name="Google Shape;487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0325" y="1739500"/>
            <a:ext cx="4458501" cy="288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27"/>
          <p:cNvSpPr txBox="1"/>
          <p:nvPr/>
        </p:nvSpPr>
        <p:spPr>
          <a:xfrm>
            <a:off x="1190625" y="457200"/>
            <a:ext cx="42864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TRƯỜNG ĐẠI HỌC CÔNG NGHỆ THÔNG TIN</a:t>
            </a:r>
            <a:endParaRPr b="1" sz="925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ĐẠI HỌC QUỐC GIA THÀNH PHỐ HỒ CHÍ MINH</a:t>
            </a:r>
            <a:endParaRPr b="0" sz="765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93" name="Google Shape;493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42862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27"/>
          <p:cNvSpPr txBox="1"/>
          <p:nvPr/>
        </p:nvSpPr>
        <p:spPr>
          <a:xfrm>
            <a:off x="6191250" y="457200"/>
            <a:ext cx="23814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5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CS106 — TRÍ TUỆ NHÂN TẠO</a:t>
            </a:r>
            <a:endParaRPr b="1" sz="750">
              <a:solidFill>
                <a:srgbClr val="00F2F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90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Học kỳ 3 | Niên khóa 2025 - 2026</a:t>
            </a:r>
            <a:endParaRPr b="0" sz="90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27"/>
          <p:cNvSpPr/>
          <p:nvPr/>
        </p:nvSpPr>
        <p:spPr>
          <a:xfrm>
            <a:off x="476250" y="9715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27"/>
          <p:cNvSpPr txBox="1"/>
          <p:nvPr/>
        </p:nvSpPr>
        <p:spPr>
          <a:xfrm>
            <a:off x="523875" y="1066800"/>
            <a:ext cx="80964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vi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rPr>
              <a:t>KẾT LUẬN &amp; HƯỚNG PHÁT TRIỂN (CONCLUSION &amp; FUTURE WORK)</a:t>
            </a:r>
            <a:endParaRPr b="1" sz="750">
              <a:solidFill>
                <a:srgbClr val="B0C4DE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20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TỔNG KẾT DỰ ÁN &amp; </a:t>
            </a:r>
            <a:r>
              <a:rPr b="0" lang="vi" sz="2000">
                <a:solidFill>
                  <a:srgbClr val="00F2FE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ĐỊNH HƯỚNG MỞ RỘNG</a:t>
            </a:r>
            <a:endParaRPr b="0" sz="200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497" name="Google Shape;497;p27"/>
          <p:cNvSpPr/>
          <p:nvPr/>
        </p:nvSpPr>
        <p:spPr>
          <a:xfrm>
            <a:off x="523875" y="1619250"/>
            <a:ext cx="3952800" cy="3000300"/>
          </a:xfrm>
          <a:prstGeom prst="roundRect">
            <a:avLst>
              <a:gd fmla="val 1904" name="adj"/>
            </a:avLst>
          </a:prstGeom>
          <a:solidFill>
            <a:srgbClr val="1A0B36">
              <a:alpha val="80000"/>
            </a:srgbClr>
          </a:solidFill>
          <a:ln cap="flat" cmpd="sng" w="11425">
            <a:solidFill>
              <a:srgbClr val="00F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27"/>
          <p:cNvSpPr/>
          <p:nvPr/>
        </p:nvSpPr>
        <p:spPr>
          <a:xfrm>
            <a:off x="523875" y="1619250"/>
            <a:ext cx="3952800" cy="57300"/>
          </a:xfrm>
          <a:prstGeom prst="roundRect">
            <a:avLst>
              <a:gd fmla="val 50000" name="adj"/>
            </a:avLst>
          </a:prstGeom>
          <a:solidFill>
            <a:srgbClr val="00F2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27"/>
          <p:cNvSpPr txBox="1"/>
          <p:nvPr/>
        </p:nvSpPr>
        <p:spPr>
          <a:xfrm>
            <a:off x="714375" y="1809750"/>
            <a:ext cx="357180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11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🏆 THÀNH QUẢ ĐẠT ĐƯỢC</a:t>
            </a:r>
            <a:endParaRPr b="0" sz="110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vi" sz="8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1. Pipeline End-to-End chuẩn mực</a:t>
            </a:r>
            <a:endParaRPr b="0" sz="850">
              <a:solidFill>
                <a:srgbClr val="00F2F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Xử lý toàn diện từ dữ liệu thô (6.36 triệu giao dịch PaySim) → Tiền xử lý &amp; 14 đặc trưng đột phá → Triển khai ứng dụng Web tương tác thời gian thực (Streamlit Demo).</a:t>
            </a:r>
            <a:endParaRPr b="0" sz="7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lang="vi" sz="8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2. Xử lý triệt để mất cân bằng cực đoan</a:t>
            </a:r>
            <a:endParaRPr b="0" sz="850">
              <a:solidFill>
                <a:srgbClr val="00F2F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Kết hợp SMOTE &amp; XGBoost giúp đạt </a:t>
            </a:r>
            <a:r>
              <a:rPr b="1" lang="vi" sz="75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Recall = 99.51%</a:t>
            </a: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 (bắt 1.635/1.643 ca gian lận). Tỷ lệ báo động giả cực thấp </a:t>
            </a:r>
            <a:r>
              <a:rPr b="1" lang="vi" sz="750">
                <a:solidFill>
                  <a:srgbClr val="FF007F"/>
                </a:solidFill>
                <a:latin typeface="Roboto"/>
                <a:ea typeface="Roboto"/>
                <a:cs typeface="Roboto"/>
                <a:sym typeface="Roboto"/>
              </a:rPr>
              <a:t>0.01%</a:t>
            </a: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 (chỉ 4/38.357 ca nhầm). F1-Score đạt </a:t>
            </a:r>
            <a:r>
              <a:rPr b="1" lang="vi" sz="75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0.9963</a:t>
            </a: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b="0" sz="7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lang="vi" sz="8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3. Hiểu sâu bản chất hành vi (Business Insights)</a:t>
            </a:r>
            <a:endParaRPr b="0" sz="850">
              <a:solidFill>
                <a:srgbClr val="00F2F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Xác định dấu vết rủi ro then chốt từ nhóm sai lệch số dư (</a:t>
            </a:r>
            <a:r>
              <a:rPr b="1" lang="vi" sz="75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rPr>
              <a:t>errorBalanceOrig ≈ 50%</a:t>
            </a: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) và hành vi rút cạn tài khoản ví về 0 (</a:t>
            </a:r>
            <a:r>
              <a:rPr b="1" lang="vi" sz="750">
                <a:solidFill>
                  <a:srgbClr val="FF007F"/>
                </a:solidFill>
                <a:latin typeface="Roboto"/>
                <a:ea typeface="Roboto"/>
                <a:cs typeface="Roboto"/>
                <a:sym typeface="Roboto"/>
              </a:rPr>
              <a:t>newbalanceOrig ≈ 47%</a:t>
            </a: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b="0" sz="7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27"/>
          <p:cNvSpPr/>
          <p:nvPr/>
        </p:nvSpPr>
        <p:spPr>
          <a:xfrm>
            <a:off x="4667250" y="1619250"/>
            <a:ext cx="3952800" cy="3000300"/>
          </a:xfrm>
          <a:prstGeom prst="roundRect">
            <a:avLst>
              <a:gd fmla="val 1904" name="adj"/>
            </a:avLst>
          </a:prstGeom>
          <a:solidFill>
            <a:srgbClr val="1A0B36">
              <a:alpha val="80000"/>
            </a:srgbClr>
          </a:solidFill>
          <a:ln cap="flat" cmpd="sng" w="11425">
            <a:solidFill>
              <a:srgbClr val="FF00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27"/>
          <p:cNvSpPr/>
          <p:nvPr/>
        </p:nvSpPr>
        <p:spPr>
          <a:xfrm>
            <a:off x="4667250" y="1619250"/>
            <a:ext cx="3952800" cy="57300"/>
          </a:xfrm>
          <a:prstGeom prst="roundRect">
            <a:avLst>
              <a:gd fmla="val 50000" name="adj"/>
            </a:avLst>
          </a:prstGeom>
          <a:solidFill>
            <a:srgbClr val="FF007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27"/>
          <p:cNvSpPr txBox="1"/>
          <p:nvPr/>
        </p:nvSpPr>
        <p:spPr>
          <a:xfrm>
            <a:off x="4857750" y="1809750"/>
            <a:ext cx="357180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vi" sz="11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🚀 HẠN CHẾ &amp; HƯỚNG PHÁT TRIỂN</a:t>
            </a:r>
            <a:endParaRPr b="0" sz="1100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vi" sz="850">
                <a:solidFill>
                  <a:srgbClr val="FF007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1. Khắc phục hạn chế dữ liệu mô phỏng</a:t>
            </a:r>
            <a:endParaRPr b="0" sz="850">
              <a:solidFill>
                <a:srgbClr val="FF007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Kiểm thử trên dữ liệu thực tế và áp dụng chia tập theo chuỗi thời gian (Time-based Split) để đánh giá khả năng chống chọi trước sự biến đổi hành vi.</a:t>
            </a:r>
            <a:endParaRPr b="0" sz="7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75"/>
              </a:spcBef>
              <a:spcAft>
                <a:spcPts val="0"/>
              </a:spcAft>
              <a:buNone/>
            </a:pPr>
            <a:r>
              <a:rPr b="0" lang="vi" sz="850">
                <a:solidFill>
                  <a:srgbClr val="FF007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2. Nâng cấp mô hình với đồ thị GNN</a:t>
            </a:r>
            <a:endParaRPr b="0" sz="850">
              <a:solidFill>
                <a:srgbClr val="FF007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Xây dựng đồ thị giao dịch liên tài khoản bằng GraphSAGE/GAT nhằm phát hiện các đường dây rửa tiền phức tạp và tài khoản rác.</a:t>
            </a:r>
            <a:endParaRPr b="0" sz="7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75"/>
              </a:spcBef>
              <a:spcAft>
                <a:spcPts val="0"/>
              </a:spcAft>
              <a:buNone/>
            </a:pPr>
            <a:r>
              <a:rPr b="0" lang="vi" sz="850">
                <a:solidFill>
                  <a:srgbClr val="FF007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3. Tích hợp AI giải thích được (XAI)</a:t>
            </a:r>
            <a:endParaRPr b="0" sz="850">
              <a:solidFill>
                <a:srgbClr val="FF007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Đưa SHAP/LIME vào ứng dụng xuất biểu đồ Waterfall Plot cho từng giao dịch, giúp chuyên viên kiểm soát rủi ro hiểu rõ lý do mô hình gắn cờ.</a:t>
            </a:r>
            <a:endParaRPr b="0" sz="7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75"/>
              </a:spcBef>
              <a:spcAft>
                <a:spcPts val="0"/>
              </a:spcAft>
              <a:buNone/>
            </a:pPr>
            <a:r>
              <a:rPr b="0" lang="vi" sz="850">
                <a:solidFill>
                  <a:srgbClr val="FF007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4. Kiến trúc triển khai công nghiệp</a:t>
            </a:r>
            <a:endParaRPr b="0" sz="850">
              <a:solidFill>
                <a:srgbClr val="FF007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vi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Đóng gói Docker Container, xây dựng RESTful API chuẩn FastAPI và kết nối dòng dữ liệu trực tiếp qua Apache Kafka để sẵn sàng tích hợp Core Banking.</a:t>
            </a:r>
            <a:endParaRPr b="0" sz="750">
              <a:solidFill>
                <a:srgbClr val="E0E0E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7" name="Google Shape;507;p28"/>
          <p:cNvGrpSpPr/>
          <p:nvPr/>
        </p:nvGrpSpPr>
        <p:grpSpPr>
          <a:xfrm>
            <a:off x="1190625" y="457200"/>
            <a:ext cx="4286400" cy="428700"/>
            <a:chOff x="1190625" y="457200"/>
            <a:chExt cx="4286400" cy="428700"/>
          </a:xfrm>
        </p:grpSpPr>
        <p:sp>
          <p:nvSpPr>
            <p:cNvPr id="508" name="Google Shape;508;p28"/>
            <p:cNvSpPr/>
            <p:nvPr/>
          </p:nvSpPr>
          <p:spPr>
            <a:xfrm>
              <a:off x="1190625" y="457200"/>
              <a:ext cx="4286400" cy="42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28"/>
            <p:cNvSpPr txBox="1"/>
            <p:nvPr/>
          </p:nvSpPr>
          <p:spPr>
            <a:xfrm>
              <a:off x="1190625" y="457200"/>
              <a:ext cx="42864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925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TRƯỜNG ĐẠI HỌC CÔNG NGHỆ THÔNG TIN</a:t>
              </a:r>
              <a:endParaRPr b="1" sz="92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765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ĐẠI HỌC QUỐC GIA THÀNH PHỐ HỒ CHÍ MINH</a:t>
              </a:r>
              <a:endParaRPr b="0" sz="765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0" name="Google Shape;510;p28"/>
          <p:cNvGrpSpPr/>
          <p:nvPr/>
        </p:nvGrpSpPr>
        <p:grpSpPr>
          <a:xfrm>
            <a:off x="6191250" y="457200"/>
            <a:ext cx="2381400" cy="428700"/>
            <a:chOff x="6191250" y="457200"/>
            <a:chExt cx="2381400" cy="428700"/>
          </a:xfrm>
        </p:grpSpPr>
        <p:sp>
          <p:nvSpPr>
            <p:cNvPr id="511" name="Google Shape;511;p28"/>
            <p:cNvSpPr/>
            <p:nvPr/>
          </p:nvSpPr>
          <p:spPr>
            <a:xfrm>
              <a:off x="6191250" y="457200"/>
              <a:ext cx="2381400" cy="42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" name="Google Shape;512;p28"/>
            <p:cNvSpPr txBox="1"/>
            <p:nvPr/>
          </p:nvSpPr>
          <p:spPr>
            <a:xfrm>
              <a:off x="6191250" y="457200"/>
              <a:ext cx="23814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7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CS106 — TRÍ TUỆ NHÂN TẠO</a:t>
              </a:r>
              <a:endParaRPr b="1" sz="750">
                <a:solidFill>
                  <a:srgbClr val="00F2FE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90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Học kỳ 3 | Niên khóa 2025 - 2026</a:t>
              </a:r>
              <a:endParaRPr b="0" sz="90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pic>
        <p:nvPicPr>
          <p:cNvPr id="513" name="Google Shape;513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42862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4" name="Google Shape;514;p28"/>
          <p:cNvSpPr/>
          <p:nvPr/>
        </p:nvSpPr>
        <p:spPr>
          <a:xfrm>
            <a:off x="476250" y="971550"/>
            <a:ext cx="8191500" cy="96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15" name="Google Shape;515;p28"/>
          <p:cNvGrpSpPr/>
          <p:nvPr/>
        </p:nvGrpSpPr>
        <p:grpSpPr>
          <a:xfrm>
            <a:off x="523875" y="1066800"/>
            <a:ext cx="8096400" cy="428700"/>
            <a:chOff x="523875" y="1066800"/>
            <a:chExt cx="8096400" cy="428700"/>
          </a:xfrm>
        </p:grpSpPr>
        <p:sp>
          <p:nvSpPr>
            <p:cNvPr id="516" name="Google Shape;516;p28"/>
            <p:cNvSpPr/>
            <p:nvPr/>
          </p:nvSpPr>
          <p:spPr>
            <a:xfrm>
              <a:off x="523875" y="1066800"/>
              <a:ext cx="8096400" cy="42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" name="Google Shape;517;p28"/>
            <p:cNvSpPr txBox="1"/>
            <p:nvPr/>
          </p:nvSpPr>
          <p:spPr>
            <a:xfrm>
              <a:off x="523875" y="1066800"/>
              <a:ext cx="80964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vi" sz="750">
                  <a:solidFill>
                    <a:srgbClr val="B0C4DE"/>
                  </a:solidFill>
                  <a:latin typeface="Roboto"/>
                  <a:ea typeface="Roboto"/>
                  <a:cs typeface="Roboto"/>
                  <a:sym typeface="Roboto"/>
                </a:rPr>
                <a:t>Q&amp;A &amp; LỜI CẢM ƠN (THANK YOU)</a:t>
              </a:r>
              <a:endParaRPr b="1" sz="750">
                <a:solidFill>
                  <a:srgbClr val="B0C4DE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800">
                  <a:solidFill>
                    <a:srgbClr val="FFFFF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CẢM ƠN THẦY CÔ VÀ CÁC BẠN ĐÃ LẮNG NGHE!</a:t>
              </a:r>
              <a:endParaRPr b="0" sz="180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</p:grpSp>
      <p:grpSp>
        <p:nvGrpSpPr>
          <p:cNvPr id="518" name="Google Shape;518;p28"/>
          <p:cNvGrpSpPr/>
          <p:nvPr/>
        </p:nvGrpSpPr>
        <p:grpSpPr>
          <a:xfrm>
            <a:off x="514350" y="1609725"/>
            <a:ext cx="5019600" cy="3019500"/>
            <a:chOff x="514350" y="1609725"/>
            <a:chExt cx="5019600" cy="3019500"/>
          </a:xfrm>
        </p:grpSpPr>
        <p:pic>
          <p:nvPicPr>
            <p:cNvPr id="519" name="Google Shape;519;p2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514350" y="1609725"/>
              <a:ext cx="5019600" cy="3019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20" name="Google Shape;520;p28"/>
            <p:cNvSpPr/>
            <p:nvPr/>
          </p:nvSpPr>
          <p:spPr>
            <a:xfrm>
              <a:off x="523875" y="1619250"/>
              <a:ext cx="5000700" cy="573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28"/>
            <p:cNvSpPr txBox="1"/>
            <p:nvPr/>
          </p:nvSpPr>
          <p:spPr>
            <a:xfrm>
              <a:off x="714375" y="1809750"/>
              <a:ext cx="46197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00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👥 THÀNH VIÊN THỰC HIỆN — NHÓM 9 (CS106 — UIT)</a:t>
              </a:r>
              <a:endParaRPr b="0" sz="10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vi" sz="65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STTHọ và tênMSSVVai trò chính trong dự án</a:t>
              </a:r>
              <a:endParaRPr b="0" sz="65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1</a:t>
              </a:r>
              <a:r>
                <a:rPr b="1" lang="vi" sz="7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Trần Hoàng Hôn </a:t>
              </a:r>
              <a:r>
                <a:rPr b="1" lang="vi" sz="60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PM</a:t>
              </a:r>
              <a:r>
                <a:rPr b="0" lang="vi" sz="650">
                  <a:solidFill>
                    <a:srgbClr val="A0EE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26410046</a:t>
              </a: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Quản lý dự án, Thiết kế Slide thuyết trình</a:t>
              </a:r>
              <a:endParaRPr b="0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2</a:t>
              </a:r>
              <a:r>
                <a:rPr b="1" lang="vi" sz="7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Đặng Chí Thanh</a:t>
              </a:r>
              <a:r>
                <a:rPr b="0" lang="vi" sz="650">
                  <a:solidFill>
                    <a:srgbClr val="A0EE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25730067</a:t>
              </a: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Phân tích khám phá (EDA), Tiền xử lý &amp; Trích xuất</a:t>
              </a:r>
              <a:endParaRPr b="0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3</a:t>
              </a:r>
              <a:r>
                <a:rPr b="1" lang="vi" sz="7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Hoàng Cao Sơn</a:t>
              </a:r>
              <a:r>
                <a:rPr b="0" lang="vi" sz="650">
                  <a:solidFill>
                    <a:srgbClr val="A0EE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25730061</a:t>
              </a: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Xử lý mất cân bằng, Mô hình Random Forest</a:t>
              </a:r>
              <a:endParaRPr b="0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4</a:t>
              </a:r>
              <a:r>
                <a:rPr b="1" lang="vi" sz="7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Bùi Thị Mỷ Cẩm</a:t>
              </a:r>
              <a:r>
                <a:rPr b="0" lang="vi" sz="650">
                  <a:solidFill>
                    <a:srgbClr val="A0EE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25730013</a:t>
              </a: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Mô hình XGBoost &amp; Autoencoder (Anomaly Det.)</a:t>
              </a:r>
              <a:endParaRPr b="0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5</a:t>
              </a:r>
              <a:r>
                <a:rPr b="1" lang="vi" sz="7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Nguyễn Duy Khang</a:t>
              </a:r>
              <a:r>
                <a:rPr b="0" lang="vi" sz="650">
                  <a:solidFill>
                    <a:srgbClr val="A0EE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26410055</a:t>
              </a: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Đánh giá &amp; So sánh chéo hiệu năng mô hình</a:t>
              </a:r>
              <a:endParaRPr b="0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6</a:t>
              </a:r>
              <a:r>
                <a:rPr b="1" lang="vi" sz="7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Vũ Văn Duy</a:t>
              </a:r>
              <a:r>
                <a:rPr b="0" lang="vi" sz="650">
                  <a:solidFill>
                    <a:srgbClr val="A0EE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26410031</a:t>
              </a: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Soạn thảo Báo cáo khoa học (Scientific Report)</a:t>
              </a:r>
              <a:endParaRPr b="0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7</a:t>
              </a:r>
              <a:r>
                <a:rPr b="1" lang="vi" sz="7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Phạm Thành Trung</a:t>
              </a:r>
              <a:r>
                <a:rPr b="0" lang="vi" sz="650">
                  <a:solidFill>
                    <a:srgbClr val="A0EE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26410141</a:t>
              </a: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Phát triển ứng dụng thời gian thực (Streamlit UI)</a:t>
              </a:r>
              <a:endParaRPr b="0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2" name="Google Shape;522;p28"/>
          <p:cNvGrpSpPr/>
          <p:nvPr/>
        </p:nvGrpSpPr>
        <p:grpSpPr>
          <a:xfrm>
            <a:off x="5657850" y="1609725"/>
            <a:ext cx="2971800" cy="1447800"/>
            <a:chOff x="5657850" y="1609725"/>
            <a:chExt cx="2971800" cy="1447800"/>
          </a:xfrm>
        </p:grpSpPr>
        <p:pic>
          <p:nvPicPr>
            <p:cNvPr id="523" name="Google Shape;523;p2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5657850" y="1609725"/>
              <a:ext cx="2971800" cy="144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24" name="Google Shape;524;p28"/>
            <p:cNvSpPr/>
            <p:nvPr/>
          </p:nvSpPr>
          <p:spPr>
            <a:xfrm>
              <a:off x="5667375" y="1619250"/>
              <a:ext cx="2952900" cy="57300"/>
            </a:xfrm>
            <a:prstGeom prst="roundRect">
              <a:avLst>
                <a:gd fmla="val 50000" name="adj"/>
              </a:avLst>
            </a:prstGeom>
            <a:solidFill>
              <a:srgbClr val="FF007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" name="Google Shape;525;p28"/>
            <p:cNvSpPr txBox="1"/>
            <p:nvPr/>
          </p:nvSpPr>
          <p:spPr>
            <a:xfrm>
              <a:off x="5857875" y="1809750"/>
              <a:ext cx="25719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00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💬 PHIÊN HỎI ĐÁP (Q&amp;A)</a:t>
              </a:r>
              <a:endParaRPr b="0" sz="10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vi" sz="82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Nhóm 9 rất mong nhận được những góp ý quý báu và sẵn sàng giải đáp mọi câu hỏi từ Thầy/Cô cùng các bạn!</a:t>
              </a:r>
              <a:endParaRPr b="0" sz="82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vi" sz="2400">
                  <a:solidFill>
                    <a:srgbClr val="FF007F"/>
                  </a:solidFill>
                  <a:latin typeface="Montserrat Black"/>
                  <a:ea typeface="Montserrat Black"/>
                  <a:cs typeface="Montserrat Black"/>
                  <a:sym typeface="Montserrat Black"/>
                </a:rPr>
                <a:t>Q &amp; A</a:t>
              </a:r>
              <a:endParaRPr b="0" sz="2400">
                <a:solidFill>
                  <a:srgbClr val="FF007F"/>
                </a:solidFill>
                <a:latin typeface="Montserrat Black"/>
                <a:ea typeface="Montserrat Black"/>
                <a:cs typeface="Montserrat Black"/>
                <a:sym typeface="Montserrat Black"/>
              </a:endParaRPr>
            </a:p>
          </p:txBody>
        </p:sp>
      </p:grpSp>
      <p:grpSp>
        <p:nvGrpSpPr>
          <p:cNvPr id="526" name="Google Shape;526;p28"/>
          <p:cNvGrpSpPr/>
          <p:nvPr/>
        </p:nvGrpSpPr>
        <p:grpSpPr>
          <a:xfrm>
            <a:off x="5657850" y="3181350"/>
            <a:ext cx="2971800" cy="1447800"/>
            <a:chOff x="5657850" y="3181350"/>
            <a:chExt cx="2971800" cy="1447800"/>
          </a:xfrm>
        </p:grpSpPr>
        <p:pic>
          <p:nvPicPr>
            <p:cNvPr id="527" name="Google Shape;527;p28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5657850" y="3181350"/>
              <a:ext cx="2971800" cy="144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28" name="Google Shape;528;p28"/>
            <p:cNvSpPr/>
            <p:nvPr/>
          </p:nvSpPr>
          <p:spPr>
            <a:xfrm>
              <a:off x="5667375" y="3190875"/>
              <a:ext cx="2952900" cy="57300"/>
            </a:xfrm>
            <a:prstGeom prst="roundRect">
              <a:avLst>
                <a:gd fmla="val 50000" name="adj"/>
              </a:avLst>
            </a:prstGeom>
            <a:solidFill>
              <a:srgbClr val="0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28"/>
            <p:cNvSpPr txBox="1"/>
            <p:nvPr/>
          </p:nvSpPr>
          <p:spPr>
            <a:xfrm>
              <a:off x="5857875" y="3381375"/>
              <a:ext cx="25719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vi" sz="1000">
                  <a:solidFill>
                    <a:srgbClr val="00F2F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🔗 TÀI NGUYÊN DỰ ÁN</a:t>
              </a:r>
              <a:endParaRPr b="0" sz="1000">
                <a:solidFill>
                  <a:srgbClr val="00F2F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vi" sz="7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💻 GitHub Repository:</a:t>
              </a:r>
              <a:r>
                <a:rPr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https://github.com/uit-25730067-chithanh/CS106-Team09-Fraud-Detection</a:t>
              </a:r>
              <a:endParaRPr b="0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lang="vi" sz="750">
                  <a:solidFill>
                    <a:srgbClr val="FF007F"/>
                  </a:solidFill>
                  <a:latin typeface="Roboto"/>
                  <a:ea typeface="Roboto"/>
                  <a:cs typeface="Roboto"/>
                  <a:sym typeface="Roboto"/>
                </a:rPr>
                <a:t>🚀 Interactive Demo:</a:t>
              </a: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Run Streamlit locally via</a:t>
              </a:r>
              <a:b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b="0" lang="vi" sz="650">
                  <a:solidFill>
                    <a:srgbClr val="A0EE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streamlit run demo/app.py</a:t>
              </a:r>
              <a:endParaRPr b="0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lang="vi" sz="750">
                  <a:solidFill>
                    <a:srgbClr val="00F2FE"/>
                  </a:solidFill>
                  <a:latin typeface="Roboto"/>
                  <a:ea typeface="Roboto"/>
                  <a:cs typeface="Roboto"/>
                  <a:sym typeface="Roboto"/>
                </a:rPr>
                <a:t>📊 Dataset:</a:t>
              </a:r>
              <a:r>
                <a:rPr b="0" lang="vi" sz="750">
                  <a:solidFill>
                    <a:srgbClr val="E0E0E0"/>
                  </a:solidFill>
                  <a:latin typeface="Roboto"/>
                  <a:ea typeface="Roboto"/>
                  <a:cs typeface="Roboto"/>
                  <a:sym typeface="Roboto"/>
                </a:rPr>
                <a:t> PaySim Financial Fraud (Kaggle)</a:t>
              </a:r>
              <a:endParaRPr b="0" sz="750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