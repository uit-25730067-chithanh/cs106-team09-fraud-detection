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AF2C40-A57D-4323-9055-E51E5657614C}">
  <a:tblStyle styleId="{C6AF2C40-A57D-4323-9055-E51E565761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ea72448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aea72448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ea72448c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aea72448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aea72448c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aea72448c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ea72448c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aea72448c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ea72448c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aea72448c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ea72448c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aea72448c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aea72448c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aea72448c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aea72448c_0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aea72448c_0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aea72448c_89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aea72448c_89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ea72448c_6_0)">
  <p:cSld name="Generated (g3faea72448c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4.jp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4.jp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4.jpg"/><Relationship Id="rId8" Type="http://schemas.openxmlformats.org/officeDocument/2006/relationships/image" Target="../media/image36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4.jp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42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39.png"/><Relationship Id="rId5" Type="http://schemas.openxmlformats.org/officeDocument/2006/relationships/image" Target="../media/image9.png"/><Relationship Id="rId6" Type="http://schemas.openxmlformats.org/officeDocument/2006/relationships/image" Target="../media/image4.jpg"/><Relationship Id="rId7" Type="http://schemas.openxmlformats.org/officeDocument/2006/relationships/image" Target="../media/image47.png"/><Relationship Id="rId8" Type="http://schemas.openxmlformats.org/officeDocument/2006/relationships/image" Target="../media/image63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56.png"/><Relationship Id="rId5" Type="http://schemas.openxmlformats.org/officeDocument/2006/relationships/image" Target="../media/image9.png"/><Relationship Id="rId6" Type="http://schemas.openxmlformats.org/officeDocument/2006/relationships/image" Target="../media/image4.jpg"/><Relationship Id="rId7" Type="http://schemas.openxmlformats.org/officeDocument/2006/relationships/image" Target="../media/image60.png"/><Relationship Id="rId8" Type="http://schemas.openxmlformats.org/officeDocument/2006/relationships/image" Target="../media/image5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-952500" y="2233613"/>
            <a:ext cx="10096500" cy="2910000"/>
            <a:chOff x="-952500" y="2233613"/>
            <a:chExt cx="10096500" cy="2910000"/>
          </a:xfrm>
        </p:grpSpPr>
        <p:pic>
          <p:nvPicPr>
            <p:cNvPr id="57" name="Google Shape;5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00" y="2867025"/>
              <a:ext cx="10096500" cy="22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952500" y="2233613"/>
              <a:ext cx="10096500" cy="2910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" name="Google Shape;5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UIT - University of Information Technology VNU-HCM, vector style icon with blue and white accents, high resolution, transparent background" id="61" name="Google Shape;6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0" sz="765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</a:t>
            </a:r>
            <a:r>
              <a:rPr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 | Niên khóa 2025 - 2026</a:t>
            </a:r>
            <a:endParaRPr b="0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23875" y="1381125"/>
            <a:ext cx="8096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ĐỒ ÁN CUỐI KỲ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vi" sz="204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HỆ THỐNG PHÁT HIỆN GIAO DỊCH </a:t>
            </a:r>
            <a:r>
              <a:rPr b="0" lang="vi" sz="204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GIAN LẬN TÀI CHÍNH</a:t>
            </a:r>
            <a:endParaRPr b="0" sz="204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vi" sz="1063">
                <a:solidFill>
                  <a:srgbClr val="E0E0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Ứng dụng Học máy &amp; Học sâu trên tập dữ liệu mô phỏng PaySim</a:t>
            </a:r>
            <a:endParaRPr b="0" sz="1063">
              <a:solidFill>
                <a:srgbClr val="E0E0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9113" y="2709863"/>
            <a:ext cx="4057800" cy="19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714375" y="2905125"/>
            <a:ext cx="3667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00F2FE"/>
                </a:solidFill>
                <a:latin typeface="Montserrat"/>
                <a:ea typeface="Montserrat"/>
                <a:cs typeface="Montserrat"/>
                <a:sym typeface="Montserrat"/>
              </a:rPr>
              <a:t>GIẢNG VIÊN HƯỚNG DẪN</a:t>
            </a:r>
            <a:endParaRPr b="1" sz="1100">
              <a:solidFill>
                <a:srgbClr val="00F2F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PGS.TS. Nguyễn Đình Hiển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00F2FE"/>
                </a:solidFill>
                <a:latin typeface="Montserrat"/>
                <a:ea typeface="Montserrat"/>
                <a:cs typeface="Montserrat"/>
                <a:sym typeface="Montserrat"/>
              </a:rPr>
              <a:t>THÔNG TIN ĐỀ TÀI</a:t>
            </a:r>
            <a:endParaRPr b="1" sz="1100">
              <a:solidFill>
                <a:srgbClr val="00F2F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vi" sz="100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Tập dữ liệu: </a:t>
            </a:r>
            <a:r>
              <a:rPr b="1" lang="vi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PaySim Mobile Money Simulator</a:t>
            </a:r>
            <a:endParaRPr b="0" sz="100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vi" sz="100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Môi trường: </a:t>
            </a:r>
            <a:r>
              <a:rPr b="1" lang="vi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Python, TensorFlow, Scikit-Learn</a:t>
            </a:r>
            <a:endParaRPr b="0" sz="100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10113" y="2709863"/>
            <a:ext cx="3914700" cy="19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4905375" y="2905125"/>
            <a:ext cx="2078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FF007F"/>
                </a:solidFill>
                <a:latin typeface="Montserrat"/>
                <a:ea typeface="Montserrat"/>
                <a:cs typeface="Montserrat"/>
                <a:sym typeface="Montserrat"/>
              </a:rPr>
              <a:t>NHÓM THỰC HIỆN: NHÓM 9</a:t>
            </a:r>
            <a:endParaRPr b="1" sz="1100">
              <a:solidFill>
                <a:srgbClr val="FF00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vi" sz="9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Trưởng nhóm: </a:t>
            </a:r>
            <a:r>
              <a:rPr b="1" lang="vi" sz="950">
                <a:solidFill>
                  <a:srgbClr val="FF007F"/>
                </a:solidFill>
                <a:latin typeface="Roboto"/>
                <a:ea typeface="Roboto"/>
                <a:cs typeface="Roboto"/>
                <a:sym typeface="Roboto"/>
              </a:rPr>
              <a:t>Trần Hoàng Hôn</a:t>
            </a:r>
            <a:r>
              <a:rPr lang="vi" sz="9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(PM)</a:t>
            </a:r>
            <a:endParaRPr sz="95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vi" sz="9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Thành viên:</a:t>
            </a:r>
            <a:endParaRPr sz="95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Đặng Chí Thanh</a:t>
            </a:r>
            <a:r>
              <a:rPr lang="vi" sz="9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95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Hoàng Cao Sơn</a:t>
            </a:r>
            <a:r>
              <a:rPr lang="vi" sz="9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95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Bùi Thị Mỷ Cẩm</a:t>
            </a:r>
            <a:endParaRPr sz="95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191250" y="3421925"/>
            <a:ext cx="2381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Nguyễn Duy Khang</a:t>
            </a:r>
            <a:r>
              <a:rPr lang="vi" sz="9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95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Vũ Văn Duy</a:t>
            </a:r>
            <a:r>
              <a:rPr lang="vi" sz="9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95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Phạm Thành Trung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-952500" y="2233613"/>
            <a:ext cx="9144000" cy="5776913"/>
            <a:chOff x="-952500" y="2233613"/>
            <a:chExt cx="9144000" cy="5776913"/>
          </a:xfrm>
        </p:grpSpPr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-125938" l="0" r="9437" t="0"/>
            <a:stretch/>
          </p:blipFill>
          <p:spPr>
            <a:xfrm>
              <a:off x="-952500" y="2867025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5"/>
            <p:cNvPicPr preferRelativeResize="0"/>
            <p:nvPr/>
          </p:nvPicPr>
          <p:blipFill rotWithShape="1">
            <a:blip r:embed="rId5">
              <a:alphaModFix/>
            </a:blip>
            <a:srcRect b="-76741" l="0" r="9437" t="0"/>
            <a:stretch/>
          </p:blipFill>
          <p:spPr>
            <a:xfrm>
              <a:off x="-952500" y="2233613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8" name="Google Shape;7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1" sz="76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3 | Niên khóa 2025 - 2026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523875" y="1238250"/>
            <a:ext cx="809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MỤC LỤC &amp; LỘ TRÌNH BÁO CÁO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vi" sz="2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NỘI DUNG </a:t>
            </a:r>
            <a:r>
              <a:rPr b="0" lang="vi" sz="200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NGHIÊN CỨU CHI TIẾT</a:t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490538" y="1995488"/>
            <a:ext cx="1571700" cy="2486100"/>
            <a:chOff x="490538" y="1995488"/>
            <a:chExt cx="1571700" cy="2486100"/>
          </a:xfrm>
        </p:grpSpPr>
        <p:pic>
          <p:nvPicPr>
            <p:cNvPr id="85" name="Google Shape;85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0538" y="1995488"/>
              <a:ext cx="1571700" cy="248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5"/>
            <p:cNvSpPr/>
            <p:nvPr/>
          </p:nvSpPr>
          <p:spPr>
            <a:xfrm>
              <a:off x="495300" y="2000250"/>
              <a:ext cx="1562100" cy="573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647700" y="2171700"/>
              <a:ext cx="1257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5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2405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647700" y="2647950"/>
              <a:ext cx="125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Đặt vấn đề</a:t>
              </a:r>
              <a:b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&amp; Mục tiêu</a:t>
              </a:r>
              <a:endParaRPr b="1" sz="1150">
                <a:solidFill>
                  <a:srgbClr val="00F2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647700" y="3162300"/>
              <a:ext cx="1257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9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Bối cảnh gian lận tài chính số &amp; thách thức nghiêm trọng từ sự mất cân bằng dữ liệu giao dịch.</a:t>
              </a:r>
              <a:endParaRPr b="0" sz="9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2147888" y="1995488"/>
            <a:ext cx="1571700" cy="2486100"/>
            <a:chOff x="2147888" y="1995488"/>
            <a:chExt cx="1571700" cy="2486100"/>
          </a:xfrm>
        </p:grpSpPr>
        <p:pic>
          <p:nvPicPr>
            <p:cNvPr id="91" name="Google Shape;91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47888" y="1995488"/>
              <a:ext cx="1571700" cy="248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5"/>
            <p:cNvSpPr/>
            <p:nvPr/>
          </p:nvSpPr>
          <p:spPr>
            <a:xfrm>
              <a:off x="2152650" y="2000250"/>
              <a:ext cx="1562100" cy="573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2305050" y="2171700"/>
              <a:ext cx="1257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5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2405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2305050" y="2647950"/>
              <a:ext cx="125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Khám phá &amp;</a:t>
              </a:r>
              <a:b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Tiền xử lý</a:t>
              </a:r>
              <a:endParaRPr b="1" sz="1150">
                <a:solidFill>
                  <a:srgbClr val="00F2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2305050" y="3162300"/>
              <a:ext cx="1257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9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Phân tích trực quan tập dữ liệu PaySim và áp dụng các kỹ thuật kiến tạo đặc trưng (Feature Engineering).</a:t>
              </a:r>
              <a:endParaRPr b="0" sz="9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" name="Google Shape;96;p15"/>
          <p:cNvGrpSpPr/>
          <p:nvPr/>
        </p:nvGrpSpPr>
        <p:grpSpPr>
          <a:xfrm>
            <a:off x="3805238" y="1995488"/>
            <a:ext cx="1571700" cy="2486100"/>
            <a:chOff x="3805238" y="1995488"/>
            <a:chExt cx="1571700" cy="2486100"/>
          </a:xfrm>
        </p:grpSpPr>
        <p:pic>
          <p:nvPicPr>
            <p:cNvPr id="97" name="Google Shape;97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805238" y="1995488"/>
              <a:ext cx="1571700" cy="248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5"/>
            <p:cNvSpPr/>
            <p:nvPr/>
          </p:nvSpPr>
          <p:spPr>
            <a:xfrm>
              <a:off x="3810000" y="2000250"/>
              <a:ext cx="1562100" cy="573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3962400" y="2171700"/>
              <a:ext cx="1257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5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2405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3962400" y="2647950"/>
              <a:ext cx="125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Mô hình</a:t>
              </a:r>
              <a:b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Đề xuất</a:t>
              </a:r>
              <a:endParaRPr b="1" sz="1150">
                <a:solidFill>
                  <a:srgbClr val="00F2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3962400" y="3162300"/>
              <a:ext cx="1257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9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Xử lý mất cân bằng (SMOTE/ADASYN) kết hợp các mô hình phân lớp mạnh mẽ (RF, XGBoost, Autoencoder).</a:t>
              </a:r>
              <a:endParaRPr b="0" sz="9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5462588" y="1995488"/>
            <a:ext cx="1571700" cy="2486100"/>
            <a:chOff x="5462588" y="1995488"/>
            <a:chExt cx="1571700" cy="2486100"/>
          </a:xfrm>
        </p:grpSpPr>
        <p:pic>
          <p:nvPicPr>
            <p:cNvPr id="103" name="Google Shape;103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462588" y="1995488"/>
              <a:ext cx="1571700" cy="248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5"/>
            <p:cNvSpPr/>
            <p:nvPr/>
          </p:nvSpPr>
          <p:spPr>
            <a:xfrm>
              <a:off x="5467350" y="2000250"/>
              <a:ext cx="1562100" cy="573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5619750" y="2171700"/>
              <a:ext cx="1257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5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04</a:t>
              </a:r>
              <a:endParaRPr b="0" sz="2405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5619750" y="2647950"/>
              <a:ext cx="125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Kết quả &amp;</a:t>
              </a:r>
              <a:b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Đánh giá</a:t>
              </a:r>
              <a:endParaRPr b="1" sz="1150">
                <a:solidFill>
                  <a:srgbClr val="00F2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5619750" y="3162300"/>
              <a:ext cx="1257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9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So sánh đa chiều hiệu năng hoạt động của các kiến trúc mô hình (ROC-AUC, PR-AUC, F1-Score).</a:t>
              </a:r>
              <a:endParaRPr b="0" sz="9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7119938" y="1995488"/>
            <a:ext cx="1571700" cy="2486100"/>
            <a:chOff x="7119938" y="1995488"/>
            <a:chExt cx="1571700" cy="2486100"/>
          </a:xfrm>
        </p:grpSpPr>
        <p:pic>
          <p:nvPicPr>
            <p:cNvPr id="109" name="Google Shape;109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119938" y="1995488"/>
              <a:ext cx="1571700" cy="248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5"/>
            <p:cNvSpPr/>
            <p:nvPr/>
          </p:nvSpPr>
          <p:spPr>
            <a:xfrm>
              <a:off x="7124700" y="2000250"/>
              <a:ext cx="1562100" cy="573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7277100" y="2171700"/>
              <a:ext cx="1257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5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05</a:t>
              </a:r>
              <a:endParaRPr b="0" sz="2405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7277100" y="2647950"/>
              <a:ext cx="125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Demo &amp;</a:t>
              </a:r>
              <a:b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vi" sz="1150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Kết luận</a:t>
              </a:r>
              <a:endParaRPr b="1" sz="1150">
                <a:solidFill>
                  <a:srgbClr val="00F2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7277100" y="3162300"/>
              <a:ext cx="1257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9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Giới thiệu giao diện ứng dụng Streamlit UI tương tác thời gian thực &amp; định hướng phát triển.</a:t>
              </a:r>
              <a:endParaRPr b="0" sz="9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52500" y="2867025"/>
            <a:ext cx="10096500" cy="22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952500" y="2233613"/>
            <a:ext cx="10096500" cy="29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92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0" sz="765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3 | Niên khóa 2025 - 2026</a:t>
            </a:r>
            <a:endParaRPr b="0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23875" y="1190625"/>
            <a:ext cx="809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ĐẶT VẤN ĐỀ &amp; BÀI TOÁN CỐT LÕI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vi" sz="2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THÁCH THỨC TỪ </a:t>
            </a:r>
            <a:r>
              <a:rPr b="0" lang="vi" sz="200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GIAN LẬN GIAO DỊCH DI ĐỘNG</a:t>
            </a:r>
            <a:endParaRPr/>
          </a:p>
        </p:txBody>
      </p:sp>
      <p:pic>
        <p:nvPicPr>
          <p:cNvPr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4350" y="1847850"/>
            <a:ext cx="39243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523875" y="1857375"/>
            <a:ext cx="3905400" cy="47700"/>
          </a:xfrm>
          <a:prstGeom prst="roundRect">
            <a:avLst>
              <a:gd fmla="val 40000" name="adj"/>
            </a:avLst>
          </a:prstGeom>
          <a:solidFill>
            <a:srgbClr val="00F2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14375" y="2000250"/>
            <a:ext cx="352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30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 / BỐI CẢNH THỰC TẾ</a:t>
            </a:r>
            <a:endParaRPr b="0" sz="1300">
              <a:solidFill>
                <a:srgbClr val="00F2F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Bùng nổ Mobile Money</a:t>
            </a:r>
            <a:endParaRPr b="1" sz="10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vi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Sự tăng trưởng vượt bậc của các phương thức thanh toán di động tạo ra môi trường giao dịch vô cùng sôi động và tiện lợi.</a:t>
            </a:r>
            <a:endParaRPr b="0" sz="925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Phương thức tinh vi</a:t>
            </a:r>
            <a:endParaRPr b="1" sz="10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vi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Song hành cùng sự phát triển là các thủ đoạn rửa tiền, lừa đảo công nghệ cao có xu hướng ngày càng tinh vi và khó kiểm soát.</a:t>
            </a:r>
            <a:endParaRPr b="0" sz="925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5350" y="1847850"/>
            <a:ext cx="39243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4714875" y="1857375"/>
            <a:ext cx="3905400" cy="47700"/>
          </a:xfrm>
          <a:prstGeom prst="roundRect">
            <a:avLst>
              <a:gd fmla="val 40000" name="adj"/>
            </a:avLst>
          </a:prstGeom>
          <a:solidFill>
            <a:srgbClr val="FF007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905375" y="2000250"/>
            <a:ext cx="352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300">
                <a:solidFill>
                  <a:srgbClr val="FF00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 / THÁCH THỨC KỸ THUẬT</a:t>
            </a:r>
            <a:endParaRPr b="0" sz="1300">
              <a:solidFill>
                <a:srgbClr val="FF007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Extreme Imbalance </a:t>
            </a:r>
            <a:r>
              <a:rPr b="1" lang="vi" sz="950">
                <a:solidFill>
                  <a:srgbClr val="FF007F"/>
                </a:solidFill>
                <a:latin typeface="Montserrat"/>
                <a:ea typeface="Montserrat"/>
                <a:cs typeface="Montserrat"/>
                <a:sym typeface="Montserrat"/>
              </a:rPr>
              <a:t>[~0.13%]</a:t>
            </a:r>
            <a:endParaRPr b="1" sz="10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vi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Tỷ lệ giao dịch gian lận cực kỳ thấp trong tổng thể dữ liệu gây ra sự khó khăn lớn cho các thuật toán phân lớp truyền thống.</a:t>
            </a:r>
            <a:endParaRPr b="0" sz="925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Chi phí bỏ sót (False Negative)</a:t>
            </a:r>
            <a:endParaRPr b="1" sz="10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vi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Thiệt hại tài chính trực tiếp từ việc bỏ sót một giao dịch gian lận lớn hơn rất nhiều so với chi phí vận hành cho một cảnh báo nhầm.</a:t>
            </a:r>
            <a:endParaRPr b="0" sz="925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9113" y="3995738"/>
            <a:ext cx="8105700" cy="6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523875" y="4000500"/>
            <a:ext cx="76200" cy="619200"/>
          </a:xfrm>
          <a:prstGeom prst="roundRect">
            <a:avLst>
              <a:gd fmla="val 25000" name="adj"/>
            </a:avLst>
          </a:prstGeom>
          <a:solidFill>
            <a:srgbClr val="00F2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4076700"/>
            <a:ext cx="7620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18">
                <a:solidFill>
                  <a:srgbClr val="FF007F"/>
                </a:solidFill>
                <a:latin typeface="Montserrat"/>
                <a:ea typeface="Montserrat"/>
                <a:cs typeface="Montserrat"/>
                <a:sym typeface="Montserrat"/>
              </a:rPr>
              <a:t>MỤC TIÊU DỰ ÁN </a:t>
            </a:r>
            <a:endParaRPr b="1" sz="1018">
              <a:solidFill>
                <a:srgbClr val="FF00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vi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Xây dựng hệ thống pipeline tự động hóa có khả năng phát hiện gian lận chuẩn xác cao, tối ưu hóa triệt để hai chỉ số đo lường cốt lõi: </a:t>
            </a:r>
            <a:r>
              <a:rPr b="1" lang="vi" sz="92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Recall &amp; PR-AUC</a:t>
            </a:r>
            <a:r>
              <a:rPr b="0" lang="vi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 nhằm bảo vệ an toàn tài chính.</a:t>
            </a:r>
            <a:endParaRPr b="0" sz="925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52500" y="2867025"/>
            <a:ext cx="10096500" cy="22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 rotWithShape="1">
          <a:blip r:embed="rId5">
            <a:alphaModFix/>
          </a:blip>
          <a:srcRect b="80" l="0" r="0" t="80"/>
          <a:stretch/>
        </p:blipFill>
        <p:spPr>
          <a:xfrm>
            <a:off x="-952500" y="2233613"/>
            <a:ext cx="10096500" cy="29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92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0" sz="765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3 | Niên khóa 2025 - 2026</a:t>
            </a:r>
            <a:endParaRPr b="0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23875" y="1190625"/>
            <a:ext cx="809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THÔNG TIN KHẢO SÁT &amp; TIỀN XỬ LÝ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85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TỔNG QUAN </a:t>
            </a:r>
            <a:r>
              <a:rPr b="0" lang="vi" sz="1850">
                <a:solidFill>
                  <a:srgbClr val="00F2F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BỘ DỮ LIỆU PAYSIM</a:t>
            </a:r>
            <a:endParaRPr b="0" sz="185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 rotWithShape="1">
          <a:blip r:embed="rId8">
            <a:alphaModFix/>
          </a:blip>
          <a:srcRect b="37706" l="0" r="0" t="37709"/>
          <a:stretch/>
        </p:blipFill>
        <p:spPr>
          <a:xfrm>
            <a:off x="514350" y="1857375"/>
            <a:ext cx="2571900" cy="10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/>
          <p:nvPr/>
        </p:nvSpPr>
        <p:spPr>
          <a:xfrm>
            <a:off x="514350" y="1857375"/>
            <a:ext cx="2571900" cy="38100"/>
          </a:xfrm>
          <a:prstGeom prst="roundRect">
            <a:avLst>
              <a:gd fmla="val 50000" name="adj"/>
            </a:avLst>
          </a:prstGeom>
          <a:solidFill>
            <a:srgbClr val="FF007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7225" y="1971675"/>
            <a:ext cx="22860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833">
                <a:solidFill>
                  <a:srgbClr val="FF00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QUY MÔ MẪU GỐC</a:t>
            </a:r>
            <a:endParaRPr b="0" sz="833">
              <a:solidFill>
                <a:srgbClr val="FF007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85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6.36M ➔ ~200K</a:t>
            </a:r>
            <a:endParaRPr b="0" sz="185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86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Downsample giữ nguyên 100% ca gian lận gốc nhằm tối ưu hóa bộ nhớ và hiệu suất huấn luyện mô hình.</a:t>
            </a:r>
            <a:endParaRPr b="0" sz="786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9">
            <a:alphaModFix/>
          </a:blip>
          <a:srcRect b="37706" l="0" r="0" t="37709"/>
          <a:stretch/>
        </p:blipFill>
        <p:spPr>
          <a:xfrm>
            <a:off x="3181350" y="1857375"/>
            <a:ext cx="2571900" cy="10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3181350" y="1857375"/>
            <a:ext cx="2571900" cy="38100"/>
          </a:xfrm>
          <a:prstGeom prst="roundRect">
            <a:avLst>
              <a:gd fmla="val 50000" name="adj"/>
            </a:avLst>
          </a:prstGeom>
          <a:solidFill>
            <a:srgbClr val="00F2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324225" y="1971675"/>
            <a:ext cx="22860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833">
                <a:solidFill>
                  <a:srgbClr val="FF00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SỐ LƯỢNG THUỘC TÍNH</a:t>
            </a:r>
            <a:endParaRPr b="0" sz="833">
              <a:solidFill>
                <a:srgbClr val="FF007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85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11 </a:t>
            </a:r>
            <a:r>
              <a:rPr b="1" lang="vi" sz="786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Biến dữ liệu</a:t>
            </a:r>
            <a:endParaRPr b="0" sz="185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86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Mô tả chi tiết các chiều thông tin giao dịch bao gồm bước thời gian, loại giao dịch, số dư tài khoản nguồn và đích.</a:t>
            </a:r>
            <a:endParaRPr b="0" sz="786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 rotWithShape="1">
          <a:blip r:embed="rId10">
            <a:alphaModFix/>
          </a:blip>
          <a:srcRect b="37706" l="0" r="0" t="37709"/>
          <a:stretch/>
        </p:blipFill>
        <p:spPr>
          <a:xfrm>
            <a:off x="5848350" y="1857375"/>
            <a:ext cx="2571900" cy="10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5848350" y="1857375"/>
            <a:ext cx="2571900" cy="38100"/>
          </a:xfrm>
          <a:prstGeom prst="roundRect">
            <a:avLst>
              <a:gd fmla="val 50000" name="adj"/>
            </a:avLst>
          </a:prstGeom>
          <a:solidFill>
            <a:srgbClr val="FF007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991225" y="1971675"/>
            <a:ext cx="22860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833">
                <a:solidFill>
                  <a:srgbClr val="FF00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 GIAN LẬN THỰC TẾ</a:t>
            </a:r>
            <a:endParaRPr b="0" sz="833">
              <a:solidFill>
                <a:srgbClr val="FF007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85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8,213 </a:t>
            </a:r>
            <a:r>
              <a:rPr b="1" lang="vi" sz="786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Mẫu [isFraud = 1]</a:t>
            </a:r>
            <a:endParaRPr b="0" sz="185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86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Tập mẫu gian lận thực tế cực kỳ khan hiếm được bảo toàn trọn vẹn để giải quyết bài toán mất cân bằng dữ liệu.</a:t>
            </a:r>
            <a:endParaRPr b="0" sz="786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6">
            <a:alphaModFix/>
          </a:blip>
          <a:srcRect b="31022" l="0" r="0" t="31026"/>
          <a:stretch/>
        </p:blipFill>
        <p:spPr>
          <a:xfrm>
            <a:off x="514350" y="3000375"/>
            <a:ext cx="7905900" cy="15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514350" y="3000375"/>
            <a:ext cx="7905900" cy="38100"/>
          </a:xfrm>
          <a:prstGeom prst="roundRect">
            <a:avLst>
              <a:gd fmla="val 50000" name="adj"/>
            </a:avLst>
          </a:prstGeom>
          <a:solidFill>
            <a:srgbClr val="00F2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0" name="Google Shape;160;p17"/>
          <p:cNvGraphicFramePr/>
          <p:nvPr/>
        </p:nvGraphicFramePr>
        <p:xfrm>
          <a:off x="704850" y="309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{C6AF2C40-A57D-4323-9055-E51E5657614C}</a:tableStyleId>
              </a:tblPr>
              <a:tblGrid>
                <a:gridCol w="3762375"/>
                <a:gridCol w="3762375"/>
              </a:tblGrid>
              <a:tr h="46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>
                          <a:solidFill>
                            <a:srgbClr val="00F2F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</a:t>
                      </a:r>
                      <a:endParaRPr b="1">
                        <a:solidFill>
                          <a:srgbClr val="00F2FE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0" marL="0">
                    <a:lnB cap="flat" cmpd="sng" w="9525">
                      <a:solidFill>
                        <a:srgbClr val="FFFFFF">
                          <a:alpha val="10196"/>
                          <a:alpha val="1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vi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Phân loại giao dịch tài chính: </a:t>
                      </a:r>
                      <a:r>
                        <a:rPr b="1" lang="vi" sz="850">
                          <a:solidFill>
                            <a:srgbClr val="00F2F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CASH_OUT, TRANSFER, PAYMENT, CASH_IN, DEBIT</a:t>
                      </a:r>
                      <a:r>
                        <a:rPr b="0" lang="vi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Gian lận chủ yếu xảy ra trên hai hành vi TRANSFER và CASH_OUT.</a:t>
                      </a:r>
                      <a:endParaRPr b="0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0" marL="0">
                    <a:lnB cap="flat" cmpd="sng" w="9525">
                      <a:solidFill>
                        <a:srgbClr val="FFFFFF">
                          <a:alpha val="10196"/>
                          <a:alpha val="1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>
                          <a:solidFill>
                            <a:srgbClr val="00F2F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oldbalanceOrg / newbalanceOrig</a:t>
                      </a:r>
                      <a:endParaRPr b="1">
                        <a:solidFill>
                          <a:srgbClr val="00F2FE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0" marL="0">
                    <a:lnT cap="flat" cmpd="sng" w="9525">
                      <a:solidFill>
                        <a:srgbClr val="FFFFFF">
                          <a:alpha val="10196"/>
                          <a:alpha val="1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10196"/>
                          <a:alpha val="1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vi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Biến động số dư tài khoản nguồn trước và sau khi thực hiện giao dịch. Chỉ dấu quan trọng về hành vi rút sạch tiền.</a:t>
                      </a:r>
                      <a:endParaRPr b="0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0" marL="0">
                    <a:lnT cap="flat" cmpd="sng" w="9525">
                      <a:solidFill>
                        <a:srgbClr val="FFFFFF">
                          <a:alpha val="10196"/>
                          <a:alpha val="1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10196"/>
                          <a:alpha val="1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>
                          <a:solidFill>
                            <a:srgbClr val="00F2FE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oldbalanceDest / newbalanceDest</a:t>
                      </a:r>
                      <a:endParaRPr b="1">
                        <a:solidFill>
                          <a:srgbClr val="00F2FE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0" marL="0">
                    <a:lnT cap="flat" cmpd="sng" w="9525">
                      <a:solidFill>
                        <a:srgbClr val="FFFFFF">
                          <a:alpha val="10196"/>
                          <a:alpha val="1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vi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Biến động số dư tài khoản đích nhận tiền. Rất quan trọng để theo dõi hành vi tẩu tán tài sản sang các ví trung gian.</a:t>
                      </a:r>
                      <a:endParaRPr b="0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0" marL="0">
                    <a:lnT cap="flat" cmpd="sng" w="9525">
                      <a:solidFill>
                        <a:srgbClr val="FFFFFF">
                          <a:alpha val="10196"/>
                          <a:alpha val="1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52500" y="2867025"/>
            <a:ext cx="10096500" cy="22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92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0" sz="765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3 | Niên khóa 2025 - 2026</a:t>
            </a:r>
            <a:endParaRPr b="0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23875" y="1190625"/>
            <a:ext cx="809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PHÂN TÍCH KHÁM PHÁ DỮ LIỆU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50"/>
              </a:spcAft>
              <a:buNone/>
            </a:pPr>
            <a:r>
              <a:rPr b="0" lang="vi" sz="2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NHỮNG PHÁT HIỆN TỪ </a:t>
            </a:r>
            <a:r>
              <a:rPr b="0" lang="vi" sz="2000">
                <a:solidFill>
                  <a:srgbClr val="00F2F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TIẾN TRÌNH EDA</a:t>
            </a:r>
            <a:endParaRPr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514350" y="1847850"/>
            <a:ext cx="3924300" cy="904800"/>
            <a:chOff x="514350" y="1847850"/>
            <a:chExt cx="3924300" cy="904800"/>
          </a:xfrm>
        </p:grpSpPr>
        <p:sp>
          <p:nvSpPr>
            <p:cNvPr id="174" name="Google Shape;174;p18"/>
            <p:cNvSpPr/>
            <p:nvPr/>
          </p:nvSpPr>
          <p:spPr>
            <a:xfrm>
              <a:off x="514350" y="1847850"/>
              <a:ext cx="3924300" cy="904800"/>
            </a:xfrm>
            <a:prstGeom prst="roundRect">
              <a:avLst>
                <a:gd fmla="val 6315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514350" y="1847850"/>
              <a:ext cx="38100" cy="9048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 txBox="1"/>
            <p:nvPr/>
          </p:nvSpPr>
          <p:spPr>
            <a:xfrm>
              <a:off x="704850" y="19240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22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222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1181100" y="1943100"/>
              <a:ext cx="3105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0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Đặc trưng loại giao dịch</a:t>
              </a:r>
              <a:endParaRPr b="0" sz="10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Gian lận </a:t>
              </a:r>
              <a:r>
                <a:rPr b="1" lang="vi" sz="92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100%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chỉ xảy ra ở 2 loại giao dịch: </a:t>
              </a:r>
              <a:r>
                <a:rPr b="1" lang="vi" sz="925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TRANSFER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và </a:t>
              </a:r>
              <a:r>
                <a:rPr b="1" lang="vi" sz="925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CASH_OUT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(Chuyển tiền đi rồi rút mặt ngay).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514350" y="2886075"/>
            <a:ext cx="3924300" cy="904800"/>
            <a:chOff x="514350" y="2886075"/>
            <a:chExt cx="3924300" cy="904800"/>
          </a:xfrm>
        </p:grpSpPr>
        <p:sp>
          <p:nvSpPr>
            <p:cNvPr id="179" name="Google Shape;179;p18"/>
            <p:cNvSpPr/>
            <p:nvPr/>
          </p:nvSpPr>
          <p:spPr>
            <a:xfrm>
              <a:off x="514350" y="2886075"/>
              <a:ext cx="3924300" cy="904800"/>
            </a:xfrm>
            <a:prstGeom prst="roundRect">
              <a:avLst>
                <a:gd fmla="val 6315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514350" y="2886075"/>
              <a:ext cx="38100" cy="9048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704850" y="29622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22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222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1181100" y="2981325"/>
              <a:ext cx="3105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050">
                  <a:solidFill>
                    <a:srgbClr val="FF007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Hành vi vét sạch tài khoản</a:t>
              </a:r>
              <a:endParaRPr b="0" sz="1050">
                <a:solidFill>
                  <a:srgbClr val="FF00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92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oldbalanceOrg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có giá trị cực kỳ lớn ban đầu nhưng toàn bộ số dư tài khoản nguồn ngay sau giao dịch bị đưa thẳng về </a:t>
              </a:r>
              <a:r>
                <a:rPr b="1" lang="vi" sz="925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" name="Google Shape;183;p18"/>
          <p:cNvGrpSpPr/>
          <p:nvPr/>
        </p:nvGrpSpPr>
        <p:grpSpPr>
          <a:xfrm>
            <a:off x="514350" y="3924300"/>
            <a:ext cx="3924300" cy="904800"/>
            <a:chOff x="514350" y="3924300"/>
            <a:chExt cx="3924300" cy="904800"/>
          </a:xfrm>
        </p:grpSpPr>
        <p:sp>
          <p:nvSpPr>
            <p:cNvPr id="184" name="Google Shape;184;p18"/>
            <p:cNvSpPr/>
            <p:nvPr/>
          </p:nvSpPr>
          <p:spPr>
            <a:xfrm>
              <a:off x="514350" y="3924300"/>
              <a:ext cx="3924300" cy="904800"/>
            </a:xfrm>
            <a:prstGeom prst="roundRect">
              <a:avLst>
                <a:gd fmla="val 6315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514350" y="3924300"/>
              <a:ext cx="38100" cy="9048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704850" y="400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22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222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1181100" y="4019550"/>
              <a:ext cx="3105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0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Lỗ hổng biến động số dư</a:t>
              </a:r>
              <a:endParaRPr b="0" sz="10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Xuất hiện nghịch lý lớn khi số tiền chuyển đi khổng lồ nhưng số dư đích nhận (</a:t>
              </a:r>
              <a:r>
                <a:rPr b="1" lang="vi" sz="92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newbalanceDest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) không hề tăng tương ứng.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" name="Google Shape;188;p18"/>
          <p:cNvGrpSpPr/>
          <p:nvPr/>
        </p:nvGrpSpPr>
        <p:grpSpPr>
          <a:xfrm>
            <a:off x="4700588" y="1843088"/>
            <a:ext cx="3933900" cy="1362000"/>
            <a:chOff x="4700588" y="1843088"/>
            <a:chExt cx="3933900" cy="1362000"/>
          </a:xfrm>
        </p:grpSpPr>
        <p:pic>
          <p:nvPicPr>
            <p:cNvPr id="189" name="Google Shape;189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0588" y="1843088"/>
              <a:ext cx="3933900" cy="13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minimalist data visualization line chart comparing transactional amounts between legitimate and fraudulent transactions. The fraudulent transactions spike intensely in a high-contrast magenta line, while legitimate transactions remain stable in a cool cyan line. Dark futuristic background with neon accents." id="190" name="Google Shape;190;p18"/>
            <p:cNvPicPr preferRelativeResize="0"/>
            <p:nvPr/>
          </p:nvPicPr>
          <p:blipFill rotWithShape="1">
            <a:blip r:embed="rId8">
              <a:alphaModFix/>
            </a:blip>
            <a:srcRect b="22386" l="0" r="0" t="19363"/>
            <a:stretch/>
          </p:blipFill>
          <p:spPr>
            <a:xfrm>
              <a:off x="4705350" y="1847850"/>
              <a:ext cx="39243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8"/>
            <p:cNvSpPr/>
            <p:nvPr/>
          </p:nvSpPr>
          <p:spPr>
            <a:xfrm>
              <a:off x="4800600" y="1943100"/>
              <a:ext cx="1714500" cy="228600"/>
            </a:xfrm>
            <a:prstGeom prst="roundRect">
              <a:avLst>
                <a:gd fmla="val 16666" name="adj"/>
              </a:avLst>
            </a:prstGeom>
            <a:solidFill>
              <a:srgbClr val="000000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4876800" y="1990725"/>
              <a:ext cx="15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694">
                  <a:solidFill>
                    <a:srgbClr val="00F2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BIỂU ĐỒ LƯỢNG TIỀN GIAO DỊCH</a:t>
              </a:r>
              <a:endParaRPr b="1" sz="694">
                <a:solidFill>
                  <a:srgbClr val="00F2F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3" name="Google Shape;193;p18"/>
          <p:cNvGrpSpPr/>
          <p:nvPr/>
        </p:nvGrpSpPr>
        <p:grpSpPr>
          <a:xfrm>
            <a:off x="4700588" y="3386138"/>
            <a:ext cx="3933900" cy="1447800"/>
            <a:chOff x="4700588" y="3386138"/>
            <a:chExt cx="3933900" cy="1447800"/>
          </a:xfrm>
        </p:grpSpPr>
        <p:pic>
          <p:nvPicPr>
            <p:cNvPr id="194" name="Google Shape;194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00588" y="3386138"/>
              <a:ext cx="3933900" cy="144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high-tech digital 3D bar chart representing payment transaction types. Giant vertical bars highlight TRANSFER and CASH_OUT in glowing neon magenta, whereas other transaction types like PAYMENT, DEBIT, and CASH_IN are dim and grayed out. Neon dark cyber aesthetic." id="195" name="Google Shape;195;p18"/>
            <p:cNvPicPr preferRelativeResize="0"/>
            <p:nvPr/>
          </p:nvPicPr>
          <p:blipFill rotWithShape="1">
            <a:blip r:embed="rId10">
              <a:alphaModFix/>
            </a:blip>
            <a:srcRect b="24326" l="0" r="0" t="17423"/>
            <a:stretch/>
          </p:blipFill>
          <p:spPr>
            <a:xfrm>
              <a:off x="4705350" y="3390900"/>
              <a:ext cx="39243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18"/>
            <p:cNvSpPr/>
            <p:nvPr/>
          </p:nvSpPr>
          <p:spPr>
            <a:xfrm>
              <a:off x="4800600" y="3486150"/>
              <a:ext cx="1714500" cy="228600"/>
            </a:xfrm>
            <a:prstGeom prst="roundRect">
              <a:avLst>
                <a:gd fmla="val 16666" name="adj"/>
              </a:avLst>
            </a:prstGeom>
            <a:solidFill>
              <a:srgbClr val="000000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4876800" y="3533775"/>
              <a:ext cx="15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694">
                  <a:solidFill>
                    <a:srgbClr val="FF007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TỶ LỆ LOẠI GIAO DỊCH GIAN LẬN</a:t>
              </a:r>
              <a:endParaRPr b="1" sz="694">
                <a:solidFill>
                  <a:srgbClr val="FF007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52500" y="2867025"/>
            <a:ext cx="10096500" cy="22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92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0" sz="765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3 | Niên khóa 2025 - 2026</a:t>
            </a:r>
            <a:endParaRPr b="0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523875" y="1190625"/>
            <a:ext cx="809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KIẾN TRÚC TỔNG THỂ HỆ THỐNG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vi" sz="2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PHÁT TRIỂN PIPELINE </a:t>
            </a:r>
            <a:r>
              <a:rPr b="0" lang="vi" sz="2000">
                <a:solidFill>
                  <a:srgbClr val="00F2F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PHÁT HIỆN GIAN LẬN END-TO-END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0" name="Google Shape;210;p19"/>
          <p:cNvGrpSpPr/>
          <p:nvPr/>
        </p:nvGrpSpPr>
        <p:grpSpPr>
          <a:xfrm>
            <a:off x="523875" y="2000250"/>
            <a:ext cx="1000200" cy="1285800"/>
            <a:chOff x="523875" y="2000250"/>
            <a:chExt cx="1000200" cy="1285800"/>
          </a:xfrm>
        </p:grpSpPr>
        <p:sp>
          <p:nvSpPr>
            <p:cNvPr id="211" name="Google Shape;211;p19"/>
            <p:cNvSpPr/>
            <p:nvPr/>
          </p:nvSpPr>
          <p:spPr>
            <a:xfrm>
              <a:off x="523875" y="2000250"/>
              <a:ext cx="1000200" cy="1285800"/>
            </a:xfrm>
            <a:prstGeom prst="roundRect">
              <a:avLst>
                <a:gd fmla="val 5714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523875" y="2000250"/>
              <a:ext cx="1000200" cy="381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571500" y="2095500"/>
              <a:ext cx="90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2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12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Raw PaySim</a:t>
              </a:r>
              <a:endParaRPr b="1" sz="800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750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Dữ liệu thô mô phỏng giao dịch di động quy mô lớn.</a:t>
              </a:r>
              <a:endParaRPr b="0" sz="7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14" name="Google Shape;21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1150" y="2628900"/>
            <a:ext cx="1143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95450" y="2609850"/>
            <a:ext cx="57300" cy="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19"/>
          <p:cNvGrpSpPr/>
          <p:nvPr/>
        </p:nvGrpSpPr>
        <p:grpSpPr>
          <a:xfrm>
            <a:off x="1809750" y="2000250"/>
            <a:ext cx="1000200" cy="1285800"/>
            <a:chOff x="1809750" y="2000250"/>
            <a:chExt cx="1000200" cy="1285800"/>
          </a:xfrm>
        </p:grpSpPr>
        <p:sp>
          <p:nvSpPr>
            <p:cNvPr id="217" name="Google Shape;217;p19"/>
            <p:cNvSpPr/>
            <p:nvPr/>
          </p:nvSpPr>
          <p:spPr>
            <a:xfrm>
              <a:off x="1809750" y="2000250"/>
              <a:ext cx="1000200" cy="1285800"/>
            </a:xfrm>
            <a:prstGeom prst="roundRect">
              <a:avLst>
                <a:gd fmla="val 5714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1809750" y="2000250"/>
              <a:ext cx="1000200" cy="381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1857375" y="2095500"/>
              <a:ext cx="90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2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12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Engineering</a:t>
              </a:r>
              <a:endParaRPr b="1" sz="800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750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Làm sạch &amp; trích xuất đặc trưng biến động số dư.</a:t>
              </a:r>
              <a:endParaRPr b="0" sz="7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20" name="Google Shape;22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67025" y="2628900"/>
            <a:ext cx="1143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81325" y="2609850"/>
            <a:ext cx="57300" cy="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19"/>
          <p:cNvGrpSpPr/>
          <p:nvPr/>
        </p:nvGrpSpPr>
        <p:grpSpPr>
          <a:xfrm>
            <a:off x="3095625" y="2000250"/>
            <a:ext cx="1000200" cy="1285800"/>
            <a:chOff x="3095625" y="2000250"/>
            <a:chExt cx="1000200" cy="1285800"/>
          </a:xfrm>
        </p:grpSpPr>
        <p:sp>
          <p:nvSpPr>
            <p:cNvPr id="223" name="Google Shape;223;p19"/>
            <p:cNvSpPr/>
            <p:nvPr/>
          </p:nvSpPr>
          <p:spPr>
            <a:xfrm>
              <a:off x="3095625" y="2000250"/>
              <a:ext cx="1000200" cy="1285800"/>
            </a:xfrm>
            <a:prstGeom prst="roundRect">
              <a:avLst>
                <a:gd fmla="val 5714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3095625" y="2000250"/>
              <a:ext cx="1000200" cy="381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3143250" y="2095500"/>
              <a:ext cx="90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2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12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Split 80/20</a:t>
              </a:r>
              <a:endParaRPr b="1" sz="800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750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Phân hoạch dữ liệu Train/Test phân tầng nghiêm ngặt.</a:t>
              </a:r>
              <a:endParaRPr b="0" sz="7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26" name="Google Shape;22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52900" y="2628900"/>
            <a:ext cx="1143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67200" y="2609850"/>
            <a:ext cx="57300" cy="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19"/>
          <p:cNvGrpSpPr/>
          <p:nvPr/>
        </p:nvGrpSpPr>
        <p:grpSpPr>
          <a:xfrm>
            <a:off x="4381500" y="2000250"/>
            <a:ext cx="1000200" cy="1285800"/>
            <a:chOff x="4381500" y="2000250"/>
            <a:chExt cx="1000200" cy="1285800"/>
          </a:xfrm>
        </p:grpSpPr>
        <p:sp>
          <p:nvSpPr>
            <p:cNvPr id="229" name="Google Shape;229;p19"/>
            <p:cNvSpPr/>
            <p:nvPr/>
          </p:nvSpPr>
          <p:spPr>
            <a:xfrm>
              <a:off x="4381500" y="2000250"/>
              <a:ext cx="1000200" cy="1285800"/>
            </a:xfrm>
            <a:prstGeom prst="roundRect">
              <a:avLst>
                <a:gd fmla="val 5714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4381500" y="2000250"/>
              <a:ext cx="1000200" cy="381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4429125" y="2095500"/>
              <a:ext cx="90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2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04</a:t>
              </a:r>
              <a:endParaRPr b="0" sz="12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SMOTE</a:t>
              </a:r>
              <a:endParaRPr b="1" sz="800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750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ADASYN cân bằng mẫu (chỉ áp dụng trên Train set).</a:t>
              </a:r>
              <a:endParaRPr b="0" sz="7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32" name="Google Shape;23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38775" y="2628900"/>
            <a:ext cx="1143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53075" y="2609850"/>
            <a:ext cx="57300" cy="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19"/>
          <p:cNvGrpSpPr/>
          <p:nvPr/>
        </p:nvGrpSpPr>
        <p:grpSpPr>
          <a:xfrm>
            <a:off x="5667375" y="2000250"/>
            <a:ext cx="1000200" cy="1285800"/>
            <a:chOff x="5667375" y="2000250"/>
            <a:chExt cx="1000200" cy="1285800"/>
          </a:xfrm>
        </p:grpSpPr>
        <p:sp>
          <p:nvSpPr>
            <p:cNvPr id="235" name="Google Shape;235;p19"/>
            <p:cNvSpPr/>
            <p:nvPr/>
          </p:nvSpPr>
          <p:spPr>
            <a:xfrm>
              <a:off x="5667375" y="2000250"/>
              <a:ext cx="1000200" cy="1285800"/>
            </a:xfrm>
            <a:prstGeom prst="roundRect">
              <a:avLst>
                <a:gd fmla="val 5714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5667375" y="2000250"/>
              <a:ext cx="1000200" cy="381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 txBox="1"/>
            <p:nvPr/>
          </p:nvSpPr>
          <p:spPr>
            <a:xfrm>
              <a:off x="5715000" y="2095500"/>
              <a:ext cx="90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2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05</a:t>
              </a:r>
              <a:endParaRPr b="0" sz="12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Training</a:t>
              </a:r>
              <a:endParaRPr b="1" sz="800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750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Huấn luyện: RF, XGBoost &amp; Autoencoder.</a:t>
              </a:r>
              <a:endParaRPr b="0" sz="7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38" name="Google Shape;23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628900"/>
            <a:ext cx="1143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38950" y="2609850"/>
            <a:ext cx="57300" cy="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19"/>
          <p:cNvGrpSpPr/>
          <p:nvPr/>
        </p:nvGrpSpPr>
        <p:grpSpPr>
          <a:xfrm>
            <a:off x="6953250" y="2000250"/>
            <a:ext cx="1000200" cy="1285800"/>
            <a:chOff x="6953250" y="2000250"/>
            <a:chExt cx="1000200" cy="1285800"/>
          </a:xfrm>
        </p:grpSpPr>
        <p:sp>
          <p:nvSpPr>
            <p:cNvPr id="241" name="Google Shape;241;p19"/>
            <p:cNvSpPr/>
            <p:nvPr/>
          </p:nvSpPr>
          <p:spPr>
            <a:xfrm>
              <a:off x="6953250" y="2000250"/>
              <a:ext cx="1000200" cy="1285800"/>
            </a:xfrm>
            <a:prstGeom prst="roundRect">
              <a:avLst>
                <a:gd fmla="val 5714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6953250" y="2000250"/>
              <a:ext cx="1000200" cy="381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 txBox="1"/>
            <p:nvPr/>
          </p:nvSpPr>
          <p:spPr>
            <a:xfrm>
              <a:off x="7000875" y="2095500"/>
              <a:ext cx="90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2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06</a:t>
              </a:r>
              <a:endParaRPr b="0" sz="12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Evaluation</a:t>
              </a:r>
              <a:endParaRPr b="1" sz="800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750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Đo lường F1, Recall, ROC-AUC, PR-AUC.</a:t>
              </a:r>
              <a:endParaRPr b="0" sz="7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44" name="Google Shape;244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10525" y="2628900"/>
            <a:ext cx="573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67675" y="2609850"/>
            <a:ext cx="57300" cy="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19"/>
          <p:cNvGrpSpPr/>
          <p:nvPr/>
        </p:nvGrpSpPr>
        <p:grpSpPr>
          <a:xfrm>
            <a:off x="8181975" y="2000250"/>
            <a:ext cx="438300" cy="1285800"/>
            <a:chOff x="8181975" y="2000250"/>
            <a:chExt cx="438300" cy="1285800"/>
          </a:xfrm>
        </p:grpSpPr>
        <p:sp>
          <p:nvSpPr>
            <p:cNvPr id="247" name="Google Shape;247;p19"/>
            <p:cNvSpPr/>
            <p:nvPr/>
          </p:nvSpPr>
          <p:spPr>
            <a:xfrm>
              <a:off x="8181975" y="2000250"/>
              <a:ext cx="438300" cy="1285800"/>
            </a:xfrm>
            <a:prstGeom prst="roundRect">
              <a:avLst>
                <a:gd fmla="val 13043" name="adj"/>
              </a:avLst>
            </a:prstGeom>
            <a:solidFill>
              <a:srgbClr val="1A0B36">
                <a:alpha val="6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181975" y="2000250"/>
              <a:ext cx="438300" cy="381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8210550" y="2095500"/>
              <a:ext cx="38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2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07</a:t>
              </a:r>
              <a:endParaRPr b="0" sz="12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68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endParaRPr b="1" sz="680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vi" sz="700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Demo UI.</a:t>
              </a:r>
              <a:endParaRPr b="0" sz="70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0" name="Google Shape;250;p19"/>
          <p:cNvGrpSpPr/>
          <p:nvPr/>
        </p:nvGrpSpPr>
        <p:grpSpPr>
          <a:xfrm>
            <a:off x="523875" y="3952875"/>
            <a:ext cx="8096400" cy="628800"/>
            <a:chOff x="523875" y="3952875"/>
            <a:chExt cx="8096400" cy="628800"/>
          </a:xfrm>
        </p:grpSpPr>
        <p:sp>
          <p:nvSpPr>
            <p:cNvPr id="251" name="Google Shape;251;p19"/>
            <p:cNvSpPr/>
            <p:nvPr/>
          </p:nvSpPr>
          <p:spPr>
            <a:xfrm>
              <a:off x="523875" y="3952875"/>
              <a:ext cx="8096400" cy="628800"/>
            </a:xfrm>
            <a:prstGeom prst="roundRect">
              <a:avLst>
                <a:gd fmla="val 9090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523875" y="3952875"/>
              <a:ext cx="76200" cy="628800"/>
            </a:xfrm>
            <a:prstGeom prst="roundRect">
              <a:avLst>
                <a:gd fmla="val 25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762000" y="4029075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018">
                  <a:solidFill>
                    <a:srgbClr val="FF007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NGUYÊN TẮC VÀNG CHỐNG RÒ RỈ DỮ LIỆU (DATA LEAKAGE)</a:t>
              </a:r>
              <a:endParaRPr b="1" sz="1018">
                <a:solidFill>
                  <a:srgbClr val="FF007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vi" sz="925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Tuyệt đối </a:t>
              </a:r>
              <a:r>
                <a:rPr b="1" lang="vi" sz="925">
                  <a:solidFill>
                    <a:srgbClr val="FF007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không thực hiện oversampling / SMOTE trên tập Test</a:t>
              </a:r>
              <a:r>
                <a:rPr b="0" lang="vi" sz="925">
                  <a:solidFill>
                    <a:srgbClr val="B0C4DE"/>
                  </a:solidFill>
                  <a:latin typeface="Roboto"/>
                  <a:ea typeface="Roboto"/>
                  <a:cs typeface="Roboto"/>
                  <a:sym typeface="Roboto"/>
                </a:rPr>
                <a:t>. Tiến trình xử lý mất cân bằng chỉ được thực thi cô lập trong nội bộ tập Train sau khi đã phân tách.</a:t>
              </a:r>
              <a:endParaRPr b="0" sz="92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92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0" sz="765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3 | Niên khóa 2025 - 2026</a:t>
            </a:r>
            <a:endParaRPr b="0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523875" y="1190625"/>
            <a:ext cx="8096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THÔNG TIN KHẢO SÁT &amp; TIỀN XỬ LÝ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3"/>
              </a:spcBef>
              <a:spcAft>
                <a:spcPts val="113"/>
              </a:spcAft>
              <a:buNone/>
            </a:pPr>
            <a:r>
              <a:rPr b="0" lang="vi" sz="2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TIỀN XỬ LÝ &amp; </a:t>
            </a:r>
            <a:r>
              <a:rPr b="0" lang="vi" sz="2000">
                <a:solidFill>
                  <a:srgbClr val="00F2F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KỸ THUẬT ĐẶC TRƯNG (14 FEATURES)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3" name="Google Shape;263;p20"/>
          <p:cNvGrpSpPr/>
          <p:nvPr/>
        </p:nvGrpSpPr>
        <p:grpSpPr>
          <a:xfrm>
            <a:off x="523875" y="2000250"/>
            <a:ext cx="2571900" cy="2571900"/>
            <a:chOff x="523875" y="2000250"/>
            <a:chExt cx="2571900" cy="2571900"/>
          </a:xfrm>
        </p:grpSpPr>
        <p:sp>
          <p:nvSpPr>
            <p:cNvPr id="264" name="Google Shape;264;p20"/>
            <p:cNvSpPr/>
            <p:nvPr/>
          </p:nvSpPr>
          <p:spPr>
            <a:xfrm>
              <a:off x="523875" y="2000250"/>
              <a:ext cx="2571900" cy="2571900"/>
            </a:xfrm>
            <a:prstGeom prst="roundRect">
              <a:avLst>
                <a:gd fmla="val 2222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523875" y="2000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714375" y="22098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24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67" name="Google Shape;267;p20"/>
            <p:cNvSpPr txBox="1"/>
            <p:nvPr/>
          </p:nvSpPr>
          <p:spPr>
            <a:xfrm>
              <a:off x="714375" y="2686050"/>
              <a:ext cx="21909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1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Lọc &amp; Mã hóa (Encoding)</a:t>
              </a:r>
              <a:endParaRPr b="0" sz="11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Lọc loại giao dịch: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Tập trung vào TRANSFER và CASH_OUT.</a:t>
              </a:r>
              <a:endParaRPr b="0" sz="8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One-Hot Encoding: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Mã hóa cột type thành vector nhị phân.</a:t>
              </a:r>
              <a:endParaRPr b="0" sz="8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Loại bỏ cột nhiễu: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Bỏ nameOrig, nameDest và isFlaggedFraud.</a:t>
              </a:r>
              <a:endParaRPr b="0" sz="8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268" name="Google Shape;268;p20"/>
          <p:cNvGrpSpPr/>
          <p:nvPr/>
        </p:nvGrpSpPr>
        <p:grpSpPr>
          <a:xfrm>
            <a:off x="3286125" y="2000250"/>
            <a:ext cx="2571900" cy="2571900"/>
            <a:chOff x="3286125" y="2000250"/>
            <a:chExt cx="2571900" cy="2571900"/>
          </a:xfrm>
        </p:grpSpPr>
        <p:sp>
          <p:nvSpPr>
            <p:cNvPr id="269" name="Google Shape;269;p20"/>
            <p:cNvSpPr/>
            <p:nvPr/>
          </p:nvSpPr>
          <p:spPr>
            <a:xfrm>
              <a:off x="3286125" y="2000250"/>
              <a:ext cx="2571900" cy="2571900"/>
            </a:xfrm>
            <a:prstGeom prst="roundRect">
              <a:avLst>
                <a:gd fmla="val 2222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3286125" y="2000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 txBox="1"/>
            <p:nvPr/>
          </p:nvSpPr>
          <p:spPr>
            <a:xfrm>
              <a:off x="3476625" y="22098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24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72" name="Google Shape;272;p20"/>
            <p:cNvSpPr txBox="1"/>
            <p:nvPr/>
          </p:nvSpPr>
          <p:spPr>
            <a:xfrm>
              <a:off x="3476625" y="2686050"/>
              <a:ext cx="21909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1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Kỹ thuật đặc trưng</a:t>
              </a:r>
              <a:endParaRPr b="0" sz="11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0"/>
                </a:spcAft>
                <a:buNone/>
              </a:pPr>
              <a:r>
                <a:rPr b="1" lang="vi" sz="750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errorOrig = oldOrig - amount - newOrig</a:t>
              </a:r>
              <a:endParaRPr b="1" sz="750">
                <a:solidFill>
                  <a:srgbClr val="FF007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750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errorDest = oldDest + amount - newDest</a:t>
              </a:r>
              <a:endParaRPr b="1" sz="750">
                <a:solidFill>
                  <a:srgbClr val="FF007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is_drain_account:</a:t>
              </a:r>
              <a:r>
                <a:rPr b="0" lang="vi" sz="8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Rút sạch ví (97.56% Fraud).</a:t>
              </a:r>
              <a:endParaRPr b="0" sz="80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hour &amp; night:</a:t>
              </a:r>
              <a:r>
                <a:rPr b="0" lang="vi" sz="8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Bắt chu kỳ giờ và đêm (0h-5h).</a:t>
              </a:r>
              <a:endParaRPr b="0" sz="80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vi" sz="8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ratio &amp; large:</a:t>
              </a:r>
              <a:r>
                <a:rPr b="0" lang="vi" sz="80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Tỉ lệ chuyển và cờ giao dịch lớn.</a:t>
              </a:r>
              <a:endParaRPr b="0" sz="80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273" name="Google Shape;273;p20"/>
          <p:cNvGrpSpPr/>
          <p:nvPr/>
        </p:nvGrpSpPr>
        <p:grpSpPr>
          <a:xfrm>
            <a:off x="6048375" y="2000250"/>
            <a:ext cx="2571900" cy="2571900"/>
            <a:chOff x="6048375" y="2000250"/>
            <a:chExt cx="2571900" cy="2571900"/>
          </a:xfrm>
        </p:grpSpPr>
        <p:sp>
          <p:nvSpPr>
            <p:cNvPr id="274" name="Google Shape;274;p20"/>
            <p:cNvSpPr/>
            <p:nvPr/>
          </p:nvSpPr>
          <p:spPr>
            <a:xfrm>
              <a:off x="6048375" y="2000250"/>
              <a:ext cx="2571900" cy="2571900"/>
            </a:xfrm>
            <a:prstGeom prst="roundRect">
              <a:avLst>
                <a:gd fmla="val 2222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6048375" y="2000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6238875" y="22098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24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6238875" y="2686050"/>
              <a:ext cx="21909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1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Chuẩn hóa dữ liệu</a:t>
              </a:r>
              <a:endParaRPr b="0" sz="11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StandardScaler: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Fit trên Train set, transform trên Test set cho các biến liên tục.</a:t>
              </a:r>
              <a:endParaRPr b="0" sz="8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Bảo toàn cờ: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Giữ nguyên các cờ (0/1) không scale để bảo toàn tính phân tách.</a:t>
              </a:r>
              <a:endParaRPr b="0" sz="8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Không gian cuối: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Ma trận 14 đặc trưng đầu vào.</a:t>
              </a:r>
              <a:endParaRPr b="0" sz="8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pic>
        <p:nvPicPr>
          <p:cNvPr id="278" name="Google Shape;2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285" name="Google Shape;2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92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0" sz="765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3 | Niên khóa 2025 - 2026</a:t>
            </a:r>
            <a:endParaRPr b="0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23875" y="1190625"/>
            <a:ext cx="809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THÔNG TIN KHẢO SÁT &amp; TIỀN XỬ LÝ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lang="vi" sz="2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KỸ THUẬT XỬ LÝ </a:t>
            </a:r>
            <a:r>
              <a:rPr b="0" lang="vi" sz="2000">
                <a:solidFill>
                  <a:srgbClr val="00F2F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MẤT CÂN BẰNG DỮ LIỆU</a:t>
            </a:r>
            <a:endParaRPr/>
          </a:p>
        </p:txBody>
      </p:sp>
      <p:grpSp>
        <p:nvGrpSpPr>
          <p:cNvPr id="291" name="Google Shape;291;p21"/>
          <p:cNvGrpSpPr/>
          <p:nvPr/>
        </p:nvGrpSpPr>
        <p:grpSpPr>
          <a:xfrm>
            <a:off x="523875" y="1905000"/>
            <a:ext cx="3905400" cy="2667000"/>
            <a:chOff x="523875" y="1905000"/>
            <a:chExt cx="3905400" cy="2667000"/>
          </a:xfrm>
        </p:grpSpPr>
        <p:sp>
          <p:nvSpPr>
            <p:cNvPr id="292" name="Google Shape;292;p21"/>
            <p:cNvSpPr/>
            <p:nvPr/>
          </p:nvSpPr>
          <p:spPr>
            <a:xfrm>
              <a:off x="523875" y="1905000"/>
              <a:ext cx="3905400" cy="2667000"/>
            </a:xfrm>
            <a:prstGeom prst="roundRect">
              <a:avLst>
                <a:gd fmla="val 2142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523875" y="190500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1"/>
            <p:cNvSpPr txBox="1"/>
            <p:nvPr/>
          </p:nvSpPr>
          <p:spPr>
            <a:xfrm>
              <a:off x="714375" y="2095500"/>
              <a:ext cx="35244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150">
                  <a:solidFill>
                    <a:srgbClr val="FF007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VÌ SAO KHÔNG DÙNG ACCURACY?</a:t>
              </a:r>
              <a:endParaRPr b="0" sz="1150">
                <a:solidFill>
                  <a:srgbClr val="FF00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vi" sz="26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99.87%</a:t>
              </a:r>
              <a:endParaRPr b="0" sz="26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Accuracy đạt cực kỳ cao</a:t>
              </a:r>
              <a:endParaRPr b="1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Nếu hệ thống chỉ đơn giản dự đoán tất cả giao dịch là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"Hợp lệ"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8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vi" sz="9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Nhưng mô hình này </a:t>
              </a:r>
              <a:r>
                <a:rPr b="1" lang="vi" sz="950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hoàn toàn vô dụng</a:t>
              </a:r>
              <a:r>
                <a:rPr b="0" lang="vi" sz="9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trong thực tế vì bỏ lọt hoàn toàn </a:t>
              </a:r>
              <a:r>
                <a:rPr b="1" lang="vi" sz="950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100% ca gian lận</a:t>
              </a:r>
              <a:r>
                <a:rPr b="0" lang="vi" sz="9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thực tế. Điều này dẫn đến thiệt hại tài chính khổng lồ do chi phí bỏ sót cực kỳ cao.</a:t>
              </a:r>
              <a:endParaRPr b="0" sz="9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5" name="Google Shape;295;p21"/>
          <p:cNvGrpSpPr/>
          <p:nvPr/>
        </p:nvGrpSpPr>
        <p:grpSpPr>
          <a:xfrm>
            <a:off x="4714875" y="1905000"/>
            <a:ext cx="3905400" cy="2667000"/>
            <a:chOff x="4714875" y="1905000"/>
            <a:chExt cx="3905400" cy="2667000"/>
          </a:xfrm>
        </p:grpSpPr>
        <p:sp>
          <p:nvSpPr>
            <p:cNvPr id="296" name="Google Shape;296;p21"/>
            <p:cNvSpPr/>
            <p:nvPr/>
          </p:nvSpPr>
          <p:spPr>
            <a:xfrm>
              <a:off x="4714875" y="1905000"/>
              <a:ext cx="3905400" cy="2667000"/>
            </a:xfrm>
            <a:prstGeom prst="roundRect">
              <a:avLst>
                <a:gd fmla="val 2142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4714875" y="190500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1"/>
            <p:cNvSpPr txBox="1"/>
            <p:nvPr/>
          </p:nvSpPr>
          <p:spPr>
            <a:xfrm>
              <a:off x="4905375" y="2095500"/>
              <a:ext cx="35244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1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CÁC GIẢI PHÁP ĐƯỢC ÁP DỤNG</a:t>
              </a:r>
              <a:endParaRPr b="0" sz="11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vi" sz="9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SMOTE</a:t>
              </a:r>
              <a:r>
                <a:rPr b="1" lang="vi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(Synthetic Minority Over-sampling)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Tự động kiến tạo dữ liệu tổng hợp dựa trên thuật toán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k-NN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cho riêng lớp thiểu số.</a:t>
              </a:r>
              <a:endParaRPr b="0" sz="8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vi" sz="9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ADASYN</a:t>
              </a:r>
              <a:r>
                <a:rPr b="1" lang="vi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(Adaptive Synthetic Sampling)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Tập trung sinh mẫu nhân tạo tại các phân vùng </a:t>
              </a:r>
              <a:r>
                <a:rPr b="1" lang="vi" sz="850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biên giới phân loại khó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đánh giá.</a:t>
              </a:r>
              <a:endParaRPr b="0" sz="8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vi" sz="90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Class Weights</a:t>
              </a:r>
              <a:r>
                <a:rPr b="1" lang="vi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(Trọng số Loss)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Điều chỉnh trực tiếp trọng số phạt loss thông qua tham số </a:t>
              </a:r>
              <a:r>
                <a:rPr b="1" lang="vi" sz="850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scale_pos_weight</a:t>
              </a:r>
              <a:r>
                <a:rPr b="0" lang="vi" sz="850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trong XGBoost.</a:t>
              </a:r>
              <a:endParaRPr b="0" sz="85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371475"/>
            <a:ext cx="8401200" cy="4400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05" name="Google Shape;305;p22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476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 txBox="1"/>
          <p:nvPr/>
        </p:nvSpPr>
        <p:spPr>
          <a:xfrm>
            <a:off x="1190625" y="523875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CÔNG NGHỆ THÔNG TIN</a:t>
            </a:r>
            <a:endParaRPr b="1" sz="92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765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ĐẠI HỌC QUỐC GIA THÀNH PHỐ HỒ CHÍ MINH</a:t>
            </a:r>
            <a:endParaRPr b="0" sz="765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6191250" y="523875"/>
            <a:ext cx="238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65">
                <a:solidFill>
                  <a:srgbClr val="00F2FE"/>
                </a:solidFill>
                <a:latin typeface="Roboto"/>
                <a:ea typeface="Roboto"/>
                <a:cs typeface="Roboto"/>
                <a:sym typeface="Roboto"/>
              </a:rPr>
              <a:t>CS106 — TRÍ TUỆ NHÂN TẠO</a:t>
            </a:r>
            <a:endParaRPr b="1" sz="765">
              <a:solidFill>
                <a:srgbClr val="00F2F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Học kỳ 3 | Niên khóa 2025 - 2026</a:t>
            </a:r>
            <a:endParaRPr b="0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523875" y="1190625"/>
            <a:ext cx="809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B0C4DE"/>
                </a:solidFill>
                <a:latin typeface="Roboto"/>
                <a:ea typeface="Roboto"/>
                <a:cs typeface="Roboto"/>
                <a:sym typeface="Roboto"/>
              </a:rPr>
              <a:t>MÔ HÌNH HỌC MÁY &amp; HỌC SÂU ĐỀ XUẤT</a:t>
            </a:r>
            <a:endParaRPr b="1" sz="950">
              <a:solidFill>
                <a:srgbClr val="B0C4D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3"/>
              </a:spcBef>
              <a:spcAft>
                <a:spcPts val="113"/>
              </a:spcAft>
              <a:buNone/>
            </a:pPr>
            <a:r>
              <a:rPr b="0" lang="vi" sz="2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CÁC PHƯƠNG PHÁP </a:t>
            </a:r>
            <a:r>
              <a:rPr b="0" lang="vi" sz="2000">
                <a:solidFill>
                  <a:srgbClr val="00F2F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HUẤN LUYỆN HIỆU QUẢ</a:t>
            </a:r>
            <a:endParaRPr b="0" sz="20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310" name="Google Shape;310;p22"/>
          <p:cNvGrpSpPr/>
          <p:nvPr/>
        </p:nvGrpSpPr>
        <p:grpSpPr>
          <a:xfrm>
            <a:off x="523875" y="2000250"/>
            <a:ext cx="2571900" cy="2571900"/>
            <a:chOff x="523875" y="2000250"/>
            <a:chExt cx="2571900" cy="2571900"/>
          </a:xfrm>
        </p:grpSpPr>
        <p:sp>
          <p:nvSpPr>
            <p:cNvPr id="311" name="Google Shape;311;p22"/>
            <p:cNvSpPr/>
            <p:nvPr/>
          </p:nvSpPr>
          <p:spPr>
            <a:xfrm>
              <a:off x="523875" y="2000250"/>
              <a:ext cx="2571900" cy="2571900"/>
            </a:xfrm>
            <a:prstGeom prst="roundRect">
              <a:avLst>
                <a:gd fmla="val 2222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523875" y="2000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714375" y="22098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24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714375" y="2686050"/>
              <a:ext cx="2190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1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Random Forest</a:t>
              </a:r>
              <a:endParaRPr b="0" sz="11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0"/>
                </a:spcAft>
                <a:buNone/>
              </a:pP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Tập hợp cây quyết định (</a:t>
              </a:r>
              <a:r>
                <a:rPr b="1" lang="vi" sz="925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Ensemble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), giúp giảm thiểu phương sai và tránh hiện tượng quá khớp.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563"/>
                </a:spcAft>
                <a:buNone/>
              </a:pP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Cung cấp khả năng đánh giá mức độ quan trọng của đặc trưng (</a:t>
              </a:r>
              <a:r>
                <a:rPr b="1" lang="vi" sz="925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Feature Importance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) trực quan.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5" name="Google Shape;315;p22"/>
          <p:cNvGrpSpPr/>
          <p:nvPr/>
        </p:nvGrpSpPr>
        <p:grpSpPr>
          <a:xfrm>
            <a:off x="3286125" y="2000250"/>
            <a:ext cx="2571900" cy="2571900"/>
            <a:chOff x="3286125" y="2000250"/>
            <a:chExt cx="2571900" cy="2571900"/>
          </a:xfrm>
        </p:grpSpPr>
        <p:sp>
          <p:nvSpPr>
            <p:cNvPr id="316" name="Google Shape;316;p22"/>
            <p:cNvSpPr/>
            <p:nvPr/>
          </p:nvSpPr>
          <p:spPr>
            <a:xfrm>
              <a:off x="3286125" y="2000250"/>
              <a:ext cx="2571900" cy="2571900"/>
            </a:xfrm>
            <a:prstGeom prst="roundRect">
              <a:avLst>
                <a:gd fmla="val 2222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0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3286125" y="2000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0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3476625" y="22098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24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3476625" y="2686050"/>
              <a:ext cx="2190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1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XGBoost</a:t>
              </a:r>
              <a:endParaRPr b="0" sz="11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0"/>
                </a:spcAft>
                <a:buNone/>
              </a:pP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Tối ưu hóa gradient theo bước lặp, mang lại tốc độ xử lý và hiệu năng </a:t>
              </a:r>
              <a:r>
                <a:rPr b="1" lang="vi" sz="925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vượt trội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 trên cấu trúc dữ liệu bảng.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563"/>
                </a:spcAft>
                <a:buNone/>
              </a:pP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Hỗ trợ xử lý cực tốt các tập mẫu mất cân bằng và biểu diễn các mối quan hệ </a:t>
              </a:r>
              <a:r>
                <a:rPr b="1" lang="vi" sz="925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tương tác phi tuyến tính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0" name="Google Shape;320;p22"/>
          <p:cNvGrpSpPr/>
          <p:nvPr/>
        </p:nvGrpSpPr>
        <p:grpSpPr>
          <a:xfrm>
            <a:off x="6048375" y="2000250"/>
            <a:ext cx="2571900" cy="2571900"/>
            <a:chOff x="6048375" y="2000250"/>
            <a:chExt cx="2571900" cy="2571900"/>
          </a:xfrm>
        </p:grpSpPr>
        <p:sp>
          <p:nvSpPr>
            <p:cNvPr id="321" name="Google Shape;321;p22"/>
            <p:cNvSpPr/>
            <p:nvPr/>
          </p:nvSpPr>
          <p:spPr>
            <a:xfrm>
              <a:off x="6048375" y="2000250"/>
              <a:ext cx="2571900" cy="2571900"/>
            </a:xfrm>
            <a:prstGeom prst="roundRect">
              <a:avLst>
                <a:gd fmla="val 2222" name="adj"/>
              </a:avLst>
            </a:prstGeom>
            <a:solidFill>
              <a:srgbClr val="1A0B36">
                <a:alpha val="80000"/>
              </a:srgbClr>
            </a:solidFill>
            <a:ln cap="flat" cmpd="sng" w="14300">
              <a:solidFill>
                <a:srgbClr val="F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6048375" y="2000250"/>
              <a:ext cx="2571900" cy="57300"/>
            </a:xfrm>
            <a:prstGeom prst="roundRect">
              <a:avLst>
                <a:gd fmla="val 50000" name="adj"/>
              </a:avLst>
            </a:prstGeom>
            <a:solidFill>
              <a:srgbClr val="FF00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2"/>
            <p:cNvSpPr txBox="1"/>
            <p:nvPr/>
          </p:nvSpPr>
          <p:spPr>
            <a:xfrm>
              <a:off x="6238875" y="22098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2400">
                  <a:solidFill>
                    <a:srgbClr val="FF007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2400">
                <a:solidFill>
                  <a:srgbClr val="FF007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324" name="Google Shape;324;p22"/>
            <p:cNvSpPr txBox="1"/>
            <p:nvPr/>
          </p:nvSpPr>
          <p:spPr>
            <a:xfrm>
              <a:off x="6238875" y="2686050"/>
              <a:ext cx="2190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vi" sz="1150">
                  <a:solidFill>
                    <a:srgbClr val="00F2F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Autoencoder</a:t>
              </a:r>
              <a:endParaRPr b="0" sz="1150">
                <a:solidFill>
                  <a:srgbClr val="00F2F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0"/>
                </a:spcAft>
                <a:buNone/>
              </a:pP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Phát hiện bất thường (</a:t>
              </a:r>
              <a:r>
                <a:rPr b="1" lang="vi" sz="925">
                  <a:solidFill>
                    <a:srgbClr val="00F2FE"/>
                  </a:solidFill>
                  <a:latin typeface="Roboto"/>
                  <a:ea typeface="Roboto"/>
                  <a:cs typeface="Roboto"/>
                  <a:sym typeface="Roboto"/>
                </a:rPr>
                <a:t>Anomaly Detection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) bằng phương pháp học không giám sát/bán giám sát mạng deep learning.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563"/>
                </a:spcBef>
                <a:spcAft>
                  <a:spcPts val="563"/>
                </a:spcAft>
                <a:buNone/>
              </a:pP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Mô hình chỉ học trên mẫu giao dịch bình thường; hành vi gian lận sẽ tạo ra sai số tái tạo (</a:t>
              </a:r>
              <a:r>
                <a:rPr b="1" lang="vi" sz="925">
                  <a:solidFill>
                    <a:srgbClr val="FF007F"/>
                  </a:solidFill>
                  <a:latin typeface="Roboto"/>
                  <a:ea typeface="Roboto"/>
                  <a:cs typeface="Roboto"/>
                  <a:sym typeface="Roboto"/>
                </a:rPr>
                <a:t>Reconstruction Error</a:t>
              </a:r>
              <a:r>
                <a:rPr b="0" lang="vi" sz="925">
                  <a:solidFill>
                    <a:srgbClr val="E0E0E0"/>
                  </a:solidFill>
                  <a:latin typeface="Roboto"/>
                  <a:ea typeface="Roboto"/>
                  <a:cs typeface="Roboto"/>
                  <a:sym typeface="Roboto"/>
                </a:rPr>
                <a:t>) vượt ngưỡng.</a:t>
              </a:r>
              <a:endParaRPr b="0" sz="925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