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VIETNAM NATIONAL UNIVERSITY HO CHI MINH 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OF INFORMATION TECHNOLOGY  •  FACULTY OF COMPUTER SCIENCE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FRAUD DETECTION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BAE6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Machine Learning &amp; Deep Learning on PaySim Synthetic Dataset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CS106 — Artificial Intelligence  |  Advisor: Assoc. Prof. Nguyen Dinh Hien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3035808"/>
            <a:ext cx="10972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29443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DE0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09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66360" y="3035808"/>
            <a:ext cx="10972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37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Hoang Hon (26410046)  •  Dang Chi Thanh (25730067)  •  Nguyen Duy Khang (26410055)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Hoang Cao Son (25730061)  •  Vu Van Duy (26410031)  •  Bui Thi My Cam (25730013)  •  Pham Thanh Trung (26410141)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43891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Chi Minh City,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CS106: ARTIFICIAL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&amp;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685800" cy="594360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07592" y="1097280"/>
            <a:ext cx="7333488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15214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&amp; Problem Formulation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63040" y="13898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context, extreme class imbalance, and formal task formulation.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19656"/>
            <a:ext cx="685800" cy="594360"/>
          </a:xfrm>
          <a:prstGeom prst="roundRect">
            <a:avLst>
              <a:gd name="adj" fmla="val 9231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19656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7592" y="1819656"/>
            <a:ext cx="7333488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87452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 &amp; Feature 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63040" y="211226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confinement, balance drain signatures, and 14 synthesized features.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42032"/>
            <a:ext cx="685800" cy="594360"/>
          </a:xfrm>
          <a:prstGeom prst="roundRect">
            <a:avLst>
              <a:gd name="adj" fmla="val 9231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4203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07592" y="2542032"/>
            <a:ext cx="7333488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59689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Methodologies &amp; Machine Learning Pipeline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63040" y="283464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(SMOTE/ADASYN), Random Forest, XGBoost, and Deep Autoencoder.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64408"/>
            <a:ext cx="685800" cy="594360"/>
          </a:xfrm>
          <a:prstGeom prst="roundRect">
            <a:avLst>
              <a:gd name="adj" fmla="val 9231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6440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07592" y="3264408"/>
            <a:ext cx="7333488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31927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Experiments, Results &amp; Comparative Evaluation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63040" y="355701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metrics, confusion matrices, feature gains, and error trade-offs.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986784"/>
            <a:ext cx="685800" cy="594360"/>
          </a:xfrm>
          <a:prstGeom prst="roundRect">
            <a:avLst>
              <a:gd name="adj" fmla="val 9231"/>
            </a:avLst>
          </a:prstGeom>
          <a:solidFill>
            <a:srgbClr val="17255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07592" y="3986784"/>
            <a:ext cx="7333488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04164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System &amp; Future Research Trajectories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63040" y="427939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real-time dashboard, business viability, limitations, and GNN roadmap.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OF INFORMATION TECHNOLOGY, VNU-HCM  •  CS106 FINAL DEFENSE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886200" y="11887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&amp; PROBLEM FORMULATION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52928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1E295C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Background &amp; Mobile Money Expansion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Asymmetric Cost &amp; Extreme Imbalance Paradox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AI Problem Statement &amp; Research Objectives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Motivation &amp; Technical Challenges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1024128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1. Industrial Context &amp; Scale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Mobile money transactions have surged globally, introducing complex synthetic fraud vectors.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Real-time defense mechanisms require sub-100ms inference latency before funds leave the system.
</a:t>
            </a:r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2. Extreme Class Imbalance (~0.13%)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Fraud accounts for only ~1 out of every 800 transactions in the PaySim universe.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Cost Asymmetry: False Negatives (missed fraud) lead to direct capital loss, while False Positives cause customer friction.
</a:t>
            </a:r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3. Non-Stationary Fraud Patterns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Adversaries constantly morph account routing tactics to evade static rule-based threshold filters.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024128"/>
          <a:ext cx="3474720" cy="914400"/>
        </p:xfrm>
        <a:graphic>
          <a:graphicData uri="http://schemas.openxmlformats.org/drawingml/2006/table">
            <a:tbl>
              <a:tblPr/>
              <a:tblGrid>
                <a:gridCol w="1111910"/>
                <a:gridCol w="833933"/>
                <a:gridCol w="15288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Class Target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Y in {0, 1}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 = Fraudulent, 0 = Legitimate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Imbalance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IR = 0.13%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1,643 frauds per 1.3M events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Primary Goal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Max PR-AUC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Maximize rare fraud recall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Loss Asymmetry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C_FN &gt;&gt; C_FP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Cost penalty ratio is critical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166360" y="2606040"/>
            <a:ext cx="3474720" cy="2057400"/>
          </a:xfrm>
          <a:prstGeom prst="roundRect">
            <a:avLst>
              <a:gd name="adj" fmla="val 2222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0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Objectives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303520" y="2953512"/>
            <a:ext cx="3200400" cy="1636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an end-to-end, leak-free ML pipeline.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domain feature equations capturing ledger state discrepancies.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Ensemble Trees against Deep Unsupervised Anomaly Detection.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interactive real-time decision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PaySim Dataset: Statistical Characteristics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24128"/>
            <a:ext cx="262128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078992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6,362,620 -&gt; 200,000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141732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downsampling preserving 100% fraud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61360" y="1024128"/>
            <a:ext cx="262128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1360" y="1078992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8,213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61360" y="141732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Instances (isFraud = 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fraud transactions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9800" y="1024128"/>
            <a:ext cx="262128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9800" y="1078992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11 -&gt; 14 Features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19800" y="141732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Feature Space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with balance delta equations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8138160" cy="246888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Name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Domain Description &amp; Operational Role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step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Time step unit in hours (1..744, representing 30 simulation days)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Transaction category: CASH_OUT, TRANSFER, PAYMENT, CASH_IN, DEBIT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Transaction amount in local currency units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oldbalanceOrg / newbalanceOrig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Initial balance and post-transaction balance of the sender account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oldbalanceDest / newbalanceDest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Initial balance and post-transaction balance of the recipient account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OF INFORMATION TECHNOLOGY, VNU-HCM  •  CS106 FINAL DEFENSE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886200" y="11887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02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 &amp; FEATURE ENGINEERING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52928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1E295C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Behavioral Signatures in Financial Fraud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 of 14 Engineered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Imbalance: SMOTE vs. ADASYN Formulation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Analysis: Key Behavioral Signatures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51560"/>
            <a:ext cx="2621280" cy="3566160"/>
          </a:xfrm>
          <a:prstGeom prst="roundRect">
            <a:avLst>
              <a:gd name="adj" fmla="val 2093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161288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1: Category Confinement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1463040"/>
            <a:ext cx="2346960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1463040"/>
            <a:ext cx="2346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FRAUD CONCENTRATION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1764792"/>
            <a:ext cx="2346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of all fraudulent instances occur strictly in TRANSFER and CASH_OUT.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PAYMENT, CASH_IN, and DEBIT instances have 0% fraud.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Action: Filter dataset to only TRANSFER &amp; CASH_OUT to eliminate 70% irrelevant noise.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261360" y="1051560"/>
            <a:ext cx="2621280" cy="3566160"/>
          </a:xfrm>
          <a:prstGeom prst="roundRect">
            <a:avLst>
              <a:gd name="adj" fmla="val 209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8520" y="1161288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2: Total Account Drain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98520" y="1463040"/>
            <a:ext cx="2346960" cy="219456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3398520" y="1463040"/>
            <a:ext cx="2346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97.56% OF FRAUD CASES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98520" y="1764792"/>
            <a:ext cx="2346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97.56% of fraudulent transfers, the victim account is completely drained (newbalanceOrig == 0).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Perpetrators maximize cash-out efficiency before identity flags trigger.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Signal: Account drain ratio serves as primary discriminator.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019800" y="1051560"/>
            <a:ext cx="2621280" cy="3566160"/>
          </a:xfrm>
          <a:prstGeom prst="roundRect">
            <a:avLst>
              <a:gd name="adj" fmla="val 2093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6960" y="1161288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3: Destination Ledger Mismatch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56960" y="1463040"/>
            <a:ext cx="2346960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56960" y="1463040"/>
            <a:ext cx="2346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DELTA ANOMALY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56960" y="1764792"/>
            <a:ext cx="2346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massive proportion of fraudulent transactions show no increase in destination account balances.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Suggests mule accounts or instant multi-hop laundering routing.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Signal: Destination discrepancy error highlights illegal extraction.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Engineering: 14 Synthesized Domain Predictors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51560"/>
            <a:ext cx="438912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1247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Origin Balance Error (Delta Orig)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13807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rPr>
                        <m:sty m:val="p"/>
                      </m:rPr>
                      <m:t>Δ</m:t>
                    </m:r>
                  </m:e>
                  <m:sub>
                    <m:r>
                      <m:rPr>
                        <m:nor/>
                        <m:sty m:val="p"/>
                      </m:rPr>
                      <m:t>orig</m:t>
                    </m:r>
                  </m:sub>
                </m:sSub>
                <m:r>
                  <m:rPr>
                    <m:sty m:val="p"/>
                  </m:rPr>
                  <m:t>=</m:t>
                </m:r>
                <m:r>
                  <m:rPr>
                    <m:nor/>
                    <m:sty m:val="p"/>
                  </m:rPr>
                  <m:t>oldbalanceOrg</m:t>
                </m:r>
                <m:r>
                  <m:rPr>
                    <m:sty m:val="p"/>
                  </m:rPr>
                  <m:t>−</m:t>
                </m:r>
                <m:r>
                  <m:rPr>
                    <m:nor/>
                    <m:sty m:val="p"/>
                  </m:rPr>
                  <m:t>amount</m:t>
                </m:r>
                <m:r>
                  <m:rPr>
                    <m:sty m:val="p"/>
                  </m:rPr>
                  <m:t>−</m:t>
                </m:r>
                <m:r>
                  <m:rPr>
                    <m:nor/>
                    <m:sty m:val="p"/>
                  </m:rPr>
                  <m:t>newbalanceOrig</m:t>
                </m:r>
              </m:oMath>
            </a14:m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1801368"/>
            <a:ext cx="411480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discrepancy between expected and reported sender balance post-transaction.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438912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Destination Balance Error (Delta Dest)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26151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rPr>
                        <m:sty m:val="p"/>
                      </m:rPr>
                      <m:t>Δ</m:t>
                    </m:r>
                  </m:e>
                  <m:sub>
                    <m:r>
                      <m:rPr>
                        <m:nor/>
                        <m:sty m:val="p"/>
                      </m:rPr>
                      <m:t>dest</m:t>
                    </m:r>
                  </m:sub>
                </m:sSub>
                <m:r>
                  <m:rPr>
                    <m:sty m:val="p"/>
                  </m:rPr>
                  <m:t>=</m:t>
                </m:r>
                <m:r>
                  <m:rPr>
                    <m:nor/>
                    <m:sty m:val="p"/>
                  </m:rPr>
                  <m:t>oldbalanceDest</m:t>
                </m:r>
                <m:r>
                  <m:rPr>
                    <m:sty m:val="p"/>
                  </m:rPr>
                  <m:t>+</m:t>
                </m:r>
                <m:r>
                  <m:rPr>
                    <m:nor/>
                    <m:sty m:val="p"/>
                  </m:rPr>
                  <m:t>amount</m:t>
                </m:r>
                <m:r>
                  <m:rPr>
                    <m:sty m:val="p"/>
                  </m:rPr>
                  <m:t>−</m:t>
                </m:r>
                <m:r>
                  <m:rPr>
                    <m:nor/>
                    <m:sty m:val="p"/>
                  </m:rPr>
                  <m:t>newbalanceDest</m:t>
                </m:r>
              </m:oMath>
            </a14:m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035808"/>
            <a:ext cx="411480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uncredited or routing discrepancies at receiving destination accounts.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3520440"/>
            <a:ext cx="4389120" cy="10972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935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Full Account Drain Indicator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384962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I</m:t>
                    </m:r>
                  </m:e>
                  <m:sub>
                    <m:r>
                      <m:rPr>
                        <m:nor/>
                        <m:sty m:val="p"/>
                      </m:rPr>
                      <m:t>drain</m:t>
                    </m:r>
                  </m:sub>
                </m:sSub>
                <m:r>
                  <m:rPr>
                    <m:sty m:val="p"/>
                  </m:rPr>
                  <m:t>=</m:t>
                </m:r>
                <m:r>
                  <m:rPr>
                    <m:scr m:val="double-struck"/>
                    <m:sty m:val="p"/>
                  </m:rPr>
                  <m:t>I</m:t>
                </m:r>
                <m:r>
                  <m:rPr>
                    <m:sty m:val="p"/>
                  </m:rPr>
                  <m:t>(</m:t>
                </m:r>
                <m:r>
                  <m:rPr>
                    <m:nor/>
                    <m:sty m:val="p"/>
                  </m:rPr>
                  <m:t>oldbalanceOrg</m:t>
                </m:r>
                <m:r>
                  <m:rPr>
                    <m:sty m:val="p"/>
                  </m:rPr>
                  <m:t>&gt;</m:t>
                </m:r>
                <m:r>
                  <m:t>0</m:t>
                </m:r>
                <m:r>
                  <m:rPr>
                    <m:sty m:val="p"/>
                  </m:rPr>
                  <m:t>∧</m:t>
                </m:r>
                <m:r>
                  <m:rPr>
                    <m:nor/>
                    <m:sty m:val="p"/>
                  </m:rPr>
                  <m:t>newbalanceOrig</m:t>
                </m:r>
                <m:r>
                  <m:rPr>
                    <m:sty m:val="p"/>
                  </m:rPr>
                  <m:t>=</m:t>
                </m:r>
                <m:r>
                  <m:t>0</m:t>
                </m:r>
                <m:r>
                  <m:rPr>
                    <m:sty m:val="p"/>
                  </m:rPr>
                  <m:t>)</m:t>
                </m:r>
              </m:oMath>
            </a14:m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2702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indicator capturing single-step complete account exhaustion.</a:t>
            </a:r>
            <a:endParaRPr lang="en-US" sz="88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051560"/>
          <a:ext cx="3566160" cy="914400"/>
        </p:xfrm>
        <a:graphic>
          <a:graphicData uri="http://schemas.openxmlformats.org/drawingml/2006/table">
            <a:tbl>
              <a:tblPr/>
              <a:tblGrid>
                <a:gridCol w="1141171"/>
                <a:gridCol w="855878"/>
                <a:gridCol w="156911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Feature Space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d = 14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Expanded numeric domain representation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Origin Error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Err_orig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Captures ledger imbalance (49.9% gain)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Dest Error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Err_dest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Tracks routing discrepancies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Amount Ratio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R_amt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amount / (oldbalanceOrg + 1)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Hour of Day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h in [0..23]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step % 24 (diurnal temporal cycle)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Overnight Flag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I_night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 if hour in [0..5] (overnight attacks)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074920" y="3108960"/>
            <a:ext cx="3566160" cy="1508760"/>
          </a:xfrm>
          <a:prstGeom prst="roundRect">
            <a:avLst>
              <a:gd name="adj" fmla="val 3030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12080" y="3200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 Deductions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212080" y="3456432"/>
            <a:ext cx="3291840" cy="10881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ledger errors contribute over 97% of tree split gains.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cyclicity (hour) isolates automated scripted nighttime attacks.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scaled strictly on training split to prevent leakage.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Imbalance Mitigation: SMOTE vs. ADASYN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51560"/>
            <a:ext cx="3840480" cy="1554480"/>
          </a:xfrm>
          <a:prstGeom prst="roundRect">
            <a:avLst>
              <a:gd name="adj" fmla="val 294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143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Accuracy Paradox in Imbalanced AI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1399032"/>
            <a:ext cx="3566160" cy="11338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naive "All Normal" classifier achieves 99.87% Accuracy yet misses 100% of fraud attacks.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Mandate: Model selection must be strictly governed by Precision, Recall, F1-Score, and PR-AUC.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97480"/>
            <a:ext cx="3840480" cy="192024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706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SMOTE Interpolation Formulation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0266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rPr>
                        <m:nor/>
                        <m:sty m:val="p"/>
                      </m:rPr>
                      <m:t>new</m:t>
                    </m:r>
                  </m:sub>
                </m:sSub>
                <m:r>
                  <m:rPr>
                    <m:sty m:val="p"/>
                  </m:rPr>
                  <m:t>=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+</m:t>
                </m:r>
                <m:r>
                  <m:t>λ</m:t>
                </m:r>
                <m:r>
                  <m:rPr>
                    <m:sty m:val="p"/>
                  </m:rP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z</m:t>
                    </m:r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−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)</m:t>
                </m:r>
                <m:r>
                  <m:rPr>
                    <m:sty m:val="p"/>
                  </m:rPr>
                  <m:t>,</m:t>
                </m:r>
                <m:r>
                  <m:t> </m:t>
                </m:r>
                <m:r>
                  <m:t>λ</m:t>
                </m:r>
                <m:r>
                  <m:rPr>
                    <m:sty m:val="p"/>
                  </m:rPr>
                  <m:t>∼</m:t>
                </m:r>
                <m:r>
                  <m:t>U</m:t>
                </m:r>
                <m:r>
                  <m:rPr>
                    <m:sty m:val="p"/>
                  </m:rPr>
                  <m:t>(</m:t>
                </m:r>
                <m:r>
                  <m:t>0</m:t>
                </m:r>
                <m:r>
                  <m:rPr>
                    <m:sty m:val="p"/>
                  </m:rPr>
                  <m:t>,</m:t>
                </m:r>
                <m:r>
                  <m:t>1</m:t>
                </m:r>
                <m:r>
                  <m:rPr>
                    <m:sty m:val="p"/>
                  </m:rPr>
                  <m:t>)</m:t>
                </m:r>
              </m:oMath>
            </a14:m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447288"/>
            <a:ext cx="3566160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artificial minority instances along vector line segments connecting k-nearest minority neighbors in latent space.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617720" y="1051560"/>
            <a:ext cx="4023360" cy="192024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1247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ADASYN Density-Weighted Resampling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13807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r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=</m:t>
                </m:r>
                <m:sSub>
                  <m:e>
                    <m:r>
                      <m:rPr>
                        <m:sty m:val="p"/>
                      </m:rPr>
                      <m:t>Δ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/</m:t>
                </m:r>
                <m:r>
                  <m:t>K</m:t>
                </m:r>
                <m:r>
                  <m:rPr>
                    <m:sty m:val="p"/>
                  </m:rPr>
                  <m:t>,</m:t>
                </m:r>
                <m:r>
                  <m:t> </m:t>
                </m:r>
                <m:sSub>
                  <m:e>
                    <m:r>
                      <m:rPr>
                        <m:sty m:val="p"/>
                      </m:rPr>
                      <m:t>Γ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=</m:t>
                </m:r>
                <m:sSub>
                  <m:e>
                    <m:r>
                      <m:t>r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/</m:t>
                </m:r>
                <m:nary>
                  <m:naryPr>
                    <m:chr m:val="∑"/>
                    <m:limLoc m:val="undOvr"/>
                    <m:subHide m:val="off"/>
                    <m:supHide m:val="off"/>
                  </m:naryPr>
                  <m:sub>
                    <m:r>
                      <m:t>j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sub>
                  <m:sup>
                    <m:r>
                      <m:t>m</m:t>
                    </m:r>
                  </m:sup>
                  <m:e>
                    <m:sSub>
                      <m:e>
                        <m:r>
                          <m:t>r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e>
                </m:nary>
              </m:oMath>
            </a14:m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801368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minority instances proportionally to Gamma_i near difficult decision boundaries.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617720" y="306324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Empirical Takeaway for Fraud Detection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3410712"/>
            <a:ext cx="3749040" cy="11338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produces cleaner synthetic boundaries with lower False Positives.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ADASYN over-synthesizes in high-noise boundary overlap regions, slightly degrading Precision.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OF INFORMATION TECHNOLOGY, VNU-HCM  •  CS106 FINAL DEFENSE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886200" y="11887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03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METHODOLOGIES &amp; PIPELINE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52928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1E295C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End-to-End System Pipeline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Random Forest (Bagging &amp; MDI Importance)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XGBoost (Regularized GBDT &amp; Taylor Expansion)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Learning: Deep Autoencoder (Manifold Reconstruction)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Leak-Free Machine Learning Pipeline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51560"/>
            <a:ext cx="1264920" cy="2103120"/>
          </a:xfrm>
          <a:prstGeom prst="roundRect">
            <a:avLst>
              <a:gd name="adj" fmla="val 433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097280"/>
            <a:ext cx="126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" y="1444752"/>
            <a:ext cx="119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" y="1828800"/>
            <a:ext cx="1191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TRANSFER &amp; CASH_OUT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77568" y="1051560"/>
            <a:ext cx="1264920" cy="2103120"/>
          </a:xfrm>
          <a:prstGeom prst="roundRect">
            <a:avLst>
              <a:gd name="adj" fmla="val 433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7568" y="1097280"/>
            <a:ext cx="126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14144" y="1444752"/>
            <a:ext cx="119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14144" y="1828800"/>
            <a:ext cx="1191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14 mathematical features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52216" y="1051560"/>
            <a:ext cx="1264920" cy="2103120"/>
          </a:xfrm>
          <a:prstGeom prst="roundRect">
            <a:avLst>
              <a:gd name="adj" fmla="val 433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2216" y="1097280"/>
            <a:ext cx="126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88792" y="1444752"/>
            <a:ext cx="119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Stratified Split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88792" y="1828800"/>
            <a:ext cx="1191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separation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26864" y="1051560"/>
            <a:ext cx="1264920" cy="2103120"/>
          </a:xfrm>
          <a:prstGeom prst="roundRect">
            <a:avLst>
              <a:gd name="adj" fmla="val 433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1097280"/>
            <a:ext cx="126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1444752"/>
            <a:ext cx="119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Resampling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1828800"/>
            <a:ext cx="1191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/ ADASYN on Train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01512" y="1051560"/>
            <a:ext cx="1264920" cy="2103120"/>
          </a:xfrm>
          <a:prstGeom prst="roundRect">
            <a:avLst>
              <a:gd name="adj" fmla="val 433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01512" y="1097280"/>
            <a:ext cx="126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38088" y="1444752"/>
            <a:ext cx="119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38088" y="1828800"/>
            <a:ext cx="1191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RF, XGBoost &amp; Autoencoder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76160" y="1051560"/>
            <a:ext cx="1264920" cy="2103120"/>
          </a:xfrm>
          <a:prstGeom prst="roundRect">
            <a:avLst>
              <a:gd name="adj" fmla="val 433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6160" y="1097280"/>
            <a:ext cx="126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12736" y="1444752"/>
            <a:ext cx="119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12736" y="1828800"/>
            <a:ext cx="1191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inference (N=40,000)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291840"/>
            <a:ext cx="8138160" cy="1325880"/>
          </a:xfrm>
          <a:prstGeom prst="roundRect">
            <a:avLst>
              <a:gd name="adj" fmla="val 3448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383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Strict Protocol Against Data Leakage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" y="3639312"/>
            <a:ext cx="7863840" cy="905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(SMOTE/ADASYN) is strictly executed AFTER data partitioning on training fold only.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 is fitted on the training split only and applied blindly to the test set.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test target information is leaked into model feature representations or hyperparameter selection.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Supervised Architecture 1: Random Forest Ensemble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1024128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Ensemble Bagging Architecture: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Constructs an ensemble of B decorrelated Decision Trees trained on bootstrap sub-samples.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Reduces variance without inflating bias, demonstrating high resilience against feature co-linearity.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Provides Gini Impurity-based Mean Decrease in Impurity (MDI) feature ranking.
</a:t>
            </a:r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Optimal Hyperparameter Configuration: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n_estimators: 200 (SMOTE) / 500 (ADASYN)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max_depth: 20 | min_samples_split: 2 | max_features: "sqrt" | class_weight: "balanced"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448056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564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Gini Impurity &amp; MDI Split Criterion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r>
                  <m:t>G</m:t>
                </m:r>
                <m:r>
                  <m:rPr>
                    <m:sty m:val="p"/>
                  </m:rPr>
                  <m:t>(</m:t>
                </m:r>
                <m:r>
                  <m:t>p</m:t>
                </m:r>
                <m:r>
                  <m:rPr>
                    <m:sty m:val="p"/>
                  </m:rPr>
                  <m:t>)</m:t>
                </m:r>
                <m:r>
                  <m:rPr>
                    <m:sty m:val="p"/>
                  </m:rPr>
                  <m:t>=</m:t>
                </m:r>
                <m:r>
                  <m:t>1</m:t>
                </m:r>
                <m:r>
                  <m:rPr>
                    <m:sty m:val="p"/>
                  </m:rPr>
                  <m:t>−</m:t>
                </m:r>
                <m:nary>
                  <m:naryPr>
                    <m:chr m:val="∑"/>
                    <m:limLoc m:val="undOvr"/>
                    <m:subHide m:val="off"/>
                    <m:supHide m:val="off"/>
                  </m:naryPr>
                  <m:sub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sub>
                  <m:sup>
                    <m:r>
                      <m:t>C</m:t>
                    </m:r>
                  </m:sup>
                  <m:e>
                    <m:sSubSup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  <m:r>
                  <m:rPr>
                    <m:sty m:val="p"/>
                  </m:rPr>
                  <m:t>,</m:t>
                </m:r>
                <m:r>
                  <m:t> </m:t>
                </m:r>
                <m:r>
                  <m:rPr>
                    <m:sty m:val="p"/>
                  </m:rPr>
                  <m:t>Δ</m:t>
                </m:r>
                <m:r>
                  <m:t>G</m:t>
                </m:r>
                <m:r>
                  <m:rPr>
                    <m:sty m:val="p"/>
                  </m:rPr>
                  <m:t>=</m:t>
                </m:r>
                <m:sSub>
                  <m:e>
                    <m:r>
                      <m:t>G</m:t>
                    </m:r>
                  </m:e>
                  <m:sub>
                    <m:r>
                      <m:rPr>
                        <m:nor/>
                        <m:sty m:val="p"/>
                      </m:rPr>
                      <m:t>parent</m:t>
                    </m:r>
                  </m:sub>
                </m:sSub>
                <m:r>
                  <m:rPr>
                    <m:sty m:val="p"/>
                  </m:rPr>
                  <m:t>−</m:t>
                </m:r>
                <m:nary>
                  <m:naryPr>
                    <m:chr m:val="∑"/>
                    <m:limLoc m:val="undOvr"/>
                    <m:subHide m:val="off"/>
                    <m:supHide m:val="on"/>
                  </m:naryPr>
                  <m:sub>
                    <m:r>
                      <m:t>c</m:t>
                    </m:r>
                  </m:sub>
                  <m:sup>
                    <m:r>
                      <m:t>​</m:t>
                    </m:r>
                  </m:sup>
                  <m:e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</m:sSub>
                      </m:num>
                      <m:den>
                        <m:r>
                          <m:t>N</m:t>
                        </m:r>
                      </m:den>
                    </m:f>
                  </m:e>
                </m:nary>
                <m:sSub>
                  <m:e>
                    <m:r>
                      <m:t>G</m:t>
                    </m:r>
                  </m:e>
                  <m:sub>
                    <m:r>
                      <m:t>c</m:t>
                    </m:r>
                  </m:sub>
                </m:sSub>
              </m:oMath>
            </a14:m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133088"/>
            <a:ext cx="420624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optimizes the reduction in Gini impurity across randomly selected feature subspaces.</a:t>
            </a:r>
            <a:endParaRPr lang="en-US" sz="8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024128"/>
          <a:ext cx="3474720" cy="914400"/>
        </p:xfrm>
        <a:graphic>
          <a:graphicData uri="http://schemas.openxmlformats.org/drawingml/2006/table">
            <a:tbl>
              <a:tblPr/>
              <a:tblGrid>
                <a:gridCol w="1111910"/>
                <a:gridCol w="833933"/>
                <a:gridCol w="15288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Ensemble Size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B = 200 / 500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Number of bagged trees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Depth Limit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d_max = 20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Prevents tree overfitting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Split Metric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Gini Impurity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Information impurity criterion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Feature Subset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m = sqrt(d) ~ 4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Random subspace dimension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166360" y="260604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0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Architectural Strengths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303520" y="2953512"/>
            <a:ext cx="3200400" cy="1591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Precision: Generates only 1 False Positive across 38,357 test transactions.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Interpretability: Transparent decision paths and feature impurity scoring.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High computational training time (~1187s).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Supervised Architecture 2: XGBoost Classifier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1024128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Gradient Boosted Decision Trees (GBDT):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Minimizes a regularized objective function using second-order Taylor expansion.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Incorporates explicit L1/L2 leaf regularization to prevent over-complex structures.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High Throughput: Trains in ~41.6s (28.5x faster than Random Forest ~1187s).
</a:t>
            </a:r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Tuned Hyperparameter Setup: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learning_rate (eta): 0.2 | n_estimators: 300 | max_depth: 8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subsample: 0.85 | colsample_bytree: 1.0 | eval_metric: "logloss"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448056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564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Regularized Objective Function (2nd-Order Taylor)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rPr>
                        <m:scr m:val="script"/>
                        <m:sty m:val="p"/>
                      </m:rPr>
                      <m:t>L</m:t>
                    </m:r>
                  </m:e>
                  <m:sup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sup>
                </m:sSup>
                <m:r>
                  <m:rPr>
                    <m:sty m:val="p"/>
                  </m:rPr>
                  <m:t>≈</m:t>
                </m:r>
                <m:nary>
                  <m:naryPr>
                    <m:chr m:val="∑"/>
                    <m:limLoc m:val="undOvr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sub>
                  <m:sup>
                    <m:r>
                      <m:t>n</m:t>
                    </m:r>
                  </m:sup>
                  <m:e>
                    <m:r>
                      <m:rPr>
                        <m:sty m:val="p"/>
                      </m:rPr>
                      <m:t>[</m:t>
                    </m:r>
                  </m:e>
                </m:nary>
                <m:sSub>
                  <m:e>
                    <m:r>
                      <m:t>g</m:t>
                    </m:r>
                  </m:e>
                  <m:sub>
                    <m:r>
                      <m:t>i</m:t>
                    </m:r>
                  </m:sub>
                </m:sSub>
                <m:sSub>
                  <m:e>
                    <m:r>
                      <m:t>f</m:t>
                    </m:r>
                  </m:e>
                  <m:sub>
                    <m:r>
                      <m:t>t</m:t>
                    </m:r>
                  </m:sub>
                </m:sSub>
                <m:r>
                  <m:rPr>
                    <m:sty m:val="p"/>
                  </m:rP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)</m:t>
                </m:r>
                <m:r>
                  <m:rPr>
                    <m:sty m:val="p"/>
                  </m:rPr>
                  <m:t>+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2</m:t>
                    </m:r>
                  </m:den>
                </m:f>
                <m:sSub>
                  <m:e>
                    <m:r>
                      <m:t>h</m:t>
                    </m:r>
                  </m:e>
                  <m:sub>
                    <m:r>
                      <m:t>i</m:t>
                    </m:r>
                  </m:sub>
                </m:sSub>
                <m:sSubSup>
                  <m:e>
                    <m:r>
                      <m:t>f</m:t>
                    </m:r>
                  </m:e>
                  <m:sub>
                    <m:r>
                      <m:t>t</m:t>
                    </m:r>
                  </m:sub>
                  <m:sup>
                    <m:r>
                      <m:t>2</m:t>
                    </m:r>
                  </m:sup>
                </m:sSubSup>
                <m:r>
                  <m:rPr>
                    <m:sty m:val="p"/>
                  </m:rP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rPr>
                    <m:sty m:val="p"/>
                  </m:rPr>
                  <m:t>)</m:t>
                </m:r>
                <m:r>
                  <m:rPr>
                    <m:sty m:val="p"/>
                  </m:rPr>
                  <m:t>]</m:t>
                </m:r>
                <m:r>
                  <m:rPr>
                    <m:sty m:val="p"/>
                  </m:rPr>
                  <m:t>+</m:t>
                </m:r>
                <m:r>
                  <m:t>γ</m:t>
                </m:r>
                <m:r>
                  <m:t>T</m:t>
                </m:r>
                <m:r>
                  <m:rPr>
                    <m:sty m:val="p"/>
                  </m:rPr>
                  <m:t>+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2</m:t>
                    </m:r>
                  </m:den>
                </m:f>
                <m:r>
                  <m:t>λ</m:t>
                </m:r>
                <m:nary>
                  <m:naryPr>
                    <m:chr m:val="∑"/>
                    <m:limLoc m:val="undOvr"/>
                    <m:subHide m:val="off"/>
                    <m:supHide m:val="off"/>
                  </m:naryPr>
                  <m:sub>
                    <m:r>
                      <m:t>j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sub>
                  <m:sup>
                    <m:r>
                      <m:t>T</m:t>
                    </m:r>
                  </m:sup>
                  <m:e>
                    <m:sSubSup>
                      <m:e>
                        <m:r>
                          <m:t>w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a14:m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133088"/>
            <a:ext cx="420624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g_i and h_i are 1st and 2nd order gradients of the loss function with respect to previous predictions.</a:t>
            </a:r>
            <a:endParaRPr lang="en-US" sz="88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024128"/>
          <a:ext cx="3474720" cy="914400"/>
        </p:xfrm>
        <a:graphic>
          <a:graphicData uri="http://schemas.openxmlformats.org/drawingml/2006/table">
            <a:tbl>
              <a:tblPr/>
              <a:tblGrid>
                <a:gridCol w="1111910"/>
                <a:gridCol w="833933"/>
                <a:gridCol w="15288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Objective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Loss + Omega(f)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Regularized loss formulation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Shrinkage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eta = 0.2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Step size scaling factor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Max Depth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d = 8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Max tree depth per boosting round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Subsample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rho = 0.85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Stochastic row sampling fraction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166360" y="260604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0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Advantages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303520" y="2953512"/>
            <a:ext cx="3200400" cy="1591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F1-score (99.63%) compared to Random Forest (99.73%).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low latency: &lt; 0.5ms single-sample inference time.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live financial transaction gateway screening.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Unsupervised Architecture 3: Deep Autoencoder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1024128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One-Class Semi-Supervised Anomaly Detection: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Network is trained EXCLUSIVELY on legitimate transactions (N = 122,744 normal samples).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Learns a low-dimensional manifold encoding normal transaction behavior.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Anomaly Scoring: Fraudulent instances fail reconstruction -&gt; Yield high Reconstruction Error.
</a:t>
            </a:r>
            <a:pPr indent="0" marL="0">
              <a:buNone/>
            </a:pPr>
            <a:r>
              <a:rPr lang="en-US" sz="1200" b="1" dirty="0">
                <a:solidFill>
                  <a:srgbClr val="1E295C"/>
                </a:solidFill>
              </a:rPr>
              <a:t>Architectural Specifications: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Symmetric Topology: 16 -&gt; 8 -&gt; 4 (Bottleneck) -&gt; 8 -&gt; 16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Optimizer: Adam (lr=1e-3) | Loss: MSE | Threshold: tau = 0.045456 (95th percentile)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448056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564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Reconstruction Loss &amp; Decision Cutoff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950" kern="1200"/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rPr>
                        <m:scr m:val="script"/>
                        <m:sty m:val="p"/>
                      </m:rPr>
                      <m:t>L</m:t>
                    </m:r>
                  </m:e>
                  <m:sub>
                    <m:r>
                      <m:rPr>
                        <m:nor/>
                        <m:sty m:val="p"/>
                      </m:rPr>
                      <m:t>MSE</m:t>
                    </m:r>
                  </m:sub>
                </m:sSub>
                <m:r>
                  <m:rPr>
                    <m:sty m:val="p"/>
                  </m:rPr>
                  <m:t>(</m:t>
                </m:r>
                <m:r>
                  <m:t>x</m:t>
                </m:r>
                <m:r>
                  <m:rPr>
                    <m:sty m:val="p"/>
                  </m:rPr>
                  <m:t>,</m:t>
                </m:r>
                <m:acc>
                  <m:accPr>
                    <m:chr m:val="̂"/>
                  </m:accPr>
                  <m:e>
                    <m:r>
                      <m:t>x</m:t>
                    </m:r>
                  </m:e>
                </m:acc>
                <m:r>
                  <m:rPr>
                    <m:sty m:val="p"/>
                  </m:rPr>
                  <m:t>)</m:t>
                </m:r>
                <m:r>
                  <m:rPr>
                    <m:sty m:val="p"/>
                  </m:rP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d</m:t>
                    </m:r>
                  </m:den>
                </m:f>
                <m:nary>
                  <m:naryPr>
                    <m:chr m:val="∑"/>
                    <m:limLoc m:val="undOvr"/>
                    <m:subHide m:val="off"/>
                    <m:supHide m:val="off"/>
                  </m:naryPr>
                  <m:sub>
                    <m:r>
                      <m:t>j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sub>
                  <m:sup>
                    <m:r>
                      <m:t>d</m:t>
                    </m:r>
                  </m:sup>
                  <m:e>
                    <m:r>
                      <m:rPr>
                        <m:sty m:val="p"/>
                      </m:rPr>
                      <m:t>(</m:t>
                    </m:r>
                  </m:e>
                </m:nary>
                <m:sSub>
                  <m:e>
                    <m:r>
                      <m:t>x</m:t>
                    </m:r>
                  </m:e>
                  <m:sub>
                    <m:r>
                      <m:t>j</m:t>
                    </m:r>
                  </m:sub>
                </m:sSub>
                <m:r>
                  <m:rPr>
                    <m:sty m:val="p"/>
                  </m:rP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x</m:t>
                        </m:r>
                      </m:e>
                    </m:acc>
                  </m:e>
                  <m:sub>
                    <m:r>
                      <m:t>j</m:t>
                    </m:r>
                  </m:sub>
                </m:sSub>
                <m:sSup>
                  <m:e>
                    <m:r>
                      <m:rPr>
                        <m:sty m:val="p"/>
                      </m:rPr>
                      <m:t>)</m:t>
                    </m:r>
                  </m:e>
                  <m:sup>
                    <m:r>
                      <m:t>2</m:t>
                    </m:r>
                  </m:sup>
                </m:sSup>
                <m:r>
                  <m:rPr>
                    <m:sty m:val="p"/>
                  </m:rPr>
                  <m:t>,</m:t>
                </m:r>
                <m:r>
                  <m:t> </m:t>
                </m:r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rPr>
                    <m:sty m:val="p"/>
                  </m:rPr>
                  <m:t>=</m:t>
                </m:r>
                <m:r>
                  <m:rPr>
                    <m:scr m:val="double-struck"/>
                    <m:sty m:val="p"/>
                  </m:rPr>
                  <m:t>I</m:t>
                </m:r>
                <m:r>
                  <m:rPr>
                    <m:sty m:val="p"/>
                  </m:rPr>
                  <m:t>(</m:t>
                </m:r>
                <m:sSub>
                  <m:e>
                    <m:r>
                      <m:rPr>
                        <m:scr m:val="script"/>
                        <m:sty m:val="p"/>
                      </m:rPr>
                      <m:t>L</m:t>
                    </m:r>
                  </m:e>
                  <m:sub>
                    <m:r>
                      <m:rPr>
                        <m:nor/>
                        <m:sty m:val="p"/>
                      </m:rPr>
                      <m:t>MSE</m:t>
                    </m:r>
                  </m:sub>
                </m:sSub>
                <m:r>
                  <m:rPr>
                    <m:sty m:val="p"/>
                  </m:rPr>
                  <m:t>&gt;</m:t>
                </m:r>
                <m:r>
                  <m:t>τ</m:t>
                </m:r>
                <m:r>
                  <m:rPr>
                    <m:sty m:val="p"/>
                  </m:rPr>
                  <m:t>)</m:t>
                </m:r>
              </m:oMath>
            </a14:m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133088"/>
            <a:ext cx="420624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with MSE exceeding the validation 95th percentile threshold tau are classified as anomalous.</a:t>
            </a:r>
            <a:endParaRPr lang="en-US" sz="88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024128"/>
          <a:ext cx="3474720" cy="914400"/>
        </p:xfrm>
        <a:graphic>
          <a:graphicData uri="http://schemas.openxmlformats.org/drawingml/2006/table">
            <a:tbl>
              <a:tblPr/>
              <a:tblGrid>
                <a:gridCol w="1111910"/>
                <a:gridCol w="833933"/>
                <a:gridCol w="15288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Bottleneck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z in R^4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Latent embedding representation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Loss Function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MSE(x, x_hat)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Mean squared reconstruction error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Activation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ReLU / Linear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Non-linear hidden layer mappings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5C"/>
                          </a:solidFill>
                        </a:rPr>
                        <a:t>Threshold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tau = 0.0455</a:t>
                      </a:r>
                      <a:endParaRPr lang="en-US" sz="9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95th percentile validation cutoff</a:t>
                      </a:r>
                      <a:endParaRPr lang="en-US" sz="8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166360" y="260604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0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Zero-Day Detection Role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303520" y="2953512"/>
            <a:ext cx="3200400" cy="1591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75.23% Recall without observing any fraud labels during training.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complementary defense layer for novel, unseen attack signatures.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OF INFORMATION TECHNOLOGY, VNU-HCM  •  CS106 FINAL DEFENSE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886200" y="11887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04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EXPERIMENTS, RESULTS &amp; COMPARATIVE EVALUATION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52928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1E295C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Performance Benchmark (Precision, Recall, F1, AUC)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False Alarm vs. Missed Fraud Trade-offs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Attribution &amp; Gain Contributions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Anomaly Thresholding &amp; Reconstruction Dynamics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Experimental Results: Benchmark Comparison (N = 40,000)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8138160" cy="2148840"/>
        </p:xfrm>
        <a:graphic>
          <a:graphicData uri="http://schemas.openxmlformats.org/drawingml/2006/table">
            <a:tbl>
              <a:tblPr/>
              <a:tblGrid>
                <a:gridCol w="1162594"/>
                <a:gridCol w="1162594"/>
                <a:gridCol w="1162594"/>
                <a:gridCol w="1162594"/>
                <a:gridCol w="1162594"/>
                <a:gridCol w="1162594"/>
                <a:gridCol w="1162594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Architecture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Resampling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E047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</a:rPr>
                        <a:t>Train Time</a:t>
                      </a:r>
                      <a:endParaRPr lang="en-US" sz="12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5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SMOTE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0.9994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0.9951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0.9973 (Best)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0.9994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5C"/>
                          </a:solidFill>
                        </a:rPr>
                        <a:t>1187.7s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ADASYN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0.9982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0.9951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0.9966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0.9992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1167.5s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SMOTE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0.9976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0.9951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0.9963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0.9993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41.6s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ADASYN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0.9957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0.9951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0.9954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0.9994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41.5s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Autoencoder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None (One-Class)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0.3822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0.7523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0.5069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0.9318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215.3s</a:t>
                      </a:r>
                      <a:endParaRPr lang="en-US" sz="95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02920" y="3291840"/>
            <a:ext cx="8138160" cy="1325880"/>
          </a:xfrm>
          <a:prstGeom prst="roundRect">
            <a:avLst>
              <a:gd name="adj" fmla="val 3448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383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Empirical Deductions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3639312"/>
            <a:ext cx="7863840" cy="905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SMOTE achieves peak F1-Score (99.73%) with only 1 False Positive across 38,357 legitimate test samples.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near-identical classification performance (F1 99.63%) with 28.5x computational speedup.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detects 75.23% of fraud cases in an entirely unsupervised setting without seeing fraud labels.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 &amp; Error Distribution Analysis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850" dirty="0"/>
          </a:p>
        </p:txBody>
      </p:sp>
      <p:pic>
        <p:nvPicPr>
          <p:cNvPr id="17" name="Image 0" descr="/Users/tcdtist/dev/uit/cs106/assignments/Final/draft/fraud-detection/reports/slide_assets/academic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8138160" cy="2286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2920" y="342900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5204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Negative &amp; False Positive Trade-off Analysis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3776472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Random Forest and XGBoost miss only 8 fraud instances out of 1,643 true fraud cases (Recall = 99.51%).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RF-SMOTE generates only 1 False Alarm (FP=1), whereas Autoencoder generates 1,998 FP due to unsupervised 95% cutoff.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Importance: XGBoost Decision Split Gains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850" dirty="0"/>
          </a:p>
        </p:txBody>
      </p:sp>
      <p:pic>
        <p:nvPicPr>
          <p:cNvPr id="17" name="Image 0" descr="/Users/tcdtist/dev/uit/cs106/assignments/Final/draft/fraud-detection/reports/slide_assets/academic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389120" cy="238798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2920" y="3549275"/>
            <a:ext cx="4389120" cy="1051560"/>
          </a:xfrm>
          <a:prstGeom prst="roundRect">
            <a:avLst>
              <a:gd name="adj" fmla="val 4348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640715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 Insights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3896747"/>
            <a:ext cx="4114800" cy="6309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features contribute &gt; 97% of total tree split decisions.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balance amounts without discrepancy deltas have low predictive power.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74920" y="105156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</a:rPr>
              <a:t>Insights from XGBoost Feature Gain: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errorBalanceOrig accounts for ~49.9% of model decision splits.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newbalanceOrig provides ~47.2% additional predictive power.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Combined Impact: Engineered ledger discrepancies capture over 97% of overall fraud dynamics, proving the critical efficacy of domain feature engineering.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 Evaluation: Precision, Recall &amp; F1-Score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850" dirty="0"/>
          </a:p>
        </p:txBody>
      </p:sp>
      <p:pic>
        <p:nvPicPr>
          <p:cNvPr id="17" name="Image 0" descr="/Users/tcdtist/dev/uit/cs106/assignments/Final/draft/fraud-detection/reports/slide_assets/academic_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480560" cy="211546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2920" y="3276755"/>
            <a:ext cx="4480560" cy="1280160"/>
          </a:xfrm>
          <a:prstGeom prst="roundRect">
            <a:avLst>
              <a:gd name="adj" fmla="val 357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368195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Benchmarking Synthesis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3624227"/>
            <a:ext cx="4206240" cy="859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achieves superior boundary separation over ADASYN.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methods strongly dominate unsupervised reconstruction in known fraud types.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166360" y="10515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</a:rPr>
              <a:t>Resampling Performance Analysis: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SMOTE consistently outperforms ADASYN across all decision tree architectures.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ADASYN synthesizes excess noise instances in boundary overlap zones, slightly increasing False Positives.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Recommendation: Deploy XGBoost + SMOTE for optimal inference throughput and fraud detection precision in live production environments.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Autoencoder Anomaly Thresholding &amp; Decision Boundary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850" dirty="0"/>
          </a:p>
        </p:txBody>
      </p:sp>
      <p:pic>
        <p:nvPicPr>
          <p:cNvPr id="17" name="Image 0" descr="/Users/tcdtist/dev/uit/cs106/assignments/Final/draft/fraud-detection/reports/slide_assets/academic_autoencoder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389120" cy="228838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2920" y="3449672"/>
            <a:ext cx="4389120" cy="11430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541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 Calibration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3797144"/>
            <a:ext cx="4114800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 = 0.0455 (95th percentile) optimizes the F1-Score trade-off curve.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model successfully flags 1,236 true fraud events.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74920" y="105156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5C"/>
                </a:solidFill>
              </a:rPr>
              <a:t>Threshold Sweep Dynamics: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95th Percentile (tau = 0.0455):
Balances Recall (75.2%) with Precision (38.2%).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99.9th Percentile (tau = 0.7460):
Precision jumps to 91.5% but Recall drops to 25.4%.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Operational Role: Excellent as a secondary zero-day defense layer for unlabelled novel fraud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OF INFORMATION TECHNOLOGY, VNU-HCM  •  CS106 FINAL DEFENSE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886200" y="11887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05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SYSTEM &amp; FUTURE ROADMAP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52928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1E295C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Real-Time Inference Dashboard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Academic &amp; Engineering Contributions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Limitations &amp; Graph Neural Network (GNN) Roadmap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Demonstration: Streamlit Real-Time Dashboard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51560"/>
            <a:ext cx="3931920" cy="3520440"/>
          </a:xfrm>
          <a:prstGeom prst="roundRect">
            <a:avLst>
              <a:gd name="adj" fmla="val 1299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143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Inference Architecture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1399032"/>
            <a:ext cx="3657600" cy="3099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Streamlit UI with dynamic risk probability gauges and visual status cards.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feature extraction engine transforming raw user inputs into the 14-dimension engineered vector.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serialized XGBoost and Random Forest pipelines via Joblib.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single-transaction inference latency (&lt; 1ms).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3931920" cy="3520440"/>
          </a:xfrm>
          <a:prstGeom prst="roundRect">
            <a:avLst>
              <a:gd name="adj" fmla="val 1299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Demonstrated Simulation Scenarios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1399032"/>
            <a:ext cx="3657600" cy="3099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(Normal Transfer): Standard transaction with valid balances -&gt; Model Output: SAFE (Risk Probability &lt; 0.1%).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(Account Drain): High-amount transfer leaving zero origin balance -&gt; Model Output: HIGH RISK FRAUD (Risk Probability &gt; 99.8%).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Scoring: Allows bulk processing and compliance report exports.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UIT • VNU-HCM | CS106 (AI)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758184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58184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4745736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5736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EDA &amp; Features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33288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Methodology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Evaluation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708392" y="146304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463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 &amp; Future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of Contributions &amp; Future Research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346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CS106: Artificial Intelligence — Team 09 — Final Project: Financial Fraud Detection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051560"/>
            <a:ext cx="3931920" cy="3520440"/>
          </a:xfrm>
          <a:prstGeom prst="roundRect">
            <a:avLst>
              <a:gd name="adj" fmla="val 129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143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Project Contributions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1399032"/>
            <a:ext cx="3657600" cy="3099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Protocol: 80/20 stratified partition preventing synthetic data contamination.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Engineering: 14 synthesized features capturing &gt; 97% of tree split gains.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Benchmark: F1-Score = 99.73% and Recall = 99.51% (missing only 8 out of 1,643 frauds).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Deployment: Ready-to-use Streamlit dashboard for real-time risk screening.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3931920" cy="3520440"/>
          </a:xfrm>
          <a:prstGeom prst="roundRect">
            <a:avLst>
              <a:gd name="adj" fmla="val 1299"/>
            </a:avLst>
          </a:prstGeom>
          <a:solidFill>
            <a:srgbClr val="F0F7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Research Roadmap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1399032"/>
            <a:ext cx="3657600" cy="3099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(GNN): Deploy GCN / GraphSAGE to uncover structured money-laundering subgraphs.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Ingestion: Integrate Apache Kafka / Flink for distributed sub-second streaming transactions.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(XAI): Integrate SHAP / TreeExplainer for regulatory compliant transaction audit logs.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ATTENTION!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DE0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CS106: ARTIFICIAL INTELLIGENCE  •  FINAL PROJECT DEFENSE  •  TEAM 09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34440" y="1783080"/>
            <a:ext cx="6675120" cy="2880360"/>
          </a:xfrm>
          <a:prstGeom prst="roundRect">
            <a:avLst>
              <a:gd name="adj" fmla="val 2540"/>
            </a:avLst>
          </a:prstGeom>
          <a:solidFill>
            <a:srgbClr val="1E295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9019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ACADEMIC REFERENCES &amp; PROJECT REPOSITORY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508760" y="2240280"/>
            <a:ext cx="61264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E. A. Lopez-Rojas, A. Elmir, S. Axelsson.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"PaySim: A Financial Mobile Money Simulator for Fraud Detection", 28th EMSS, 2016.
</a:t>
            </a:r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T. Chen, C. Guestrin.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"XGBoost: A Scalable Tree Boosting System", Proc. 22nd ACM SIGKDD, 2016.
</a:t>
            </a:r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N. V. Chawla, K. W. Bowyer, L. O. Hall, W. P. Kegelmeyer.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"SMOTE: Synthetic Minority Over-sampling Technique", JAIR, 2002.
</a:t>
            </a:r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L. Breiman.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"Random Forests", Machine Learning, 45(1), pp. 5-32, 2001.
</a:t>
            </a:r>
            <a:pPr indent="0" marL="0">
              <a:buNone/>
            </a:pPr>
            <a:r>
              <a:rPr lang="en-US" sz="95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Project Submodule: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https://github.com/uit-25730067-chithanh/CS106-Team09-Fraud-Detection
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cordially welcome all questions, feedback, and discussions from the Committee.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2026-09-01T06:15:50Z</dcterms:created>
  <dcterms:modified xsi:type="dcterms:W3CDTF">2026-09-01T06:15:50Z</dcterms:modified>
</cp:coreProperties>
</file>