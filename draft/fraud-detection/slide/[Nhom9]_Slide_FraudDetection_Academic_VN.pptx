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KHOA KHOA HỌC MÁY TÍNH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1188720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PHÁT HIỆN GIAN LẬN TÀI CHÍNH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3C5F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Ứng dụng Machine Learning &amp; Deep Learning trên Tập dữ liệu Mô phỏng PaySim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2514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học: CS106 - Trí tuệ Nhân tạo  |  GVHD: PGS.TS. Nguyễn Đình Hiển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788920" y="2971800"/>
            <a:ext cx="1188720" cy="0"/>
          </a:xfrm>
          <a:prstGeom prst="line">
            <a:avLst/>
          </a:prstGeom>
          <a:noFill/>
          <a:ln w="25400">
            <a:solidFill>
              <a:srgbClr val="93C5F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0" y="285292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 09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166360" y="2971800"/>
            <a:ext cx="1188720" cy="0"/>
          </a:xfrm>
          <a:prstGeom prst="line">
            <a:avLst/>
          </a:prstGeom>
          <a:noFill/>
          <a:ln w="25400">
            <a:solidFill>
              <a:srgbClr val="93C5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33756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Trần Hoàng Hôn (26410046)  •  Đặng Chí Thanh (25730067)  •  Nguyễn Duy Khang (26410055)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Hoàng Cao Sơn (25730061)  •  Vũ Văn Duy (26410031)  •  Bùi Thị Mỷ Cẩm (25730013)  •  Phạm Thanh Trung (26410141)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443484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TP. Hồ Chí Minh, Tháng 09/2026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 BÁO CÁO &amp; LỘ TRÌNH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024128"/>
            <a:ext cx="685800" cy="59436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02412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102412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</a:rPr>
              <a:t>Giới thiệu &amp; Phát biểu Bài toán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B5563"/>
                </a:solidFill>
              </a:rPr>
              <a:t>Bối cảnh tài chính, Extreme Class Imbalance (0.13%) và Cost Asymmetry.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1755648"/>
            <a:ext cx="685800" cy="594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75564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175564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</a:rPr>
              <a:t>Phân tích Khám phá Dữ liệu &amp; Kỹ thuật Đặc trưng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B5563"/>
                </a:solidFill>
              </a:rPr>
              <a:t>Khu biệt loại giao dịch, dấu vết rút cạn số dư và 14 engineered features.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" y="2487168"/>
            <a:ext cx="685800" cy="5943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48716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248716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</a:rPr>
              <a:t>Phương pháp Đề xuất &amp; Kiến trúc Pipeline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B5563"/>
                </a:solidFill>
              </a:rPr>
              <a:t>Quy chuẩn Leak-Free, Random Forest vs. XGBoost và Deep Autoencoder.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3218688"/>
            <a:ext cx="685800" cy="5943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21868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321868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</a:rPr>
              <a:t>Kết quả Thực nghiệm &amp; Đánh giá So sánh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B5563"/>
                </a:solidFill>
              </a:rPr>
              <a:t>Benchmark đa chỉ số, Confusion Matrix, Feature Split Gains và Anomaly Cutoff.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3950208"/>
            <a:ext cx="685800" cy="59436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5020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395020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</a:rPr>
              <a:t>Hệ thống Demo &amp; Định hướng Tương lai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B5563"/>
                </a:solidFill>
              </a:rPr>
              <a:t>Dashboard Streamlit thời gian thực, kịch bản kiểm thử và lộ trình mở rộng GNN.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 &amp; PHÁT BIỂU BÀI TOÁN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Bối cảnh Công nghiệp &amp; Sự bùng nổ Mobile Money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Thách thức Extreme Class Imbalance (~0.13%) &amp; Tổn thất Bất đối xứng (Cost Asymmetry)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Phát biểu Bài toán Hình thức &amp; Mục tiêu Nghiên cứu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Động lực Nghiên cứu &amp; Thách thức Kỹ thuật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21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" y="987552"/>
            <a:ext cx="4389120" cy="36576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</a:rPr>
              <a:t>1. Bối cảnh Thực tiễn &amp; Quy mô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2937"/>
                </a:solidFill>
              </a:rPr>
              <a:t>• Giao dịch Mobile Money tăng trưởng bùng nổ, kéo theo các thủ đoạn gian lận tinh vi.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2937"/>
                </a:solidFill>
              </a:rPr>
              <a:t>• Hệ thống phòng thủ đòi hỏi độ trễ suy luận real-time (&lt; 100ms) trước khi tiền bị tẩu tán.
</a:t>
            </a:r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</a:rPr>
              <a:t>2. Thách thức Extreme Class Imbalance (~0.13%)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2937"/>
                </a:solidFill>
              </a:rPr>
              <a:t>• Gian lận chỉ chiếm ~1 trên 800 giao dịch (8,213 ca trên 6.36M sự kiện trong PaySim).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2937"/>
                </a:solidFill>
              </a:rPr>
              <a:t>• Cost Asymmetry: Bỏ sót gian lận (FN) gây mất vốn trực tiếp, trong khi Báo động nhầm (FP) chỉ gây gián đoạn trải nghiệm người dùng.
</a:t>
            </a:r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</a:rPr>
              <a:t>3. Hành vi Gian lận Phi tĩnh (Non-Stationary)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2937"/>
                </a:solidFill>
              </a:rPr>
              <a:t>• Kẻ gian liên tục biến đổi thủ đoạn luân chuyển tiền để lẩn tránh các bộ lọc luật tĩnh.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74920" y="987552"/>
            <a:ext cx="356616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66360" y="100584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Ký hiệu Toán học &amp; Khái niệm Cốt lõi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243584"/>
          <a:ext cx="3566160" cy="914400"/>
        </p:xfrm>
        <a:graphic>
          <a:graphicData uri="http://schemas.openxmlformats.org/drawingml/2006/table">
            <a:tbl>
              <a:tblPr/>
              <a:tblGrid>
                <a:gridCol w="1141171"/>
                <a:gridCol w="998525"/>
                <a:gridCol w="142646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 ∈ {0, 1}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Target Label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= Fraud (Gian lận), 0 = Legitimate (Hợp lệ)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IR ≈ 0.13%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Imbalance Ratio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8,213 ca gian lận trên 6.36M giao dịch tổng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Recall / PR-AUC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Metric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Tối đa hóa bắt gian lận, Accuracy bị vô hiệu hóa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C_FN &gt;&gt; C_FP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Cost Asymmetry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Phạt bỏ sót gian lận lớn hơn nhiều cảnh báo nhầm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074920" y="2606040"/>
            <a:ext cx="3566160" cy="20116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212080" y="2679192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Mục tiêu Nghiên cứu Cốt lõi</a:t>
            </a:r>
            <a:endParaRPr lang="en-US" sz="1030" dirty="0"/>
          </a:p>
        </p:txBody>
      </p:sp>
      <p:sp>
        <p:nvSpPr>
          <p:cNvPr id="13" name="Text 10"/>
          <p:cNvSpPr/>
          <p:nvPr/>
        </p:nvSpPr>
        <p:spPr>
          <a:xfrm>
            <a:off x="5212080" y="2898648"/>
            <a:ext cx="3291840" cy="16459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Xây dựng end-to-end ML pipeline chuẩn, đảm bảo Leak-Free tuyệt đối.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Thiết kế 14 domain features bắt trọn sai lệch số dư sổ cái.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Đối chuẩn Ensemble Trees với Unsupervised Deep Autoencoder bắt Zero-Day.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Triển khai interactive dashboard phục vụ ra quyết định thời gian thực.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Tập Dữ liệu PaySim: Thuộc tính Thống kê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2621280" cy="7498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042416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</a:rPr>
              <a:t>Quy mô Mẫu sau Downsample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225296"/>
            <a:ext cx="243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</a:rPr>
              <a:t>N = 200,000 sự kiện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94360" y="1517904"/>
            <a:ext cx="2438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</a:rPr>
              <a:t>Stratified sample bảo toàn 100% fraud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261360" y="987552"/>
            <a:ext cx="2621280" cy="74980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2800" y="1042416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</a:rPr>
              <a:t>Số ca Gian lận (isFraud = 1)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52800" y="1225296"/>
            <a:ext cx="243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C2626"/>
                </a:solidFill>
              </a:rPr>
              <a:t>8,213 ca ground-truth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352800" y="1517904"/>
            <a:ext cx="2438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</a:rPr>
              <a:t>Tập trung tuyệt đối ở 2 loại giao dịch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019800" y="987552"/>
            <a:ext cx="2621280" cy="7498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11240" y="1042416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</a:rPr>
              <a:t>Không gian Đặc trưng Mở rộng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111240" y="1225296"/>
            <a:ext cx="243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</a:rPr>
              <a:t>11 → 14 Đặc trưng Miền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111240" y="1517904"/>
            <a:ext cx="2438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</a:rPr>
              <a:t>Bổ sung các phương trình sai lệch số dư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47088"/>
          <a:ext cx="8138160" cy="914400"/>
        </p:xfrm>
        <a:graphic>
          <a:graphicData uri="http://schemas.openxmlformats.org/drawingml/2006/table">
            <a:tbl>
              <a:tblPr/>
              <a:tblGrid>
                <a:gridCol w="2604211"/>
                <a:gridCol w="1871777"/>
                <a:gridCol w="366217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Đặc trưng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Kiểu Dữ liệu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Ý nghĩa Miền &amp; Nghiệp vụ Giao dịch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step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nguyên (Integer)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Bước thời gian theo giờ (1..744, tương ứng 30 ngày mô phỏng)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DC26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type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Phân loại (Categorical)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Loại giao dịch: CASH_OUT, TRANSFER, PAYMENT, CASH_IN, DEBIT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amount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Liên tục (Continuous)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tiền thực hiện giao dịch (đơn vị tiền tệ cục bộ)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oldbalanceOrg / newbalanceOrig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Liên tục (Continuous)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dư trước và ngay sau giao dịch của tài khoản nguồn (sender)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oldbalanceDest / newbalanceDest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Liên tục (Continuous)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dư trước và ngay sau giao dịch của tài khoản đích (recipient)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02920" y="3730752"/>
            <a:ext cx="8138160" cy="89611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380390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Quan trọng từ Phân bố Dữ liệu</a:t>
            </a:r>
            <a:endParaRPr lang="en-US" sz="1010" dirty="0"/>
          </a:p>
        </p:txBody>
      </p:sp>
      <p:sp>
        <p:nvSpPr>
          <p:cNvPr id="22" name="Text 19"/>
          <p:cNvSpPr/>
          <p:nvPr/>
        </p:nvSpPr>
        <p:spPr>
          <a:xfrm>
            <a:off x="640080" y="4023360"/>
            <a:ext cx="7863840" cy="53035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tất cả các ca gian lận trong 6.36M giao dịch CHỈ xuất hiện ở 2 loại: TRANSFER và CASH_OUT. Các loại PAYMENT, CASH_IN và DEBIT hoàn toàn an toàn (0% gian lận). Do đó, bước tiền xử lý lọc chỉ giữ lại TRANSFER &amp; CASH_OUT giúp triệt tiêu 70% dữ liệu nhiễu.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KHÁM PHÁ DỮ LIỆU &amp; KỸ THUẬT ĐẶC TRƯNG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Dấu vết Hành vi Thực nghiệm (Behavioral Signatures)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thức Toán học của 14 Engineered Domain Features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Xử lý Mất cân bằng Lớp: SMOTE vs. ADASYN Formulation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Khám phá Dữ liệu: Dấu vết Hành vi Cốt lõi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005840"/>
            <a:ext cx="2621280" cy="3584448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143000"/>
            <a:ext cx="2346960" cy="3200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143000"/>
            <a:ext cx="234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100% GIAN LẬN KHU BIỆT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1554480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</a:rPr>
              <a:t>Phát hiện 1: Khu biệt Loại Giao dịch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874520"/>
            <a:ext cx="2346960" cy="2532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100% gian lận xảy ra duy nhất ở 2 loại giao dịch: </a:t>
            </a:r>
            <a:pPr indent="0" marL="0">
              <a:lnSpc>
                <a:spcPct val="122000"/>
              </a:lnSpc>
              <a:buNone/>
            </a:pPr>
            <a:r>
              <a:rPr lang="en-US" sz="980" b="1" dirty="0">
                <a:solidFill>
                  <a:srgbClr val="DC2626"/>
                </a:solidFill>
              </a:rPr>
              <a:t>TRANSFER và CASH_OUT.
</a:t>
            </a:r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Các loại PAYMENT, CASH_IN, DEBIT hoàn toàn không có gian lận (0%).
</a:t>
            </a:r>
            <a:pPr indent="0" marL="0">
              <a:lnSpc>
                <a:spcPct val="122000"/>
              </a:lnSpc>
              <a:buNone/>
            </a:pPr>
            <a:r>
              <a:rPr lang="en-US" sz="980" b="1" dirty="0">
                <a:solidFill>
                  <a:srgbClr val="2563EB"/>
                </a:solidFill>
              </a:rPr>
              <a:t>• Hành động Pipeline: </a:t>
            </a:r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Lọc tập dữ liệu chỉ giữ lại TRANSFER &amp; CASH_OUT, triệt tiêu ngay 70% dữ liệu nhiễu vô ích.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3261360" y="1005840"/>
            <a:ext cx="2621280" cy="3584448"/>
          </a:xfrm>
          <a:prstGeom prst="rect">
            <a:avLst/>
          </a:prstGeom>
          <a:solidFill>
            <a:srgbClr val="FEF2F2"/>
          </a:solidFill>
          <a:ln w="19050">
            <a:solidFill>
              <a:srgbClr val="FECA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98520" y="1143000"/>
            <a:ext cx="234696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4" name="Text 12"/>
          <p:cNvSpPr/>
          <p:nvPr/>
        </p:nvSpPr>
        <p:spPr>
          <a:xfrm>
            <a:off x="3398520" y="1143000"/>
            <a:ext cx="234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97.56% TỔNG SỐ CA GIAN LẬN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98520" y="1554480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</a:rPr>
              <a:t>Phát hiện 2: Vét Sạch Số Dư Nguồn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98520" y="1874520"/>
            <a:ext cx="2346960" cy="2532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Trong 97.56% giao dịch gian lận, tài khoản nạn nhân bị rút cạn sạch về 0: </a:t>
            </a:r>
            <a:pPr indent="0" marL="0">
              <a:lnSpc>
                <a:spcPct val="122000"/>
              </a:lnSpc>
              <a:buNone/>
            </a:pPr>
            <a:r>
              <a:rPr lang="en-US" sz="980" b="1" dirty="0">
                <a:solidFill>
                  <a:srgbClr val="21295C"/>
                </a:solidFill>
              </a:rPr>
              <a:t>newbalanceOrig == 0.
</a:t>
            </a:r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Kẻ gian tối đa hóa số tiền lấy cắp trong 1 lần duy nhất trước khi bị khóa thẻ.
</a:t>
            </a:r>
            <a:pPr indent="0" marL="0">
              <a:lnSpc>
                <a:spcPct val="122000"/>
              </a:lnSpc>
              <a:buNone/>
            </a:pPr>
            <a:r>
              <a:rPr lang="en-US" sz="980" b="1" dirty="0">
                <a:solidFill>
                  <a:srgbClr val="DC2626"/>
                </a:solidFill>
              </a:rPr>
              <a:t>• Tín hiệu Cốt lõi: </a:t>
            </a:r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Tỷ lệ rút cạn tài khoản đóng vai trò phân loại chính xác hàng đầu.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019800" y="1005840"/>
            <a:ext cx="2621280" cy="3584448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56960" y="1143000"/>
            <a:ext cx="2346960" cy="3200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9" name="Text 17"/>
          <p:cNvSpPr/>
          <p:nvPr/>
        </p:nvSpPr>
        <p:spPr>
          <a:xfrm>
            <a:off x="6156960" y="1143000"/>
            <a:ext cx="234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BẤT THƯỜNG BIẾN ĐỘNG SỐ DƯ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56960" y="1554480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</a:rPr>
              <a:t>Phát hiện 3: Sai Lệch Sổ Cái Đích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56960" y="1874520"/>
            <a:ext cx="2346960" cy="2532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Tỷ lệ lớn giao dịch gian lận không làm tăng số dư tài khoản đích theo sổ sách: </a:t>
            </a:r>
            <a:pPr indent="0" marL="0">
              <a:lnSpc>
                <a:spcPct val="122000"/>
              </a:lnSpc>
              <a:buNone/>
            </a:pPr>
            <a:r>
              <a:rPr lang="en-US" sz="980" b="1" dirty="0">
                <a:solidFill>
                  <a:srgbClr val="21295C"/>
                </a:solidFill>
              </a:rPr>
              <a:t>newbalanceDest ≈ 0.
</a:t>
            </a:r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Phản ánh tài khoản rác (mule account) hoặc luân chuyển rửa tiền đa tầng tức thì.
</a:t>
            </a:r>
            <a:pPr indent="0" marL="0">
              <a:lnSpc>
                <a:spcPct val="122000"/>
              </a:lnSpc>
              <a:buNone/>
            </a:pPr>
            <a:r>
              <a:rPr lang="en-US" sz="980" b="1" dirty="0">
                <a:solidFill>
                  <a:srgbClr val="2563EB"/>
                </a:solidFill>
              </a:rPr>
              <a:t>• Tín hiệu Cốt lõi: </a:t>
            </a:r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Sai lệch số dư đích vạch trần hành vi rút tiền bất hợp pháp.</a:t>
            </a:r>
            <a:endParaRPr lang="en-US" sz="9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Kỹ thuật Đặc trưng: 14 Thuộc tính Miền Cốt lõi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4251960" cy="107899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042416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5C"/>
                </a:solidFill>
              </a:rPr>
              <a:t>1. Sai lệch Số dư Nguồn (Delta Orig)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61872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errorBalanceOrig = oldbalanceOrg - amount - newbalanceOrig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640080" y="15361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Đo lường sai lệch giữa số dư kỳ vọng và số dư thực tế tài khoản nguồn.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02920" y="2157984"/>
            <a:ext cx="4251960" cy="107899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212848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5C"/>
                </a:solidFill>
              </a:rPr>
              <a:t>2. Sai lệch Số dư Đích (Delta Dest)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243230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errorBalanceDest = oldbalanceDest + amount - newbalanceDest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640080" y="2706624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Ghi nhận bất thường không ghi có hoặc luân chuyển tiền đa tầng tức thì.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502920" y="3328416"/>
            <a:ext cx="4251960" cy="1243584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38328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3. Cờ Vét sạch Tài khoản &amp; Chu kỳ Giờ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602736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drain_flag = (oldbalanceOrg &gt; 0) &amp; (newbalanceOrig == 0)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 = step % 24   |   is_overnight = 1 if hour ∈ [0..5] else 0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0080" y="404164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Bắt trọn hành vi vét sạch tài khoản trong 1 bước và tấn công tự động ban đêm.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4983480" y="987552"/>
            <a:ext cx="365760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74920" y="100584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Bảng chú giải biến &amp; ký hiệu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243584"/>
          <a:ext cx="365760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914400"/>
                <a:gridCol w="12070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errorBalanceOrig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lệch Nguồn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 chênh lệch giữa số dư tính toán và thực tế nguồn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errorBalanceDest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lệch Đích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 lệch ghi có tại tài khoản nhận tiền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drain_flag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Cờ Vét sạch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nếu số dư nguồn bị rút sạch về 0, ngược lại 0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hour / overnight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Chu kỳ Giờ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Giờ trong ngày (0..23); 1 nếu giao dịch từ 0h - 5h sáng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4983480" y="2697480"/>
            <a:ext cx="3657600" cy="187452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120640" y="2770632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Đúc kết Feature Importance</a:t>
            </a:r>
            <a:endParaRPr lang="en-US" sz="980" dirty="0"/>
          </a:p>
        </p:txBody>
      </p:sp>
      <p:sp>
        <p:nvSpPr>
          <p:cNvPr id="24" name="Text 21"/>
          <p:cNvSpPr/>
          <p:nvPr/>
        </p:nvSpPr>
        <p:spPr>
          <a:xfrm>
            <a:off x="5120640" y="2990088"/>
            <a:ext cx="3383280" cy="15087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Hai biến errorBalanceOrig (49.9%) và newbalanceOrig (47.2%) chiếm &gt; 97.1% tổng Feature Split Gains.</a:t>
            </a:r>
            <a:endParaRPr lang="en-US" sz="90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Engineering tạo bước nhảy vọt so với chỉ dùng các trường số tiền gốc.</a:t>
            </a:r>
            <a:endParaRPr lang="en-US" sz="90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tắc Chống Rò rỉ: Toàn bộ 14 features được scale chuẩn hóa nghiêm ngặt CHỈ trên tập Train.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Xử lý Mất cân bằng Lớp: SMOTE vs. ADASYN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8138160" cy="65836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024128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Accuracy Paradox trong Bài toán Phân lớp Mất cân bằng Cực đoan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1225296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F2937"/>
                </a:solidFill>
              </a:rPr>
              <a:t>Một mô hình ngây thơ luôn dự đoán 100% là "Hợp lệ" vẫn đạt Accuracy 99.87% nhưng bỏ sót 100% gian lận! Do đó, đánh giá mô hình phải dẫn dắt bởi Precision, Recall, F1-Score và PR-AUC (Precision-Recall AUC).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1737360"/>
            <a:ext cx="3954780" cy="28346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6804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</a:rPr>
              <a:t>Kỹ thuật Nội suy Mẫu SMOTE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066544"/>
            <a:ext cx="36804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093976"/>
            <a:ext cx="35890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x_new = x_i + λ · (x_zi - x_i),    với  λ ∈ [0, 1]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640080" y="2468880"/>
            <a:ext cx="3680460" cy="20299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920" b="1" dirty="0">
                <a:solidFill>
                  <a:srgbClr val="21295C"/>
                </a:solidFill>
              </a:rPr>
              <a:t>• Cơ chế: </a:t>
            </a:r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1F2937"/>
                </a:solidFill>
              </a:rPr>
              <a:t>Nội suy mẫu nhân tạo thiểu số dọc theo đoạn thẳng nối các láng giềng k-NN trong Latent Space.
</a:t>
            </a:r>
            <a:pPr indent="0" marL="0">
              <a:lnSpc>
                <a:spcPct val="120000"/>
              </a:lnSpc>
              <a:buNone/>
            </a:pPr>
            <a:r>
              <a:rPr lang="en-US" sz="920" b="1" dirty="0">
                <a:solidFill>
                  <a:srgbClr val="2563EB"/>
                </a:solidFill>
              </a:rPr>
              <a:t>• Ưu điểm: </a:t>
            </a:r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1F2937"/>
                </a:solidFill>
              </a:rPr>
              <a:t>Tạo Decision Boundary rõ nét, phân tách tốt giữa Fraud và Legitimate.
</a:t>
            </a:r>
            <a:pPr indent="0" marL="0">
              <a:lnSpc>
                <a:spcPct val="120000"/>
              </a:lnSpc>
              <a:buNone/>
            </a:pPr>
            <a:r>
              <a:rPr lang="en-US" sz="920" b="1" dirty="0">
                <a:solidFill>
                  <a:srgbClr val="21295C"/>
                </a:solidFill>
              </a:rPr>
              <a:t>• Kết quả Thực nghiệm: </a:t>
            </a:r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1F2937"/>
                </a:solidFill>
              </a:rPr>
              <a:t>Đạt F1-Score cao nhất (99.73%), chỉ tạo đúng 1 False Positive trên 38,357 mẫu test.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686300" y="1737360"/>
            <a:ext cx="39547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77740" y="1755648"/>
            <a:ext cx="37719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Bảng chú giải biến &amp; ký hiệu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6300" y="1993392"/>
          <a:ext cx="3954780" cy="914400"/>
        </p:xfrm>
        <a:graphic>
          <a:graphicData uri="http://schemas.openxmlformats.org/drawingml/2006/table">
            <a:tbl>
              <a:tblPr/>
              <a:tblGrid>
                <a:gridCol w="1423721"/>
                <a:gridCol w="1107338"/>
                <a:gridCol w="142372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x_i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Mẫu Thiểu số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đặc trưng giao dịch gian lận gốc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x_zi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Láng giềng k-NN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Mẫu gian lận lân cận gần nhất được chọn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λ ∈ [0, 1]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Hệ số Nội suy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thực ngẫu nhiên xác định vị trí sinh mẫu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Γ_i = r_i / ∑ r_i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Trọng số ADASYN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Tỷ lệ sinh mẫu thích ứng theo mật độ vùng biên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686300" y="3337560"/>
            <a:ext cx="395478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777740" y="3383280"/>
            <a:ext cx="37719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5C"/>
                </a:solidFill>
              </a:rPr>
              <a:t>Tái lấy mẫu Mật độ ADASYN vs. Đúc kết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777740" y="3602736"/>
            <a:ext cx="3771900" cy="9144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• ADASYN sinh mẫu tỷ lệ thuận theo mật độ vùng biên khó, tuy nhiên dễ over-synthesize ở vùng chồng lấn nhiễu gây tăng nhẹ False Alarm.
</a:t>
            </a:r>
            <a:pPr indent="0" marL="0">
              <a:lnSpc>
                <a:spcPct val="118000"/>
              </a:lnSpc>
              <a:buNone/>
            </a:pPr>
            <a:r>
              <a:rPr lang="en-US" sz="880" b="1" dirty="0">
                <a:solidFill>
                  <a:srgbClr val="2563EB"/>
                </a:solidFill>
              </a:rPr>
              <a:t>• Đúc kết: SMOTE ổn định và vượt trội hơn ADASYN trên cả Random Forest và XGBoost.</a:t>
            </a:r>
            <a:endParaRPr lang="en-US" sz="8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PHÁP ĐỀ XUẤT &amp; KIẾN TRÚC PIPELINE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Pipeline Toàn diện Chuẩn Leak-Free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Giám sát: Random Forest vs. XGBoost Classifier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Không giám sát: Deep Autoencoder (Manifold Reconstruction)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Pipeline Machine Learning Chuẩn Leak-Free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987552"/>
            <a:ext cx="1143000" cy="31089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B.1: Filtering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39496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Lọc giữ lại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TRANSFER &amp;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CASH_OUT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1645920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01952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1952" y="987552"/>
            <a:ext cx="1143000" cy="31089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1901952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B.2: Feature Eng.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938528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Tính toán 14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engineered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domain features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3044952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00984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00984" y="987552"/>
            <a:ext cx="1143000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3300984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B.3: Stratified Split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37560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Phân chia chuẩn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80% Train /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20% Test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4443984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00016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00016" y="987552"/>
            <a:ext cx="1143000" cy="310896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4" name="Text 22"/>
          <p:cNvSpPr/>
          <p:nvPr/>
        </p:nvSpPr>
        <p:spPr>
          <a:xfrm>
            <a:off x="4700016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B.4: Resampling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736592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SMOTE / ADASYN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CHỈ áp dụng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trên tập Train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843016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099048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99048" y="987552"/>
            <a:ext cx="1143000" cy="310896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9" name="Text 27"/>
          <p:cNvSpPr/>
          <p:nvPr/>
        </p:nvSpPr>
        <p:spPr>
          <a:xfrm>
            <a:off x="6099048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B.5: Model Training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35624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Huấn luyện RF,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XGB &amp; Deep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Autoencoder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7242048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498080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98080" y="987552"/>
            <a:ext cx="1143000" cy="31089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0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B.6: Evaluation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534656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Đánh giá độc lập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trên Test set</a:t>
            </a:r>
            <a:endParaRPr lang="en-US" sz="88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(N=40,000)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502920" y="2724912"/>
            <a:ext cx="8138160" cy="184708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279806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chuẩn Khắt khe Chống Rò rỉ Dữ liệu (Strict Protocol Against Data Leakage)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640080" y="3017520"/>
            <a:ext cx="7863840" cy="14813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tách Tập Dữ liệu Tuyệt đối: Phân chia Stratified Train/Test (80/20) được thực hiện TRƯỚC BẤT KỲ bước resampling hay chuẩn hóa nào.</a:t>
            </a:r>
            <a:endParaRPr lang="en-US" sz="9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Resampling Phân lập: SMOTE / ADASYN tuyệt đối CHỈ áp dụng trên tập huấn luyện (Train fold). Tập Test hoàn toàn giữ nguyên phân bố tự nhiên (0.13% fraud).</a:t>
            </a:r>
            <a:endParaRPr lang="en-US" sz="9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Chuẩn hóa StandardScaler: Bộ biến đổi tỷ lệ chỉ được fit trên tập Train và transform mù trên tập Test, không rò rỉ bất kỳ thông tin trung bình/độ lệch chuẩn nào.</a:t>
            </a:r>
            <a:endParaRPr lang="en-US" sz="9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tối ưu Hyperparameter trên Test Set: Toàn bộ quá trình chọn ngưỡng và tune tham số đều tuân thủ Cross-Validation nội bộ trên tập Train.</a:t>
            </a:r>
            <a:endParaRPr lang="en-US" sz="9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Giám sát: Random Forest vs. XGBoost Classifier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3954780" cy="358444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078992"/>
            <a:ext cx="3680460" cy="292608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078992"/>
            <a:ext cx="36804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Mô hình 1: Random Forest Ensemble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1444752"/>
            <a:ext cx="36804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463040"/>
            <a:ext cx="35890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Gini(D) = 1 - ∑ (p_i)²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1828800"/>
            <a:ext cx="368046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856232"/>
            <a:ext cx="35890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Tham số: n_estimators = 100, max_depth = 15</a:t>
            </a:r>
            <a:endParaRPr lang="en-US" sz="8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Chú giải biến: p_i = Xác suất mẫu thuộc lớp i tại node D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2286000"/>
            <a:ext cx="3680460" cy="21945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• Cơ chế: 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F2937"/>
                </a:solidFill>
              </a:rPr>
              <a:t>Tập hợp 100 cây quyết định độc lập (Bagging) với kỹ thuật lấy mẫu ngẫu nhiên không gian con đặc trưng (Random Subspace).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563EB"/>
                </a:solidFill>
              </a:rPr>
              <a:t>• Peak Precision: 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F2937"/>
                </a:solidFill>
              </a:rPr>
              <a:t>Chỉ sinh duy nhất 1 False Positive trên 38,357 giao dịch hợp lệ (Precision = 99.94%).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DC2626"/>
                </a:solidFill>
              </a:rPr>
              <a:t>• Hạn chế: 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F2937"/>
                </a:solidFill>
              </a:rPr>
              <a:t>Thời gian huấn luyện lâu (~1187s), chi phí tính toán cao khi dữ liệu phình to.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86300" y="987552"/>
            <a:ext cx="3954780" cy="358444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23460" y="1078992"/>
            <a:ext cx="3680460" cy="29260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4823460" y="1078992"/>
            <a:ext cx="36804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Mô hình 2: XGBoost Classifier (GBDT)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23460" y="1444752"/>
            <a:ext cx="36804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9180" y="1463040"/>
            <a:ext cx="35890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Obj^(t) ≈ ∑ [ g_i · f_t + ½ h_i · f_t² ] + Ω(f_t)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23460" y="1828800"/>
            <a:ext cx="368046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69180" y="1856232"/>
            <a:ext cx="35890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Phạt phức tạp: Ω(f_t) = γ · T + ½ λ · ∑ w_j²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Chú giải biến: g_i, h_i = Gradient &amp; Hessian bậc 1, 2; T = Số node lá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823460" y="2286000"/>
            <a:ext cx="3680460" cy="21945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• Cơ chế: 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F2937"/>
                </a:solidFill>
              </a:rPr>
              <a:t>Gradient Boosting cải tiến với gradient bậc 1 (g_i) và Hessian bậc 2 (h_i), bổ sung L2 regularization chống Overfitting.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563EB"/>
                </a:solidFill>
              </a:rPr>
              <a:t>• Ưu thế Vượt trội: 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F2937"/>
                </a:solidFill>
              </a:rPr>
              <a:t>F1-Score đạt 99.63% tương đương RF, nhưng tốc độ huấn luyện nhanh gấp 28.5 lần (~41.7s).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• Production Ready: 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F2937"/>
                </a:solidFill>
              </a:rPr>
              <a:t>Độ trễ suy luận &lt; 0.5ms, lý tưởng cho cổng thanh toán real-time.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Không giám sát: Deep Autoencoder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4389120" cy="358444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05156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</a:rPr>
              <a:t>Cấu trúc &amp; Nguyên lý Phát hiện Bất thường (3 Giai đoạn)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298448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325880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(Input) → 8 (Dense) → 4 (Bottleneck) → 8 (Dense) → 14 (Output)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40080" y="1645920"/>
            <a:ext cx="41148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67335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L_rec(x, x_recon) = (1 / d) · ∑ (x_j - x_recon_j)²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029968"/>
            <a:ext cx="4114800" cy="246888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1. Giai đoạn Học Chuẩn (Normal Manifold):
</a:t>
            </a:r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F2937"/>
                </a:solidFill>
              </a:rPr>
              <a:t>• Mạng chỉ huấn luyện trên giao dịch HỢP LỆ, học cách nén và tái tạo cấu trúc luồng tiền bình thường.
</a:t>
            </a:r>
            <a:pPr indent="0" marL="0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DC2626"/>
                </a:solidFill>
              </a:rPr>
              <a:t>2. Giai đoạn Bắt Lỗi (Anomaly Spike):
</a:t>
            </a:r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F2937"/>
                </a:solidFill>
              </a:rPr>
              <a:t>• Khi gặp giao dịch gian lận/Zero-Day, mạng không thể tái tạo chính xác → Sai số MSE tăng vọt.
</a:t>
            </a:r>
            <a:pPr indent="0" marL="0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2563EB"/>
                </a:solidFill>
              </a:rPr>
              <a:t>3. Giai đoạn Ra Quyết định (Thresholding):
</a:t>
            </a:r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F2937"/>
                </a:solidFill>
              </a:rPr>
              <a:t>• Gán cờ Gian lận nếu L_rec(x, x_recon) &gt; τ (ngưỡng phân vị 95th: τ = 0.0455).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20640" y="987552"/>
            <a:ext cx="352044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1005840"/>
            <a:ext cx="3337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Bảng chú giải biến &amp; ký hiệu đồng nhất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243584"/>
          <a:ext cx="3520440" cy="914400"/>
        </p:xfrm>
        <a:graphic>
          <a:graphicData uri="http://schemas.openxmlformats.org/drawingml/2006/table">
            <a:tbl>
              <a:tblPr/>
              <a:tblGrid>
                <a:gridCol w="1232154"/>
                <a:gridCol w="1056132"/>
                <a:gridCol w="123215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Đầu vào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đặc trưng giao dịch gốc (14 chiều)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x_recon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Tái tạo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đầu ra tái tạo từ tầng giải mã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 = 14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chiều Đặc trưng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số lượng thuộc tính đầu vào của mạng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L_rec(x, x_recon)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số Tái tạo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Hàm mất mát MSE đo mức độ dị biệt giao dịch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τ = 0.0455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Ngưỡng Cutoff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Điểm cắt phân vị 95th để kích hoạt cảnh báo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120640" y="2816352"/>
            <a:ext cx="3520440" cy="175564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57800" y="2889504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Độc tôn: Bắt Tấn công Zero-Day</a:t>
            </a:r>
            <a:endParaRPr lang="en-US" sz="960" dirty="0"/>
          </a:p>
        </p:txBody>
      </p:sp>
      <p:sp>
        <p:nvSpPr>
          <p:cNvPr id="19" name="Text 16"/>
          <p:cNvSpPr/>
          <p:nvPr/>
        </p:nvSpPr>
        <p:spPr>
          <a:xfrm>
            <a:off x="5257800" y="3108960"/>
            <a:ext cx="3246120" cy="1389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Autoencoder đạt 75.23% Recall dù hoàn toàn KHÔNG sử dụng nhãn gian lận khi huấn luyện.</a:t>
            </a:r>
            <a:endParaRPr lang="en-US" sz="88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Miễn nhiễm mẫu cũ: Phát hiện hiệu quả các thủ thuật gian lận mới chưa từng có nhãn.</a:t>
            </a:r>
            <a:endParaRPr lang="en-US" sz="88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Phòng thủ Thứ cấp (Defense-in-Depth): Đóng vai trò lưới lọc an toàn chuyển giao dịch nghi vấn sang kiểm tra chuyên sâu.</a:t>
            </a:r>
            <a:endParaRPr lang="en-US" sz="8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QUẢ THỰC NGHIỆM &amp; ĐÁNH GIÁ SO SÁNH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Hiệu năng Toàn diện &amp; Đối chuẩn Đa Chỉ số (Precision, Recall, F1, PR-AUC)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Ma trận Nhầm lẫn (Confusion Matrix) &amp; Đánh đổi False Alarm vs. Missed Fraud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Importance Attribution &amp; Đóng góp Vượt bậc của Domain Engineering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bố Sai số Tái tạo &amp; Ngưỡng Anomaly Thresholding (Deep Autoencoder)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quả Thực nghiệm: Đối chuẩn Đa Chỉ số Toàn diện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21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987552"/>
          <a:ext cx="4069080" cy="914400"/>
        </p:xfrm>
        <a:graphic>
          <a:graphicData uri="http://schemas.openxmlformats.org/drawingml/2006/table">
            <a:tbl>
              <a:tblPr/>
              <a:tblGrid>
                <a:gridCol w="1302106"/>
                <a:gridCol w="813816"/>
                <a:gridCol w="488290"/>
                <a:gridCol w="488290"/>
                <a:gridCol w="488290"/>
                <a:gridCol w="48829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hình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Resampling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Prec.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Recall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F1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Random Forest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SMOTE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1187s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Random Forest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ADASYN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99.88%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99.69%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1215s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1295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XGBoost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SMOTE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99.76%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41.7s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XGBoost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ADASYN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99.57%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43.2s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Autoencoder (Zero-Day)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 (Unsup.)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38.23%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75.23%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50.71%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68.4s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2852928"/>
            <a:ext cx="4069080" cy="171907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92608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Đúc kết Thực nghiệm Định lượng</a:t>
            </a:r>
            <a:endParaRPr lang="en-US" sz="940" dirty="0"/>
          </a:p>
        </p:txBody>
      </p:sp>
      <p:sp>
        <p:nvSpPr>
          <p:cNvPr id="10" name="Text 7"/>
          <p:cNvSpPr/>
          <p:nvPr/>
        </p:nvSpPr>
        <p:spPr>
          <a:xfrm>
            <a:off x="640080" y="3145536"/>
            <a:ext cx="3794760" cy="135331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6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Random Forest + SMOTE đạt F1-Score đỉnh cao 99.73% nhờ cơ chế Bagging triệt tiêu phương sai.</a:t>
            </a:r>
            <a:endParaRPr lang="en-US" sz="86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6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XGBoost + SMOTE đạt hiệu năng tương đương (F1 = 99.63%) nhưng tốc độ huấn luyện nhanh gấp 28.5 lần.</a:t>
            </a:r>
            <a:endParaRPr lang="en-US" sz="86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6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Autoencoder bắt được 75.23% gian lận hoàn toàn không cần nhãn giám sát, tạo lớp phòng thủ Zero-Day vững chắc.</a:t>
            </a:r>
            <a:endParaRPr lang="en-US" sz="860" dirty="0"/>
          </a:p>
        </p:txBody>
      </p:sp>
      <p:pic>
        <p:nvPicPr>
          <p:cNvPr id="11" name="Image 0" descr="/Users/tcdtist/dev/uit/cs106/assignments/Final/draft/fraud-detection/slide/slide_assets/academic_metric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987552"/>
            <a:ext cx="3886200" cy="183484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754880" y="2913836"/>
            <a:ext cx="3886200" cy="165816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892040" y="2986988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Biểu đồ Đa Chỉ số</a:t>
            </a:r>
            <a:endParaRPr lang="en-US" sz="920" dirty="0"/>
          </a:p>
        </p:txBody>
      </p:sp>
      <p:sp>
        <p:nvSpPr>
          <p:cNvPr id="14" name="Text 10"/>
          <p:cNvSpPr/>
          <p:nvPr/>
        </p:nvSpPr>
        <p:spPr>
          <a:xfrm>
            <a:off x="4892040" y="3206444"/>
            <a:ext cx="3611880" cy="129240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Cột Precision &amp; Recall của RF và XGBoost vượt trội trên 99.5%, khẳng định tính khả thi triển khai thực tế.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Autoencoder hy sinh Precision (38.2%) để duy trì Recall cao (75.2%) nhằm phòng ngừa triệt để tổn thất tài chính.</a:t>
            </a:r>
            <a:endParaRPr lang="en-US" sz="8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Ma trận Nhầm lẫn &amp; Đánh đổi Sai số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21</a:t>
            </a:r>
            <a:endParaRPr lang="en-US" sz="850" dirty="0"/>
          </a:p>
        </p:txBody>
      </p:sp>
      <p:pic>
        <p:nvPicPr>
          <p:cNvPr id="7" name="Image 0" descr="/Users/tcdtist/dev/uit/cs106/assignments/Final/draft/fraud-detection/slide/slide_assets/academic_confusion_matr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703" y="969264"/>
            <a:ext cx="7586594" cy="2194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73552"/>
            <a:ext cx="2621280" cy="14584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3346704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</a:rPr>
              <a:t>Random Forest + SMOTE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94360" y="3529584"/>
            <a:ext cx="243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TP: 1,635  •  FP: 1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FN: 8  •  TN: 38,356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94360" y="3895344"/>
            <a:ext cx="2438400" cy="8001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Tỷ lệ False Alarm thấp kỷ lục (chỉ 1 ca trên 38,357 mẫu test).</a:t>
            </a:r>
            <a:endParaRPr lang="en-US" sz="8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Precision đạt 99.94%, gần như triệt tiêu hoàn toàn báo động giả.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3261360" y="3273552"/>
            <a:ext cx="2621280" cy="14584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352800" y="3346704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5C"/>
                </a:solidFill>
              </a:rPr>
              <a:t>XGBoost + SMOTE (Sản xuất)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352800" y="3529584"/>
            <a:ext cx="243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TP: 1,635  •  FP: 4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FN: 8  •  TN: 38,353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352800" y="3895344"/>
            <a:ext cx="2438400" cy="8001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Chỉ 4 ca cảnh báo nhầm, đồng thời bắt trúng 1,635 ca gian lận.</a:t>
            </a:r>
            <a:endParaRPr lang="en-US" sz="8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Độ trễ suy luận &lt; 0.5ms — cấu hình tối ưu nhất cho môi trường thực tế.</a:t>
            </a:r>
            <a:endParaRPr lang="en-US" sz="820" dirty="0"/>
          </a:p>
        </p:txBody>
      </p:sp>
      <p:sp>
        <p:nvSpPr>
          <p:cNvPr id="16" name="Shape 13"/>
          <p:cNvSpPr/>
          <p:nvPr/>
        </p:nvSpPr>
        <p:spPr>
          <a:xfrm>
            <a:off x="6019800" y="3273552"/>
            <a:ext cx="2621280" cy="145846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11240" y="3346704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</a:rPr>
              <a:t>Deep Autoencoder (Zero-Day)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111240" y="3529584"/>
            <a:ext cx="243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TP: 1,236  •  FP: 1,998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FN: 407  •  TN: 36,359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111240" y="3895344"/>
            <a:ext cx="2438400" cy="8001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Bắt 1,236 ca gian lận trong điều kiện học không giám sát.</a:t>
            </a:r>
            <a:endParaRPr lang="en-US" sz="8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Đóng vai trò màng lọc an toàn thứ cấp cho các mẫu tấn công phi quy ước.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Đóng góp Đặc trưng (Feature Importance)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21</a:t>
            </a:r>
            <a:endParaRPr lang="en-US" sz="850" dirty="0"/>
          </a:p>
        </p:txBody>
      </p:sp>
      <p:pic>
        <p:nvPicPr>
          <p:cNvPr id="7" name="Image 0" descr="/Users/tcdtist/dev/uit/cs106/assignments/Final/draft/fraud-detection/slide/slide_assets/academic_feature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87552"/>
            <a:ext cx="4069080" cy="221386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92855"/>
            <a:ext cx="4069080" cy="1279145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366007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Ý nghĩa Kỹ thuật Đặc trưng (Feature Engineering)</a:t>
            </a:r>
            <a:endParaRPr lang="en-US" sz="920" dirty="0"/>
          </a:p>
        </p:txBody>
      </p:sp>
      <p:sp>
        <p:nvSpPr>
          <p:cNvPr id="10" name="Text 7"/>
          <p:cNvSpPr/>
          <p:nvPr/>
        </p:nvSpPr>
        <p:spPr>
          <a:xfrm>
            <a:off x="640080" y="3585463"/>
            <a:ext cx="3794760" cy="913385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2 đặc trưng tự chế chiếm 97.1% tổng Feature Split Gains.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cây dựa chủ yếu vào sai lệch cân bằng kế toán để phân định gian lận thay vì chỉ học giá trị số tiền gốc.</a:t>
            </a:r>
            <a:endParaRPr lang="en-US" sz="84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987552"/>
          <a:ext cx="3886200" cy="914400"/>
        </p:xfrm>
        <a:graphic>
          <a:graphicData uri="http://schemas.openxmlformats.org/drawingml/2006/table">
            <a:tbl>
              <a:tblPr/>
              <a:tblGrid>
                <a:gridCol w="1476756"/>
                <a:gridCol w="854964"/>
                <a:gridCol w="1554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Đặc trưng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Split Gain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Ý nghĩa Phân loại Nghiệp vụ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errorBalanceOrig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49.9%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lệch số dư tài khoản nguồn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newbalanceOrig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47.2%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Hành vi rút cạn sạch tài khoản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amount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Giá trị giao dịch bất thường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hour / overnight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0.9%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Khung giờ tấn công đêm (0h - 5h)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features khác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0.6%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Các thuộc tính phụ trợ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754880" y="2788920"/>
            <a:ext cx="3886200" cy="17830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892040" y="2862072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Đúc kết Bản chất Bài toán Gian lận</a:t>
            </a:r>
            <a:endParaRPr lang="en-US" sz="910" dirty="0"/>
          </a:p>
        </p:txBody>
      </p:sp>
      <p:sp>
        <p:nvSpPr>
          <p:cNvPr id="14" name="Text 10"/>
          <p:cNvSpPr/>
          <p:nvPr/>
        </p:nvSpPr>
        <p:spPr>
          <a:xfrm>
            <a:off x="4892040" y="3081528"/>
            <a:ext cx="3611880" cy="1417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errorBalanceOrig = 49.9%: Khi kẻ gian thực hiện lệnh chuyển/rút tiền, số dư sổ cái bị trừ vượt mức số tiền thực tế có trong tài khoản.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newbalanceOrig = 47.2%: 97.56% các ca gian lận để lại số dư đích danh bằng 0 nhằm tẩu tán tối đa tài sản.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Triệt tiêu nhiễu: Kỹ thuật đặc trưng miền biến bài toán phân lớp phi tuyến phức tạp thành ranh giới quyết định tuyến tính rõ rệt.</a:t>
            </a:r>
            <a:endParaRPr lang="en-US" sz="8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bố Sai số Tái tạo &amp; Ngưỡng Anomaly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21</a:t>
            </a:r>
            <a:endParaRPr lang="en-US" sz="850" dirty="0"/>
          </a:p>
        </p:txBody>
      </p:sp>
      <p:pic>
        <p:nvPicPr>
          <p:cNvPr id="7" name="Image 0" descr="/Users/tcdtist/dev/uit/cs106/assignments/Final/draft/fraud-detection/slide/slide_assets/academic_autoencoder_d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87552"/>
            <a:ext cx="4069080" cy="212152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00514"/>
            <a:ext cx="4069080" cy="137148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27366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lý Phân tách Phân bố Sai số</a:t>
            </a:r>
            <a:endParaRPr lang="en-US" sz="910" dirty="0"/>
          </a:p>
        </p:txBody>
      </p:sp>
      <p:sp>
        <p:nvSpPr>
          <p:cNvPr id="10" name="Text 7"/>
          <p:cNvSpPr/>
          <p:nvPr/>
        </p:nvSpPr>
        <p:spPr>
          <a:xfrm>
            <a:off x="640080" y="3493122"/>
            <a:ext cx="3794760" cy="100572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Giao dịch hợp lệ (Xanh) tập trung ở vùng sai số MSE cực thấp (&lt; 0.02).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Giao dịch gian lận (Đỏ) có sai số tái tạo trải dài sang phải do cấu trúc dòng tiền dị biệt không thể nén qua bottleneck.</a:t>
            </a:r>
            <a:endParaRPr lang="en-US" sz="83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987552"/>
          <a:ext cx="3886200" cy="914400"/>
        </p:xfrm>
        <a:graphic>
          <a:graphicData uri="http://schemas.openxmlformats.org/drawingml/2006/table">
            <a:tbl>
              <a:tblPr/>
              <a:tblGrid>
                <a:gridCol w="1088136"/>
                <a:gridCol w="932688"/>
                <a:gridCol w="932688"/>
                <a:gridCol w="93268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Phân vị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Ngưỡng τ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Recall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Precision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90th %ile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0.0211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88.4%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24.1%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95th %ile (Chọn)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0.0455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75.2%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38.2%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99th %ile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0.2104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49.8%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68.5%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99.9th %ile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0.7460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25.4%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91.5%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754880" y="2606040"/>
            <a:ext cx="3886200" cy="19659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892040" y="2679192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Quyết định Điểm cắt Ngưỡng Tối ưu (τ = 0.0455)</a:t>
            </a:r>
            <a:endParaRPr lang="en-US" sz="910" dirty="0"/>
          </a:p>
        </p:txBody>
      </p:sp>
      <p:sp>
        <p:nvSpPr>
          <p:cNvPr id="14" name="Text 10"/>
          <p:cNvSpPr/>
          <p:nvPr/>
        </p:nvSpPr>
        <p:spPr>
          <a:xfrm>
            <a:off x="4892040" y="2898648"/>
            <a:ext cx="3611880" cy="16002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cắt phân vị 95th (τ = 0.0455) tạo điểm cân bằng tối ưu giữa Recall (75.2%) và Precision (38.2%).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Chiến lược Defense-in-Depth: Nếu mô hình có giám sát bị qua mặt bởi hình thức lừa đảo mới, Autoencoder sẽ kích hoạt báo động chuyển luồng sang thẩm định chuyên sâu.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phụ thuộc nhãn: Mô hình duy trì khả năng tự thích ứng bền bỉ trong môi trường luồng tiền thay đổi liên tục.</a:t>
            </a:r>
            <a:endParaRPr lang="en-US" sz="8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DEMO &amp; ĐỊNH HƯỚNG TƯƠNG LAI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Dashboard Streamlit Real-Time Inference &amp; Batch CSV Scoring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kết Đóng góp Học thuật &amp; Quy chuẩn Kỹ thuật Cốt lõi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Hạn chế Nghiên cứu &amp; Lộ trình Mở rộng Graph Neural Networks (GNN)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Demo Streamlit &amp; Lộ trình Nghiên cứu Tương lai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5029200" cy="3584448"/>
          </a:xfrm>
          <a:prstGeom prst="roundRect">
            <a:avLst>
              <a:gd name="adj" fmla="val 3061"/>
            </a:avLst>
          </a:prstGeom>
          <a:solidFill>
            <a:srgbClr val="0F172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987552"/>
            <a:ext cx="5029200" cy="274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98755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🔴 LIVE DEMO  •  Streamlit Real-Time Fraud Shield  |  Latency &lt; 0.5ms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676656" y="1325880"/>
            <a:ext cx="4681728" cy="2633472"/>
          </a:xfrm>
          <a:prstGeom prst="rect">
            <a:avLst/>
          </a:prstGeom>
          <a:solidFill>
            <a:srgbClr val="0B1120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" y="1645920"/>
            <a:ext cx="46817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8BDF8"/>
                </a:solidFill>
              </a:rPr>
              <a:t>▶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3816" y="2286000"/>
            <a:ext cx="4407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KHUNG CHÈN VIDEO DEMO STREAMLIT ]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(Tỷ lệ Chuẩn 16:9 — 1920×1080 / 1280×720 MP4/GIF)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13816" y="2862072"/>
            <a:ext cx="44074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Giao diện phân tích rủi ro thời gian thực &amp; Chấm điểm Batch CSV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011680" y="3291840"/>
            <a:ext cx="2011680" cy="292608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 w="10160">
            <a:solidFill>
              <a:srgbClr val="64748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32918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HD 1080p  •  TỶ LỆ 16:9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4754880" cy="457200"/>
          </a:xfrm>
          <a:prstGeom prst="rect">
            <a:avLst/>
          </a:prstGeom>
          <a:solidFill>
            <a:srgbClr val="131C31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023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Kịch bản: 1. Bình thường (Safe &lt; 0.1%)  |  2. Rút cạn số dư (Fraud &gt; 99.8%)  |  3. Batch Audit CSV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5760720" y="987552"/>
            <a:ext cx="2880360" cy="17373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97880" y="1060704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kết Đóng góp Cốt lõi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5897880" y="1280160"/>
            <a:ext cx="2606040" cy="13716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chuẩn Leak-Free: 80/20 Stratified Split chống rò rỉ dữ liệu.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Engineering: 14 engineered features chiếm &gt; 97% split gains.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Superior Benchmark: F1 = 99.73%, Recall = 99.51% (chỉ bỏ sót 8 ca).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Phòng thủ Đa tầng: Kết hợp XGBoost (&lt; 0.5ms) và Autoencoder.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60720" y="2834640"/>
            <a:ext cx="2880360" cy="17373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2907792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Lộ trình Nghiên cứu Tương lai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5897880" y="3127248"/>
            <a:ext cx="2606040" cy="13716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 Neural Networks (GNN): GraphSAGE phát hiện rửa tiền đa tầng.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Xử lý Phân tán (Kafka/Flink): Streaming hàng triệu sự kiện/giây.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Explainable AI (XAI): SHAP giải thích quyết định chặn giao dịch.</a:t>
            </a:r>
            <a:endParaRPr lang="en-US" sz="84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"/>
            <a:ext cx="8138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CHÂN THÀNH CẢM ƠN THẦY VÀ CÁC BẠN</a:t>
            </a:r>
            <a:endParaRPr lang="en-US" sz="2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LẮNG NGHE BÁO CÁO!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1325880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 •  BÁO CÁO BẢO VỆ ĐỒ ÁN  •  NHÓM 09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960120" y="1719072"/>
            <a:ext cx="7223760" cy="2670048"/>
          </a:xfrm>
          <a:prstGeom prst="rect">
            <a:avLst/>
          </a:prstGeom>
          <a:solidFill>
            <a:srgbClr val="172048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LIỆU THAM KHẢO HỌC THUẬT &amp; REPOSITORY DỰ ÁN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2157984"/>
            <a:ext cx="67665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Mã nguồn Dự án (Official Repo): </a:t>
            </a:r>
            <a:pPr algn="l" indent="0" marL="0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https://github.com/uit-25730067-chithanh/CS106-Team09-Fraud-Detection
</a:t>
            </a:r>
            <a:pPr algn="l" indent="0" marL="0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PaySim Simulator: </a:t>
            </a:r>
            <a:pPr algn="l"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 A. Lopez-Rojas, A. Elmir, and S. Axelsson, "PaySim: A financial mobile money simulator for fraud detection," in Proc. 28th Eur. Model. Simul. Symp., 2016, pp. 249-255.
</a:t>
            </a:r>
            <a:pPr algn="l" indent="0" marL="0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XGBoost GBDT: </a:t>
            </a:r>
            <a:pPr algn="l"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T. Chen and C. Guestrin, "XGBoost: A scalable tree boosting system," in Proc. 22nd ACM SIGKDD, 2016, pp. 785-794.
</a:t>
            </a:r>
            <a:pPr algn="l" indent="0" marL="0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SMOTE Resampling: </a:t>
            </a:r>
            <a:pPr algn="l"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N. V. Chawla et al., "SMOTE: Synthetic minority over-sampling technique," J. Artif. Intell. Res., vol. 16, pp. 321-357, 2002.
</a:t>
            </a:r>
            <a:pPr algn="l" indent="0" marL="0">
              <a:lnSpc>
                <a:spcPct val="125000"/>
              </a:lnSpc>
              <a:buNone/>
            </a:pPr>
            <a:r>
              <a:rPr lang="en-US" sz="930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 09 rất mong nhận được những câu hỏi và góp ý quý báu từ Hội đồng!</a:t>
            </a:r>
            <a:endParaRPr lang="en-US" sz="9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2026-09-04T07:38:46Z</dcterms:created>
  <dcterms:modified xsi:type="dcterms:W3CDTF">2026-09-04T07:38:46Z</dcterms:modified>
</cp:coreProperties>
</file>