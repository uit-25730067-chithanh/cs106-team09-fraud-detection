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1570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9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KHOA KHOA HỌC MÁY TÍNH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HIỆN GIAN LẬN TÀI CHÍNH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3C5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Ứng dụng Machine Learning &amp; Deep Learning trên Tập dữ liệu Mô phỏng PaySim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học: CS106 - Trí tuệ Nhân tạo  |  GVHD: PGS.TS. Nguyễn Đình Hiển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8892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Text 5"/>
          <p:cNvSpPr/>
          <p:nvPr/>
        </p:nvSpPr>
        <p:spPr>
          <a:xfrm>
            <a:off x="4023360" y="28529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6636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3774523" y="3154681"/>
            <a:ext cx="2113613" cy="14447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Trần Hoàng Hôn (26410046)</a:t>
            </a:r>
            <a:b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Đặng Chí Thanh (25730067)  </a:t>
            </a:r>
            <a:endParaRPr lang="en-US" sz="1000" dirty="0"/>
          </a:p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Hoàng Cao Sơn (25730061)  </a:t>
            </a:r>
            <a:b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Bùi Thị Mỷ Cẩm (25730013)</a:t>
            </a:r>
            <a:b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Nguyễn Duy Khang (26410055)</a:t>
            </a:r>
            <a:b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Vũ Văn Duy (26410031)  </a:t>
            </a:r>
            <a:b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Thành Trung (26410141)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473202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TP. Hồ Chí Minh, Tháng 09/2026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 BÁO CÁO &amp; LỘ TRÌNH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02412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Giới thiệu &amp; Phát biểu Bài toán
</a:t>
            </a:r>
            <a:r>
              <a:rPr lang="en-US" sz="1000" dirty="0">
                <a:solidFill>
                  <a:srgbClr val="4B5563"/>
                </a:solidFill>
              </a:rPr>
              <a:t>Bối cảnh tài chính, Extreme Class Imbalance (0.13%) và Cost Asymmetry.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5564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Phân tích Khám phá Dữ liệu &amp; Kỹ thuật Đặc trưng
</a:t>
            </a:r>
            <a:r>
              <a:rPr lang="en-US" sz="1000" dirty="0">
                <a:solidFill>
                  <a:srgbClr val="4B5563"/>
                </a:solidFill>
              </a:rPr>
              <a:t>Khu biệt loại giao dịch, dấu vết rút cạn số dư và 14 đặc trưng (7 dẫn xuất).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248716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Phương pháp Đề xuất &amp; Kiến trúc Pipeline
</a:t>
            </a:r>
            <a:r>
              <a:rPr lang="en-US" sz="1000" dirty="0">
                <a:solidFill>
                  <a:srgbClr val="4B5563"/>
                </a:solidFill>
              </a:rPr>
              <a:t>Quy chuẩn Leak-Free, Random Forest vs. XGBoost và Deep Autoencoder.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21868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Kết quả Thực nghiệm &amp; Đánh giá So sánh
</a:t>
            </a:r>
            <a:r>
              <a:rPr lang="en-US" sz="1000" dirty="0">
                <a:solidFill>
                  <a:srgbClr val="4B5563"/>
                </a:solidFill>
              </a:rPr>
              <a:t>Benchmark đa chỉ số, Confusion Matrix, Feature Split Gains và Anomaly Cutoff.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0" name="Text 18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395020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Hệ thống Demo &amp; Định hướng Tương lai
</a:t>
            </a:r>
            <a:r>
              <a:rPr lang="en-US" sz="1000" dirty="0">
                <a:solidFill>
                  <a:srgbClr val="4B5563"/>
                </a:solidFill>
              </a:rPr>
              <a:t>Dashboard Streamlit thời gian thực, kịch bản kiểm thử và lộ trình mở rộng GNN.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 &amp; PHÁT BIỂU BÀI TOÁN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Công nghiệp &amp; Sự bùng nổ Mobile Money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Thách thức Extreme Class Imbalance (~0.13%) &amp; Tổn thất Bất đối xứng (Cost Asymmetry)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biểu Bài toán Hình thức &amp; Mục tiêu Nghiên cứu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Động lực Nghiên cứu &amp; Thách thức Kỹ thuật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4389120" cy="3657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</a:rPr>
              <a:t>1. Bối cảnh Thực tiễn &amp; Quy mô
</a:t>
            </a:r>
            <a:r>
              <a:rPr lang="en-US" sz="1050" dirty="0">
                <a:solidFill>
                  <a:srgbClr val="1F2937"/>
                </a:solidFill>
              </a:rPr>
              <a:t>• Giao dịch Mobile Money tăng trưởng bùng nổ, kéo theo các thủ đoạn gian lận tinh vi.
• Hệ thống phòng thủ đòi hỏi độ trễ suy luận real-time (&lt; 100ms) trước khi tiền bị tẩu tán.
</a:t>
            </a:r>
            <a:r>
              <a:rPr lang="en-US" sz="1200" b="1" dirty="0">
                <a:solidFill>
                  <a:srgbClr val="21295C"/>
                </a:solidFill>
              </a:rPr>
              <a:t>2. Thách thức Extreme Class Imbalance (~0.13%)
</a:t>
            </a:r>
            <a:r>
              <a:rPr lang="en-US" sz="1050" dirty="0">
                <a:solidFill>
                  <a:srgbClr val="1F2937"/>
                </a:solidFill>
              </a:rPr>
              <a:t>• Gian lận chỉ chiếm ~1 trên 775 giao dịch (8,213 ca trên 6.36M sự kiện trong PaySim).
• Cost Asymmetry: Bỏ sót gian lận (FN) gây mất vốn trực tiếp, trong khi Báo động nhầm (FP) chỉ gây gián đoạn trải nghiệm người dùng.
</a:t>
            </a:r>
            <a:r>
              <a:rPr lang="en-US" sz="1200" b="1" dirty="0">
                <a:solidFill>
                  <a:srgbClr val="21295C"/>
                </a:solidFill>
              </a:rPr>
              <a:t>3. Hành vi Gian lận Phi tĩnh (Non-Stationary)
</a:t>
            </a:r>
            <a:r>
              <a:rPr lang="en-US" sz="1050" dirty="0">
                <a:solidFill>
                  <a:srgbClr val="1F2937"/>
                </a:solidFill>
              </a:rPr>
              <a:t>• Kẻ gian liên tục biến đổi thủ đoạn luân chuyển tiền để lẩn tránh các bộ lọc luật tĩnh.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987552"/>
            <a:ext cx="356616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166360" y="100584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Ký hiệu Toán học &amp; Khái niệm Cốt lõi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243584"/>
          <a:ext cx="3566160" cy="1358900"/>
        </p:xfrm>
        <a:graphic>
          <a:graphicData uri="http://schemas.openxmlformats.org/drawingml/2006/table">
            <a:tbl>
              <a:tblPr/>
              <a:tblGrid>
                <a:gridCol w="11411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8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∈ {0, 1}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Target Label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= Fraud (Gian lận), 0 = Legitimate (Hợp lệ)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IR ≈ 0.13%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Imbalance Ratio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8,213 ca gian lận trên 6.36M giao dịch tổng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 / PR-AUC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Metric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Tối đa hóa bắt gian lận, Accuracy bị vô hiệu hóa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C_FN &gt;&gt; C_FP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Asymmetry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Phạt bỏ sót gian lận lớn hơn nhiều cảnh báo nhầm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74920" y="2606040"/>
            <a:ext cx="3566160" cy="2011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9"/>
          <p:cNvSpPr/>
          <p:nvPr/>
        </p:nvSpPr>
        <p:spPr>
          <a:xfrm>
            <a:off x="5212080" y="267919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Nghiên cứu Cốt lõi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5212080" y="2898648"/>
            <a:ext cx="3291840" cy="16459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Xây dựng end-to-end ML pipeline chuẩn, đảm bảo nguyên tắc phân lập dữ liệu Leak-Free.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14 đặc trưng (7 dẫn xuất) bắt trọn sai lệch số dư tài khoản.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Ensemble Trees với Unsupervised Deep Autoencoder phát hiện bất thường.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Triển khai interactive dashboard phục vụ ra quyết định thời gian thực.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Tập Dữ liệu PaySim: Thuộc tính Thống kê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59436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Quy mô Mẫu sau Downsample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</a:rPr>
              <a:t>N = 200,000 sự kiện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436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Stratified sample bảo toàn 100% fraud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61360" y="987552"/>
            <a:ext cx="2621280" cy="74980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335280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Số ca Gian lận (isFraud = 1)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5280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C2626"/>
                </a:solidFill>
              </a:rPr>
              <a:t>8,213 ca ground-truth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5280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Tập trung tuyệt đối ở 2 loại giao dịch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1980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611124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Không gian Đặc trưng Mở rộng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1124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</a:rPr>
              <a:t>11 → 14 Đặc trưng Miền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1124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Bổ sung các phương trình sai lệch số dư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222325"/>
              </p:ext>
            </p:extLst>
          </p:nvPr>
        </p:nvGraphicFramePr>
        <p:xfrm>
          <a:off x="502920" y="1995191"/>
          <a:ext cx="8138160" cy="1278361"/>
        </p:xfrm>
        <a:graphic>
          <a:graphicData uri="http://schemas.openxmlformats.org/drawingml/2006/table">
            <a:tbl>
              <a:tblPr/>
              <a:tblGrid>
                <a:gridCol w="26042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2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Đặc trưng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Kiểu Dữ liệu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Miền &amp; Nghiệp vụ Giao dịch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0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step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nguyên (Integer)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Bước thời gian theo giờ (1..743, tương ứng 30 ngày mô phỏng)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0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loại (Categorical)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Loại giao dịch: CASH_OUT, TRANSFER, PAYMENT, CASH_IN, DEBIT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10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tiền thực hiện giao dịch (đơn vị tiền tệ cục bộ)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0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oldbalanceOrg / newbalanceOrig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nguồn (sender)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10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oldbalanceDest / newbalanceDest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đích (recipient)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02920" y="3730752"/>
            <a:ext cx="8138160" cy="89611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1" name="Text 18"/>
          <p:cNvSpPr/>
          <p:nvPr/>
        </p:nvSpPr>
        <p:spPr>
          <a:xfrm>
            <a:off x="640080" y="38039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Quan trọng từ Phân bố Dữ liệu</a:t>
            </a:r>
            <a:endParaRPr lang="en-US" sz="1010" dirty="0"/>
          </a:p>
        </p:txBody>
      </p:sp>
      <p:sp>
        <p:nvSpPr>
          <p:cNvPr id="22" name="Text 19"/>
          <p:cNvSpPr/>
          <p:nvPr/>
        </p:nvSpPr>
        <p:spPr>
          <a:xfrm>
            <a:off x="640080" y="4023360"/>
            <a:ext cx="7863840" cy="53035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tất cả các ca gian lận trong 6.36M giao dịch CHỈ xuất hiện ở 2 loại: TRANSFER và CASH_OUT. Các loại PAYMENT, CASH_IN và DEBIT hoàn toàn an toàn (0% gian lận). Do đó, bước tiền xử lý lọc chỉ giữ lại TRANSFER &amp; CASH_OUT giúp loại bỏ ~56.5% giao dịch hoàn toàn không có gian lận.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 &amp; KỸ THUẬT ĐẶC TRƯNG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Dấu vết Hành vi Thực nghiệm (Behavioral Signatures)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thức toán học của 14 đặc trưng miền (7 dẫn xuất)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 Formulation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liệu: Dấu vết Hành vi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100% GIAN LẬN KHU BIỆT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1: Khoanh vùng Loại Giao dịch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100% gian lận xảy ra duy nhất ở 2 loại giao dịch: </a:t>
            </a:r>
            <a:r>
              <a:rPr lang="en-US" sz="980" b="1" dirty="0">
                <a:solidFill>
                  <a:srgbClr val="DC2626"/>
                </a:solidFill>
              </a:rPr>
              <a:t>TRANSFER và CASH_OUT.
</a:t>
            </a:r>
            <a:r>
              <a:rPr lang="en-US" sz="980" dirty="0">
                <a:solidFill>
                  <a:srgbClr val="1F2937"/>
                </a:solidFill>
              </a:rPr>
              <a:t>• Các loại PAYMENT, CASH_IN, DEBIT hoàn toàn không có gian lận (0%).
</a:t>
            </a:r>
            <a:r>
              <a:rPr lang="en-US" sz="980" b="1" dirty="0">
                <a:solidFill>
                  <a:srgbClr val="2563EB"/>
                </a:solidFill>
              </a:rPr>
              <a:t>• Hành động Pipeline: </a:t>
            </a:r>
            <a:r>
              <a:rPr lang="en-US" sz="980" dirty="0">
                <a:solidFill>
                  <a:srgbClr val="1F2937"/>
                </a:solidFill>
              </a:rPr>
              <a:t>Lọc tập dữ liệu chỉ giữ lại TRANSFER &amp; CASH_OUT, loại bỏ ~56% giao dịch không có rủi ro gian lận.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3584448"/>
          </a:xfrm>
          <a:prstGeom prst="rect">
            <a:avLst/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97.55% TỔNG SỐ CA GIAN LẬN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9852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Phát hiện 2: Vét Sạch Số Dư Nguồn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9852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Trong 97.55% giao dịch gian lận, tài khoản nạn nhân bị rút cạn sạch về 0: </a:t>
            </a:r>
            <a:r>
              <a:rPr lang="en-US" sz="980" b="1" dirty="0">
                <a:solidFill>
                  <a:srgbClr val="21295C"/>
                </a:solidFill>
              </a:rPr>
              <a:t>newbalanceOrig == 0.
</a:t>
            </a:r>
            <a:r>
              <a:rPr lang="en-US" sz="980" dirty="0">
                <a:solidFill>
                  <a:srgbClr val="1F2937"/>
                </a:solidFill>
              </a:rPr>
              <a:t>• Kẻ gian tối đa hóa số tiền lấy cắp trong 1 lần duy nhất trước khi bị khóa thẻ.
</a:t>
            </a:r>
            <a:r>
              <a:rPr lang="en-US" sz="980" b="1" dirty="0">
                <a:solidFill>
                  <a:srgbClr val="DC2626"/>
                </a:solidFill>
              </a:rPr>
              <a:t>• Tín hiệu Cốt lõi: </a:t>
            </a:r>
            <a:r>
              <a:rPr lang="en-US" sz="980" dirty="0">
                <a:solidFill>
                  <a:srgbClr val="1F2937"/>
                </a:solidFill>
              </a:rPr>
              <a:t>97.55% ca gian lận rút cạn tài khoản nguồn; kết hợp sai lệch errorBalanceOrig mới tạo phân loại mạnh.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01980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BẤT THƯỜNG BIẾN ĐỘNG SỐ DƯ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5696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3: Sai Lệch số dư đích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5696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Tỷ lệ lớn giao dịch gian lận không làm tăng số dư tài khoản đích theo sổ sách: </a:t>
            </a:r>
            <a:r>
              <a:rPr lang="en-US" sz="980" b="1" dirty="0">
                <a:solidFill>
                  <a:srgbClr val="21295C"/>
                </a:solidFill>
              </a:rPr>
              <a:t>newbalanceDest ≈ 0.
</a:t>
            </a:r>
            <a:r>
              <a:rPr lang="en-US" sz="980" dirty="0">
                <a:solidFill>
                  <a:srgbClr val="1F2937"/>
                </a:solidFill>
              </a:rPr>
              <a:t>• Phản ánh tài khoản rác hoặc luân chuyển rửa tiền đa tầng tức thì (diễn giải, dữ liệu mô phỏng).
</a:t>
            </a:r>
            <a:r>
              <a:rPr lang="en-US" sz="980" b="1" dirty="0">
                <a:solidFill>
                  <a:srgbClr val="2563EB"/>
                </a:solidFill>
              </a:rPr>
              <a:t>• Tín hiệu Cốt lõi: </a:t>
            </a:r>
            <a:r>
              <a:rPr lang="en-US" sz="980" dirty="0">
                <a:solidFill>
                  <a:srgbClr val="1F2937"/>
                </a:solidFill>
              </a:rPr>
              <a:t>Sai lệch số dư đích vạch trần hành vi rút tiền bất hợp pháp.</a:t>
            </a:r>
            <a:endParaRPr lang="en-US" sz="9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Kỹ thuật Đặc trưng: 14 Thuộc tính Miền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42416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1. Sai lệch Số dư Nguồn (Delta Orig)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errorBalanceOrig = oldbalanceOrg - amount - newbalanceOrig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40080" y="1536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Đo lường sai lệch giữa số dư kỳ vọng và số dư thực tế tài khoản nguồn.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157984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640080" y="2212848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2. Sai lệch Số dư Đích (Delta Dest)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4323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errorBalanceDest = oldbalanceDest + amount - newbalanceDest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640080" y="270662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Ghi nhận bất thường không ghi có hoặc luân chuyển tiền đa tầng tức thì.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3328416"/>
            <a:ext cx="4251960" cy="1243584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3. Cờ Vét sạch Tài khoản &amp; Chu kỳ Giờ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60273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drain_flag = (oldbalanceOrg &gt; 0) &amp; (newbalanceOrig == 0)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= step % 24   |   is_overnight = 1 if hour ∈ [0..5] else 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40416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Bắt trọn hành vi vét sạch tài khoản trong 1 bước và tấn công tự động ban đêm.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983480" y="987552"/>
            <a:ext cx="365760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0" name="Text 18"/>
          <p:cNvSpPr/>
          <p:nvPr/>
        </p:nvSpPr>
        <p:spPr>
          <a:xfrm>
            <a:off x="5074920" y="100584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243584"/>
          <a:ext cx="3657600" cy="1724660"/>
        </p:xfrm>
        <a:graphic>
          <a:graphicData uri="http://schemas.openxmlformats.org/drawingml/2006/table">
            <a:tbl>
              <a:tblPr/>
              <a:tblGrid>
                <a:gridCol w="1536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chênh lệch giữa số dư tính toán và thực tế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errorBalanceDest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Đích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lệch ghi có tại tài khoản nhận tiền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drain_flag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Cờ Vét sạch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nếu số dư nguồn bị rút sạch về 0, ngược lại 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 kỳ Giờ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Giờ trong ngày (0..23); 1 nếu giao dịch từ 0h - 5h sáng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4983480" y="3062224"/>
            <a:ext cx="3657600" cy="1509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Text 20"/>
          <p:cNvSpPr/>
          <p:nvPr/>
        </p:nvSpPr>
        <p:spPr>
          <a:xfrm>
            <a:off x="5120640" y="309397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Feature Importance</a:t>
            </a:r>
            <a:endParaRPr lang="en-US" sz="980" dirty="0"/>
          </a:p>
        </p:txBody>
      </p:sp>
      <p:sp>
        <p:nvSpPr>
          <p:cNvPr id="24" name="Text 21"/>
          <p:cNvSpPr/>
          <p:nvPr/>
        </p:nvSpPr>
        <p:spPr>
          <a:xfrm>
            <a:off x="5120640" y="3219704"/>
            <a:ext cx="3383280" cy="127914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 biến errorBalanceOrig (49.9%) và newbalanceOrig (47.2%) chiếm 97.1% tổng Feature Split Gains (XGBoost).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 dựa gần như hoàn toàn vào nhóm số dư (98.5%); nhóm ghi nhận rủi ro simulator artifact (Mục 3.6.2).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Chống Rò rỉ: Toàn bộ 14 đặc trưng (7 dẫn xuất) được chuẩn hóa StandardScaler CHỈ trên tập Train.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24128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</a:rPr>
              <a:t>Accuracy Paradox trong Bài toán Phân lớp Mất cân bằng Cực đoan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225296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</a:rPr>
              <a:t>Một mô hình ngây thơ luôn dự đoán 100% là "Hợp lệ" vẫn đạt Accuracy 99.87% trên PaySim gốc nhưng bỏ sót 100% gian lận! Do đó, đánh giá mô hình phải dẫn dắt bởi Precision, Recall, F1-Score và PR-AUC (Precision-Recall AUC).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1737360"/>
            <a:ext cx="3954780" cy="28346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40080" y="1810512"/>
            <a:ext cx="36804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95C"/>
                </a:solidFill>
              </a:rPr>
              <a:t>Kỹ thuật Nội suy Mẫu SMOTE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066544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685800" y="2093976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x_new = x_i + λ · (x_zi - x_i),    với  λ ∈ [0, 1]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40080" y="2468880"/>
            <a:ext cx="3680460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1295C"/>
                </a:solidFill>
              </a:rPr>
              <a:t>• Cơ chế: </a:t>
            </a:r>
            <a:r>
              <a:rPr lang="en-US" sz="920" dirty="0">
                <a:solidFill>
                  <a:srgbClr val="1F2937"/>
                </a:solidFill>
              </a:rPr>
              <a:t>Nội suy mẫu nhân tạo thiểu số dọc theo đoạn thẳng nối các láng giềng k-NN trong không gian đặc trưng.
</a:t>
            </a:r>
            <a:r>
              <a:rPr lang="en-US" sz="920" b="1" dirty="0">
                <a:solidFill>
                  <a:srgbClr val="2563EB"/>
                </a:solidFill>
              </a:rPr>
              <a:t>• Ưu điểm: </a:t>
            </a:r>
            <a:r>
              <a:rPr lang="en-US" sz="920" dirty="0">
                <a:solidFill>
                  <a:srgbClr val="1F2937"/>
                </a:solidFill>
              </a:rPr>
              <a:t>Tạo Decision Boundary rõ nét, phân tách tốt giữa Fraud và Legitimate.
</a:t>
            </a:r>
            <a:r>
              <a:rPr lang="en-US" sz="920" b="1" dirty="0">
                <a:solidFill>
                  <a:srgbClr val="21295C"/>
                </a:solidFill>
              </a:rPr>
              <a:t>• Kết quả Thực nghiệm: </a:t>
            </a:r>
            <a:r>
              <a:rPr lang="en-US" sz="920" dirty="0">
                <a:solidFill>
                  <a:srgbClr val="1F2937"/>
                </a:solidFill>
              </a:rPr>
              <a:t>Đạt F1-Score cao nhất (99.73%), chỉ tạo đúng 1 False Positive trên 38,357 mẫu test.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686300" y="1737360"/>
            <a:ext cx="39547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4777740" y="1755648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6300" y="1993392"/>
          <a:ext cx="3954780" cy="1358900"/>
        </p:xfrm>
        <a:graphic>
          <a:graphicData uri="http://schemas.openxmlformats.org/drawingml/2006/table">
            <a:tbl>
              <a:tblPr/>
              <a:tblGrid>
                <a:gridCol w="1423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7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3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Thiểu số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gian lận gốc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x_zi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Láng giềng k-NN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gian lận lân cận gần nhất được chọn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 ∈ [0, 1]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Hệ số Nội suy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thực ngẫu nhiên xác định vị trí sinh mẫu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Γ_i = r_i / ∑ r_i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Trọng số ADASYN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Tỷ lệ sinh mẫu thích ứng theo mật độ vùng biên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686300" y="3427984"/>
            <a:ext cx="3954780" cy="1144016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6"/>
          <p:cNvSpPr/>
          <p:nvPr/>
        </p:nvSpPr>
        <p:spPr>
          <a:xfrm>
            <a:off x="4777740" y="3506724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Tái lấy mẫu Mật độ ADASYN vs. Đúc kết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777740" y="3603752"/>
            <a:ext cx="3771900" cy="913383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• ADASYN sinh mẫu tỷ lệ thuận theo mật độ vùng biên khó, tuy nhiên dễ over-synthesize ở vùng chồng lấn nhiễu gây tăng nhẹ False Alarm.
</a:t>
            </a:r>
            <a:r>
              <a:rPr lang="en-US" sz="880" b="1" dirty="0">
                <a:solidFill>
                  <a:srgbClr val="2563EB"/>
                </a:solidFill>
              </a:rPr>
              <a:t>• Đúc kết: SMOTENC nhỉnh hơn nhẹ so với ADASYN trên RF và XGBoost (ít cảnh báo nhầm hơn).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PHÁP ĐỀ XUẤT &amp; KIẾN TRÚC PIPELINE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Toàn diện Chuẩn Leak-Free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 (Manifold Reconstruction)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Machine Learning Chuẩn Leak-Free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B.1: Filtering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3949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Lọc giữ lại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TRANSFER &amp;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CASH_OUT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645920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01952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B.2: Stratified Split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38528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Phân chia chuẩn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80% Train /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20% Test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044952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00984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B.3: Feature Eng.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37560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7 đặc trưng dẫn xuất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→ 14 đặc trưng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Scaler fit Train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443984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00016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B.4: Resampling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36592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SMOTENC / ADASYN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CHỈ áp dụng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tập Train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843016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99048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B.5: Model Training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35624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Huấn luyện RF,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XGB &amp; Deep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Autoencoder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7242048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9808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3" name="Shape 31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4" name="Text 32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B.6: Evaluation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53465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Đánh giá độc lập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Test set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(N=40,000)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02920" y="2724912"/>
            <a:ext cx="8138160" cy="184708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7" name="Text 35"/>
          <p:cNvSpPr/>
          <p:nvPr/>
        </p:nvSpPr>
        <p:spPr>
          <a:xfrm>
            <a:off x="640080" y="279806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Chống Rò rỉ Dữ liệu (Data Leakage)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640080" y="3017520"/>
            <a:ext cx="7863840" cy="14813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rò rỉ sang tập Test: Stratified Split 80/20 thực hiện TRƯỚC resampling và chuẩn hóa; scaler chỉ fit trên Train.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Resampling chỉ trên Train (SMOTENC / ADASYN). Tập Test giữ nguyên phân bố sau downsample (4.11% fraud, 1,643 ca), không chứa mẫu nhân tạo.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hạn: oversampling chưa nằm trong từng fold CV nên điểm CV có thể lạc quan (báo cáo mục 4.8).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tối ưu hyperparameter trên Test: chọn ngưỡng và tune tham số bằng Cross-Validation nội bộ trên tập Train.</a:t>
            </a:r>
            <a:endParaRPr lang="en-US" sz="9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1: Random Forest Ensemble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1444751"/>
            <a:ext cx="3680460" cy="482983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pic>
        <p:nvPicPr>
          <p:cNvPr id="11" name="Image 0" descr="D:\Trí tuệ nhân tạo\HK2\Trí tuệ nhân tạo\CS106-Team09-Fraud-Detection\draft\fraud-detection\slide\slide_assets\formula_rf_gi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981" y="1489645"/>
            <a:ext cx="2770632" cy="393193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" y="2019175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0"/>
          <p:cNvSpPr/>
          <p:nvPr/>
        </p:nvSpPr>
        <p:spPr>
          <a:xfrm>
            <a:off x="685800" y="2048256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Tham số: n_estimators = 200, max_depth = 20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p_i = Xác suất mẫu thuộc lớp i tại node D</a:t>
            </a:r>
            <a:endParaRPr lang="en-US" sz="820" dirty="0"/>
          </a:p>
        </p:txBody>
      </p:sp>
      <p:sp>
        <p:nvSpPr>
          <p:cNvPr id="14" name="Text 11"/>
          <p:cNvSpPr/>
          <p:nvPr/>
        </p:nvSpPr>
        <p:spPr>
          <a:xfrm>
            <a:off x="64008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r>
              <a:rPr lang="en-US" sz="900" dirty="0">
                <a:solidFill>
                  <a:srgbClr val="1F2937"/>
                </a:solidFill>
              </a:rPr>
              <a:t>Tập hợp 200 cây quyết định độc lập (Bagging) với kỹ thuật lấy mẫu ngẫu nhiên không gian con đặc trưng (Random Subspace).
</a:t>
            </a:r>
            <a:r>
              <a:rPr lang="en-US" sz="900" b="1" dirty="0">
                <a:solidFill>
                  <a:srgbClr val="2563EB"/>
                </a:solidFill>
              </a:rPr>
              <a:t>• Peak Precision: </a:t>
            </a:r>
            <a:r>
              <a:rPr lang="en-US" sz="900" dirty="0">
                <a:solidFill>
                  <a:srgbClr val="1F2937"/>
                </a:solidFill>
              </a:rPr>
              <a:t>Chỉ sinh duy nhất 1 False Positive trên 38,357 giao dịch hợp lệ (Precision = 99.94%).
</a:t>
            </a:r>
            <a:r>
              <a:rPr lang="en-US" sz="900" b="1" dirty="0">
                <a:solidFill>
                  <a:srgbClr val="DC2626"/>
                </a:solidFill>
              </a:rPr>
              <a:t>• Hạn chế: </a:t>
            </a:r>
            <a:r>
              <a:rPr lang="en-US" sz="900" dirty="0">
                <a:solidFill>
                  <a:srgbClr val="1F2937"/>
                </a:solidFill>
              </a:rPr>
              <a:t>Thời gian huấn luyện lâu (~20 phút), chi phí tính toán cao khi dữ liệu phình to.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8630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3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4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2: XGBoost Classifier (GBDT)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823460" y="1444752"/>
            <a:ext cx="3680460" cy="482982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pic>
        <p:nvPicPr>
          <p:cNvPr id="19" name="Image 1" descr="D:\Trí tuệ nhân tạo\HK2\Trí tuệ nhân tạo\CS106-Team09-Fraud-Detection\draft\fraud-detection\slide\slide_assets\formula_xgb_object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5441" y="1468659"/>
            <a:ext cx="3281782" cy="41979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823460" y="2019175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1" name="Text 17"/>
          <p:cNvSpPr/>
          <p:nvPr/>
        </p:nvSpPr>
        <p:spPr>
          <a:xfrm>
            <a:off x="4869180" y="2035738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Phạt phức tạp: Ω(f_t) = γ · T + ½ λ · ∑ w_j²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g_i, h_i = Gradient &amp; Hessian bậc 1, 2; T = Số node lá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482346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r>
              <a:rPr lang="en-US" sz="900" dirty="0">
                <a:solidFill>
                  <a:srgbClr val="1F2937"/>
                </a:solidFill>
              </a:rPr>
              <a:t>Gradient Boosting cải tiến với gradient bậc 1 (g_i) và Hessian bậc 2 (h_i), bổ sung L2 regularization chống Overfitting.
</a:t>
            </a:r>
            <a:r>
              <a:rPr lang="en-US" sz="900" b="1" dirty="0">
                <a:solidFill>
                  <a:srgbClr val="2563EB"/>
                </a:solidFill>
              </a:rPr>
              <a:t>• Ưu thế Vượt trội: </a:t>
            </a:r>
            <a:r>
              <a:rPr lang="en-US" sz="900" dirty="0">
                <a:solidFill>
                  <a:srgbClr val="1F2937"/>
                </a:solidFill>
              </a:rPr>
              <a:t>F1-Score đạt 99.63% tương đương RF, nhưng tốc độ huấn luyện nhanh hơn ~20 lần (57.94s; xgb_smote_summary).
</a:t>
            </a:r>
            <a:r>
              <a:rPr lang="en-US" sz="900" b="1" dirty="0">
                <a:solidFill>
                  <a:srgbClr val="21295C"/>
                </a:solidFill>
              </a:rPr>
              <a:t>• Production Ready: </a:t>
            </a:r>
            <a:r>
              <a:rPr lang="en-US" sz="900" dirty="0">
                <a:solidFill>
                  <a:srgbClr val="1F2937"/>
                </a:solidFill>
              </a:rPr>
              <a:t>Độ trễ suy luận cỡ nửa mili-giây (mô hình thuần, 1 giao dịch, CPU).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389120" cy="35844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</a:rPr>
              <a:t>Cấu trúc &amp; Nguyên lý Phát hiện Bất thường (3 Giai đoạn)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298448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Text 8"/>
          <p:cNvSpPr/>
          <p:nvPr/>
        </p:nvSpPr>
        <p:spPr>
          <a:xfrm>
            <a:off x="685800" y="1325880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14(Input) → 16(Dense) → 8(Dense) → 4(Bottleneck) → 8(Dense) → 16(Dense) → 14(Output)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1755649"/>
            <a:ext cx="4114800" cy="50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pic>
        <p:nvPicPr>
          <p:cNvPr id="12" name="Image 0" descr="D:\Trí tuệ nhân tạo\HK2\Trí tuệ nhân tạo\CS106-Team09-Fraud-Detection\draft\fraud-detection\slide\slide_assets\formula_ae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853" y="1837943"/>
            <a:ext cx="2251253" cy="39136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2029968"/>
            <a:ext cx="4114800" cy="24688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1. Giai đoạn Học Chuẩn (Normal Manifold):
</a:t>
            </a:r>
            <a:r>
              <a:rPr lang="en-US" sz="900" dirty="0">
                <a:solidFill>
                  <a:srgbClr val="1F2937"/>
                </a:solidFill>
              </a:rPr>
              <a:t>• Mạng chỉ huấn luyện trên giao dịch HỢP LỆ, học cách nén và tái tạo cấu trúc luồng tiền bình thường.
</a:t>
            </a:r>
            <a:r>
              <a:rPr lang="en-US" sz="900" b="1" dirty="0">
                <a:solidFill>
                  <a:srgbClr val="DC2626"/>
                </a:solidFill>
              </a:rPr>
              <a:t>2. Giai đoạn Bắt Lỗi (Anomaly Spike):
</a:t>
            </a:r>
            <a:r>
              <a:rPr lang="en-US" sz="900" dirty="0">
                <a:solidFill>
                  <a:srgbClr val="1F2937"/>
                </a:solidFill>
              </a:rPr>
              <a:t>• Khi gặp giao dịch gian lận bất thường, mạng không thể tái tạo chính xác → Sai số MSE tăng vọt.
</a:t>
            </a:r>
            <a:r>
              <a:rPr lang="en-US" sz="900" b="1" dirty="0">
                <a:solidFill>
                  <a:srgbClr val="2563EB"/>
                </a:solidFill>
              </a:rPr>
              <a:t>3. Giai đoạn Ra Quyết định (Thresholding):
</a:t>
            </a:r>
            <a:r>
              <a:rPr lang="en-US" sz="900" dirty="0">
                <a:solidFill>
                  <a:srgbClr val="1F2937"/>
                </a:solidFill>
              </a:rPr>
              <a:t>• Gán cờ Gian lận nếu L_rec(x, x_recon) &gt; τ (ngưỡng phân vị 95th: τ = 0.0455).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120640" y="987552"/>
            <a:ext cx="352044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5" name="Text 12"/>
          <p:cNvSpPr/>
          <p:nvPr/>
        </p:nvSpPr>
        <p:spPr>
          <a:xfrm>
            <a:off x="5212080" y="1005840"/>
            <a:ext cx="3337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 đồng nhất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243584"/>
          <a:ext cx="3520440" cy="1653540"/>
        </p:xfrm>
        <a:graphic>
          <a:graphicData uri="http://schemas.openxmlformats.org/drawingml/2006/table">
            <a:tbl>
              <a:tblPr/>
              <a:tblGrid>
                <a:gridCol w="1232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vào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gốc (14 chiều)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x_recon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ra tái tạo từ tầng giải mã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 = 14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chiều Đặc trưng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số lượng thuộc tính đầu vào của mạng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L_rec(x, x_recon)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số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Hàm mất mát MSE đo mức độ dị biệt giao dịch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 = 0.0455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Cutoff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cắt phân vị 95th để kích hoạt cảnh báo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120640" y="2975548"/>
            <a:ext cx="3520440" cy="159645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Text 14"/>
          <p:cNvSpPr/>
          <p:nvPr/>
        </p:nvSpPr>
        <p:spPr>
          <a:xfrm>
            <a:off x="5257800" y="313761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hiện Bất thường Không giám sát (Unsupervised)</a:t>
            </a:r>
            <a:endParaRPr lang="en-US" sz="960" dirty="0"/>
          </a:p>
        </p:txBody>
      </p:sp>
      <p:sp>
        <p:nvSpPr>
          <p:cNvPr id="19" name="Text 15"/>
          <p:cNvSpPr/>
          <p:nvPr/>
        </p:nvSpPr>
        <p:spPr>
          <a:xfrm>
            <a:off x="5257800" y="3360420"/>
            <a:ext cx="3246120" cy="11384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fontScale="92500" lnSpcReduction="1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đạt 75.23% Recall trên Test dù không dùng nhãn gian lận khi huấn luyện mạng.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phụ thuộc nhãn khi train: Phát hiện bất thường theo sai số tái tạo (nhãn chỉ dùng để chọn ngưỡng).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Phòng thủ Thứ cấp (Defense-in-Depth): Đóng vai trò lưới lọc an toàn chuyển giao dịch nghi vấn sang kiểm tra chuyên sâu.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 &amp; ĐÁNH GIÁ SO SÁNH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Hiệu năng Toàn diện &amp; Bảng so sánh đa chỉ số (Precision, Recall, F1, PR-AUC)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(Confusion Matrix) &amp; Đánh đổi False Alarm vs. Missed Fraud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Importance Attribution &amp; Phân tích Đóng góp Nhóm Đặc trưng Số dư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 Thresholding (Deep Autoencoder)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nghiệm: So sánh đa chỉ 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21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685837"/>
              </p:ext>
            </p:extLst>
          </p:nvPr>
        </p:nvGraphicFramePr>
        <p:xfrm>
          <a:off x="502920" y="987551"/>
          <a:ext cx="4069082" cy="1719065"/>
        </p:xfrm>
        <a:graphic>
          <a:graphicData uri="http://schemas.openxmlformats.org/drawingml/2006/table">
            <a:tbl>
              <a:tblPr/>
              <a:tblGrid>
                <a:gridCol w="13021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1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hình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Resampling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Prec.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1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1187s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1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1168s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1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129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57.94s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1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99.57%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45.48s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Autoencoder (Unsupervised)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 (Unsup.)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50.69%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2852928"/>
            <a:ext cx="406908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292608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bảng so sánh</a:t>
            </a:r>
            <a:endParaRPr lang="en-US" sz="940" dirty="0"/>
          </a:p>
        </p:txBody>
      </p:sp>
      <p:sp>
        <p:nvSpPr>
          <p:cNvPr id="10" name="Text 7"/>
          <p:cNvSpPr/>
          <p:nvPr/>
        </p:nvSpPr>
        <p:spPr>
          <a:xfrm>
            <a:off x="640080" y="3145536"/>
            <a:ext cx="3794760" cy="13533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Forest + SMOTE đạt F1-Score đỉnh cao 99.73% nhờ cơ chế Bagging triệt tiêu phương sai.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 + SMOTE đạt hiệu năng tương đương (F1 = 99.63%) nhưng tốc độ huấn luyện nhanh hơn ~20 lần (57.94s).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bắt được 75.23% gian lận hoàn toàn không cần nhãn giám sát, tạo lớp phòng thủ phát hiện bất thường thứ cấp.</a:t>
            </a:r>
            <a:endParaRPr lang="en-US" sz="860" dirty="0"/>
          </a:p>
        </p:txBody>
      </p:sp>
      <p:pic>
        <p:nvPicPr>
          <p:cNvPr id="11" name="Image 0" descr="D:\Trí tuệ nhân tạo\HK2\Trí tuệ nhân tạo\CS106-Team09-Fraud-Detection\draft\fraud-detection\slide\slide_assets\academic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987552"/>
            <a:ext cx="3886200" cy="18348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754880" y="2913836"/>
            <a:ext cx="3886200" cy="165816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986988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Biểu đồ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4892040" y="3206444"/>
            <a:ext cx="3611880" cy="129240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Precision &amp; Recall của RF và XGBoost vượt trội trên 99.5%, khẳng định tính khả thi triển khai thực tế.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hy sinh Precision (38.2%) để duy trì Recall cao (75.2%) nhằm giảm bỏ sót.</a:t>
            </a:r>
            <a:endParaRPr lang="en-US" sz="8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&amp; Đánh đổi Sai 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21</a:t>
            </a:r>
            <a:endParaRPr lang="en-US" sz="850" dirty="0"/>
          </a:p>
        </p:txBody>
      </p:sp>
      <p:pic>
        <p:nvPicPr>
          <p:cNvPr id="7" name="Image 0" descr="D:\Trí tuệ nhân tạo\HK2\Trí tuệ nhân tạo\CS106-Team09-Fraud-Detection\draft\fraud-detection\slide\slide_assets\academic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987552"/>
            <a:ext cx="7586594" cy="2194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59436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Random Forest + SMOTE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436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1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Tỷ lệ False Alarm thấp kỷ lục (chỉ 1 ca trên 38,357 mẫu test).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Precision đạt 99.94%, gần như triệt tiêu hoàn toàn báo động giả.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326136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0"/>
          <p:cNvSpPr/>
          <p:nvPr/>
        </p:nvSpPr>
        <p:spPr>
          <a:xfrm>
            <a:off x="335280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XGBoost + SMOTE (Sản xuất)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5280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4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38,353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35280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Chỉ 4 ca cảnh báo nhầm, đồng thời bắt trúng 1,635 ca gian lận.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Độ trễ cỡ nửa mili-giây (mô hình thuần, 1 giao dịch, CPU).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6019800" y="3273552"/>
            <a:ext cx="2621280" cy="14584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7" name="Text 14"/>
          <p:cNvSpPr/>
          <p:nvPr/>
        </p:nvSpPr>
        <p:spPr>
          <a:xfrm>
            <a:off x="611124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Deep Autoencoder (Unsupervised)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11124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1,236  •  FP: 1,998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407  •  TN: 36,359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1124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Bắt 1,236 ca gian lận trong điều kiện học không giám sát.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Đóng vai trò màng lọc an toàn thứ cấp cho các mẫu tấn công phi quy ước.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Đóng góp Đặc trưng (Feature Importance)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21</a:t>
            </a:r>
            <a:endParaRPr lang="en-US" sz="850" dirty="0"/>
          </a:p>
        </p:txBody>
      </p:sp>
      <p:pic>
        <p:nvPicPr>
          <p:cNvPr id="7" name="Image 0" descr="D:\Trí tuệ nhân tạo\HK2\Trí tuệ nhân tạo\CS106-Team09-Fraud-Detection\draft\fraud-detection\slide\slide_assets\academic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87552"/>
            <a:ext cx="4069080" cy="221386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92855"/>
            <a:ext cx="4069080" cy="1279145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3366007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Ý nghĩa Kỹ thuật Đặc trưng (Feature Engineering)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640080" y="3585463"/>
            <a:ext cx="3794760" cy="91338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2 đặc trưng (errorBalanceOrig dẫn xuất &amp; newbalanceOrig gốc nguồn) chiếm 97.1%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cây dựa chủ yếu vào sai lệch cân bằng kế toán để phân định gian lận thay vì chỉ học giá trị số tiền gốc.</a:t>
            </a:r>
            <a:endParaRPr lang="en-US" sz="84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909233"/>
              </p:ext>
            </p:extLst>
          </p:nvPr>
        </p:nvGraphicFramePr>
        <p:xfrm>
          <a:off x="4754880" y="987551"/>
          <a:ext cx="3886200" cy="1643222"/>
        </p:xfrm>
        <a:graphic>
          <a:graphicData uri="http://schemas.openxmlformats.org/drawingml/2006/table">
            <a:tbl>
              <a:tblPr/>
              <a:tblGrid>
                <a:gridCol w="1476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1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trưng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Split Gain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Phân loại Nghiệp vụ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số dư tài khoản nguồn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47.2%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nguồn về 0 (rút cạn tài khoản)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trị giao dịch bất thường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Khung giờ tấn công đêm (0h - 5h)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1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features còn lại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 thuộc tính phụ trợ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788920"/>
            <a:ext cx="3886200" cy="17830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86207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Bản chất Bài toán Gian lận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3081528"/>
            <a:ext cx="3611880" cy="1417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errorBalanceOrig = 49.9%: Khi kẻ gian thực hiện lệnh chuyển/rút tiền, số dư sổ cái bị trừ vượt mức số tiền thực tế có trong tài khoản.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newbalanceOrig = 47.2%: 97.55% các ca gian lận rút cạn số dư nguồn về 0 nhằm tẩu tán tối đa tài sản.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Đặc trưng số dư: Nhóm số dư chiếm 98.5% Split Gains; nhóm ghi nhận đây là thế mạnh trên PaySim nhưng cũng là nguy cơ rủi ro dữ liệu mô phỏng (Mục 3.6.2).</a:t>
            </a:r>
            <a:endParaRPr lang="en-US" sz="8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21</a:t>
            </a:r>
            <a:endParaRPr lang="en-US" sz="850" dirty="0"/>
          </a:p>
        </p:txBody>
      </p:sp>
      <p:pic>
        <p:nvPicPr>
          <p:cNvPr id="7" name="Image 0" descr="D:\Trí tuệ nhân tạo\HK2\Trí tuệ nhân tạo\CS106-Team09-Fraud-Detection\draft\fraud-detection\slide\slide_assets\academic_autoencoder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87552"/>
            <a:ext cx="4069080" cy="21215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00514"/>
            <a:ext cx="4069080" cy="137148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327366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lý Phân tách Phân bố Sai số</a:t>
            </a:r>
            <a:endParaRPr lang="en-US" sz="910" dirty="0"/>
          </a:p>
        </p:txBody>
      </p:sp>
      <p:sp>
        <p:nvSpPr>
          <p:cNvPr id="10" name="Text 7"/>
          <p:cNvSpPr/>
          <p:nvPr/>
        </p:nvSpPr>
        <p:spPr>
          <a:xfrm>
            <a:off x="640080" y="3493122"/>
            <a:ext cx="3794760" cy="100572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hợp lệ (Xanh) tập trung ở vùng sai số MSE cực thấp (&lt; 0.02).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gian lận (Đỏ) có sai số tái tạo trải dài sang phải; trục x cắt ở 0.18 nên 37.6% ca gian lận nằm ngoài hình.</a:t>
            </a:r>
            <a:endParaRPr lang="en-US" sz="83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582034"/>
              </p:ext>
            </p:extLst>
          </p:nvPr>
        </p:nvGraphicFramePr>
        <p:xfrm>
          <a:off x="4754880" y="987551"/>
          <a:ext cx="3886200" cy="1367020"/>
        </p:xfrm>
        <a:graphic>
          <a:graphicData uri="http://schemas.openxmlformats.org/drawingml/2006/table">
            <a:tbl>
              <a:tblPr/>
              <a:tblGrid>
                <a:gridCol w="1088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34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vị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τ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Precision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4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90.0th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0.0134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84.8%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26.6%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4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95.0th %ile (Chọn)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0.0455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73.5%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4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99.0th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0.1240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47.0%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66.8%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4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0.7460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606040"/>
            <a:ext cx="3886200" cy="1965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67919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Quét ngưỡng trên Validation &amp; Điểm cắt Chọn (τ = 0.0455)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2898648"/>
            <a:ext cx="3611880" cy="1600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cắt 95th (τ = 0.0455) đạt F1 cao nhất (0.5064) trong các ngưỡng thỏa Recall ≥ 60%. Trên Test độc lập đạt Recall 75.2%, Precision 38.2%.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Chiến lược Defense-in-Depth: Đóng vai trò lớp phòng thủ thứ cấp phát hiện giao dịch dị biệt chuyển sang thẩm định chuyên sâu.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cần nhãn gian lận: Mạng nơ-ron huấn luyện hoàn toàn trên luồng tiền hợp lệ (nhãn chỉ dùng ở bước quét ngưỡng).</a:t>
            </a:r>
            <a:endParaRPr lang="en-US" sz="8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&amp; ĐỊNH HƯỚNG TƯƠNG LAI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Streamlit suy luận XGBoost &amp; nhập dữ liệu mẫu CSV/JSON (tối đa 50 mẫu)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Học thuật &amp; Quy chuẩn Kỹ thuật Cốt lõi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Hạn chế Nghiên cứu &amp; Lộ trình Mở rộng Graph Neural Networks (GNN)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Streamlit &amp; Hướng phát triển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5029200" cy="3584448"/>
          </a:xfrm>
          <a:prstGeom prst="roundRect">
            <a:avLst>
              <a:gd name="adj" fmla="val 3061"/>
            </a:avLst>
          </a:prstGeom>
          <a:solidFill>
            <a:srgbClr val="0F172A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pic>
        <p:nvPicPr>
          <p:cNvPr id="8" name="Image 0" descr="D:\Trí tuệ nhân tạo\HK2\Trí tuệ nhân tạo\CS106-Team09-Fraud-Detection\draft\fraud-detection\slide\slide_assets\demo_ui_slid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1042416"/>
            <a:ext cx="4919472" cy="3474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0" y="987552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Text 7"/>
          <p:cNvSpPr/>
          <p:nvPr/>
        </p:nvSpPr>
        <p:spPr>
          <a:xfrm>
            <a:off x="5897880" y="1060704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Cốt lõi</a:t>
            </a:r>
            <a:endParaRPr lang="en-US" sz="920" dirty="0"/>
          </a:p>
        </p:txBody>
      </p:sp>
      <p:sp>
        <p:nvSpPr>
          <p:cNvPr id="11" name="Text 8"/>
          <p:cNvSpPr/>
          <p:nvPr/>
        </p:nvSpPr>
        <p:spPr>
          <a:xfrm>
            <a:off x="5897880" y="128016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fontScale="92500" lnSpcReduction="2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rò rỉ sang Test: split 80/20 trước, scaler và oversampling chỉ trên Train.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Đặc trưng Số dư: Nhóm số dư chiếm &gt; 97% split gains (rủi ro simulator artifact, Mục 3.6.2).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Benchmark: F1 = 99.73%, Recall = 99.51% (Random Forest SMOTENC, 8 ca bỏ sót).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suy luận bằng XGBoost-SMOTE; Autoencoder dùng để so sánh bất thường, không phải model chọn trên UI.</a:t>
            </a:r>
            <a:endParaRPr lang="en-US" sz="840" dirty="0"/>
          </a:p>
        </p:txBody>
      </p:sp>
      <p:sp>
        <p:nvSpPr>
          <p:cNvPr id="12" name="Shape 9"/>
          <p:cNvSpPr/>
          <p:nvPr/>
        </p:nvSpPr>
        <p:spPr>
          <a:xfrm>
            <a:off x="5760720" y="2834640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0"/>
          <p:cNvSpPr/>
          <p:nvPr/>
        </p:nvSpPr>
        <p:spPr>
          <a:xfrm>
            <a:off x="5897880" y="290779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phát triển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5897880" y="3127248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Neural Networks (GNN): GraphSAGE phát hiện rửa tiền đa tầng.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Phân tán (Kafka/Flink): Streaming hàng triệu sự kiện/giây.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AI (XAI): SHAP giải thích quyết định chặn giao dịch.</a:t>
            </a:r>
            <a:endParaRPr lang="en-US" sz="8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CHÂN THÀNH CẢM ƠN THẦY VÀ CÁC BẠN</a:t>
            </a:r>
            <a:endParaRPr lang="en-US" sz="22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LẮNG NGHE BÁO CÁO!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138988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 •  BÁO CÁO BẢO VỆ ĐỒ ÁN  •  NHÓM 09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960120" y="1719072"/>
            <a:ext cx="7223760" cy="2670048"/>
          </a:xfrm>
          <a:prstGeom prst="rect">
            <a:avLst/>
          </a:prstGeom>
          <a:solidFill>
            <a:srgbClr val="172048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960120" y="1828800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THAM KHẢO HỌC THUẬT &amp; REPOSITORY DỰ ÁN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2157984"/>
            <a:ext cx="67665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Mã nguồn Dự </a:t>
            </a:r>
            <a:r>
              <a:rPr lang="en-US" sz="930" b="1" dirty="0" err="1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án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(Public Repo): </a:t>
            </a:r>
            <a:r>
              <a:rPr lang="en-US" sz="93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https://github.com/uit-25730067-chithanh/CS106-Team09-Fraud-Detection</a:t>
            </a:r>
            <a:r>
              <a:rPr lang="en-US" sz="93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PaySim Simulator: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 A. Lopez-Rojas, A. Elmir, and S. Axelsson, "PaySim: A financial mobile money simulator for fraud      detection," in Proc. 28th Eur. Model. Simul. Symp., 2016, pp. 249-255.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XGBoost GBDT: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T. Chen and C. Guestrin, "XGBoost: A scalable tree boosting system," in Proc. 22nd ACM SIGKDD, 2016, pp. 785-794.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SMOTE Resampling: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N. V. Chawla et al., "SMOTE: Synthetic minority over-sampling technique," J. Artif. Intell. Res., vol. 16, pp. 321-357, 2002.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 rất mong nhận được những câu hỏi và góp ý quý báu từ Thầy và các bạn!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4627</Words>
  <Application>Microsoft Macintosh PowerPoint</Application>
  <PresentationFormat>On-screen Show (16:9)</PresentationFormat>
  <Paragraphs>433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Cambria</vt:lpstr>
      <vt:lpstr>Consolas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Dang Chi Thanh</cp:lastModifiedBy>
  <cp:revision>2</cp:revision>
  <dcterms:created xsi:type="dcterms:W3CDTF">2026-09-20T17:16:43Z</dcterms:created>
  <dcterms:modified xsi:type="dcterms:W3CDTF">2026-09-21T05:45:28Z</dcterms:modified>
</cp:coreProperties>
</file>