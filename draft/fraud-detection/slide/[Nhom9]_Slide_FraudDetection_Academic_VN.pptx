
<file path=[Content_Types].xml><?xml version="1.0" encoding="utf-8"?>
<Types xmlns="http://schemas.openxmlformats.org/package/2006/content-types"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3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  <p:sldId id="278" r:id="rId24"/>
    <p:sldId id="279" r:id="rId25"/>
  </p:sldIdLst>
  <p:notesMasterIdLst>
    <p:notesMasterId r:id="rId26"/>
  </p:notesMasterIdLst>
  <p:sldSz cx="9144000" cy="5143500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slide" Target="slides/slide18.xml"/><Relationship Id="rId20" Type="http://schemas.openxmlformats.org/officeDocument/2006/relationships/slide" Target="slides/slide19.xml"/><Relationship Id="rId21" Type="http://schemas.openxmlformats.org/officeDocument/2006/relationships/slide" Target="slides/slide20.xml"/><Relationship Id="rId22" Type="http://schemas.openxmlformats.org/officeDocument/2006/relationships/slide" Target="slides/slide21.xml"/><Relationship Id="rId23" Type="http://schemas.openxmlformats.org/officeDocument/2006/relationships/slide" Target="slides/slide22.xml"/><Relationship Id="rId24" Type="http://schemas.openxmlformats.org/officeDocument/2006/relationships/slide" Target="slides/slide23.xml"/><Relationship Id="rId25" Type="http://schemas.openxmlformats.org/officeDocument/2006/relationships/slide" Target="slides/slide24.xml"/><Relationship Id="rId26" Type="http://schemas.openxmlformats.org/officeDocument/2006/relationships/notesMaster" Target="notesMasters/notesMaster1.xml"/><Relationship Id="rId27" Type="http://schemas.openxmlformats.org/officeDocument/2006/relationships/presProps" Target="presProps.xml"/><Relationship Id="rId28" Type="http://schemas.openxmlformats.org/officeDocument/2006/relationships/viewProps" Target="viewProps.xml"/><Relationship Id="rId29" Type="http://schemas.openxmlformats.org/officeDocument/2006/relationships/theme" Target="theme/theme1.xml"/><Relationship Id="rId30" Type="http://schemas.openxmlformats.org/officeDocument/2006/relationships/tableStyles" Target="tableStyles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_rels/notesSlide1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1.xml"/></Relationships>
</file>

<file path=ppt/notesSlides/_rels/notesSlide1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2.xml"/></Relationships>
</file>

<file path=ppt/notesSlides/_rels/notesSlide1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3.xml"/></Relationships>
</file>

<file path=ppt/notesSlides/_rels/notesSlide1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4.xml"/></Relationships>
</file>

<file path=ppt/notesSlides/_rels/notesSlide1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5.xml"/></Relationships>
</file>

<file path=ppt/notesSlides/_rels/notesSlide1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6.xml"/></Relationships>
</file>

<file path=ppt/notesSlides/_rels/notesSlide1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7.xml"/></Relationships>
</file>

<file path=ppt/notesSlides/_rels/notesSlide1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8.xml"/></Relationships>
</file>

<file path=ppt/notesSlides/_rels/notesSlide1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9.xml"/></Relationships>
</file>

<file path=ppt/notesSlides/_rels/notesSlide2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0.xml"/></Relationships>
</file>

<file path=ppt/notesSlides/_rels/notesSlide2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1.xml"/></Relationships>
</file>

<file path=ppt/notesSlides/_rels/notesSlide2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2.xml"/></Relationships>
</file>

<file path=ppt/notesSlides/_rels/notesSlide2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3.xml"/></Relationships>
</file>

<file path=ppt/notesSlides/_rels/notesSlide2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4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3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4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5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6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image" Target="../media/image-17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7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image" Target="../media/image-18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8.xml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image" Target="../media/image-19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9.xml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image" Target="../media/image-20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0.xml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1.xml"/></Relationships>
</file>

<file path=ppt/slides/_rels/slide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2.xml"/></Relationships>
</file>

<file path=ppt/slides/_rels/slide2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3.xml"/></Relationships>
</file>

<file path=ppt/slides/_rels/slide2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4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161F4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02920" y="411480"/>
            <a:ext cx="813816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3C5FD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ĐẠI HỌC QUỐC GIA THÀNH PHỐ HỒ CHÍ MINH</a:t>
            </a:r>
            <a:endParaRPr lang="en-US" sz="900" dirty="0"/>
          </a:p>
          <a:p>
            <a:pPr algn="ctr" indent="0" marL="0">
              <a:buNone/>
            </a:pPr>
            <a:r>
              <a:rPr lang="en-US" sz="900" b="1" dirty="0">
                <a:solidFill>
                  <a:srgbClr val="93C5FD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TRƯỜNG ĐẠI HỌC CÔNG NGHỆ THÔNG TIN  •  KHOA KHOA HỌC MÁY TÍNH</a:t>
            </a:r>
            <a:endParaRPr lang="en-US" sz="900" dirty="0"/>
          </a:p>
        </p:txBody>
      </p:sp>
      <p:sp>
        <p:nvSpPr>
          <p:cNvPr id="3" name="Text 1"/>
          <p:cNvSpPr/>
          <p:nvPr/>
        </p:nvSpPr>
        <p:spPr>
          <a:xfrm>
            <a:off x="502920" y="1234440"/>
            <a:ext cx="8138160" cy="6858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3400" b="1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PHÁT HIỆN GIAN LẬN TÀI CHÍNH</a:t>
            </a:r>
            <a:endParaRPr lang="en-US" sz="3400" dirty="0"/>
          </a:p>
        </p:txBody>
      </p:sp>
      <p:sp>
        <p:nvSpPr>
          <p:cNvPr id="4" name="Text 2"/>
          <p:cNvSpPr/>
          <p:nvPr/>
        </p:nvSpPr>
        <p:spPr>
          <a:xfrm>
            <a:off x="502920" y="1965960"/>
            <a:ext cx="813816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50" i="1" dirty="0">
                <a:solidFill>
                  <a:srgbClr val="BAE6FD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Ứng dụng Machine Learning &amp; Deep Learning trên Tập dữ liệu PaySim</a:t>
            </a:r>
            <a:endParaRPr lang="en-US" sz="1450" dirty="0"/>
          </a:p>
        </p:txBody>
      </p:sp>
      <p:sp>
        <p:nvSpPr>
          <p:cNvPr id="5" name="Text 3"/>
          <p:cNvSpPr/>
          <p:nvPr/>
        </p:nvSpPr>
        <p:spPr>
          <a:xfrm>
            <a:off x="502920" y="2606040"/>
            <a:ext cx="813816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Môn học: CS106 — Trí tuệ Nhân tạo  |  GVHD: PGS.TS. Nguyễn Đình Hiển</a:t>
            </a:r>
            <a:endParaRPr lang="en-US" sz="1200" dirty="0"/>
          </a:p>
        </p:txBody>
      </p:sp>
      <p:sp>
        <p:nvSpPr>
          <p:cNvPr id="6" name="Shape 4"/>
          <p:cNvSpPr/>
          <p:nvPr/>
        </p:nvSpPr>
        <p:spPr>
          <a:xfrm>
            <a:off x="3063240" y="3035808"/>
            <a:ext cx="1097280" cy="0"/>
          </a:xfrm>
          <a:prstGeom prst="line">
            <a:avLst/>
          </a:prstGeom>
          <a:noFill/>
          <a:ln w="19050">
            <a:solidFill>
              <a:srgbClr val="38BDF8"/>
            </a:solidFill>
            <a:prstDash val="solid"/>
          </a:ln>
        </p:spPr>
        <p:txBody>
          <a:bodyPr/>
          <a:p/>
        </p:txBody>
      </p:sp>
      <p:sp>
        <p:nvSpPr>
          <p:cNvPr id="7" name="Text 5"/>
          <p:cNvSpPr/>
          <p:nvPr/>
        </p:nvSpPr>
        <p:spPr>
          <a:xfrm>
            <a:off x="4251960" y="2944368"/>
            <a:ext cx="82296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50" b="1" dirty="0">
                <a:solidFill>
                  <a:srgbClr val="FDE047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NHÓM 09</a:t>
            </a:r>
            <a:endParaRPr lang="en-US" sz="1150" dirty="0"/>
          </a:p>
        </p:txBody>
      </p:sp>
      <p:sp>
        <p:nvSpPr>
          <p:cNvPr id="8" name="Shape 6"/>
          <p:cNvSpPr/>
          <p:nvPr/>
        </p:nvSpPr>
        <p:spPr>
          <a:xfrm>
            <a:off x="5166360" y="3035808"/>
            <a:ext cx="1097280" cy="0"/>
          </a:xfrm>
          <a:prstGeom prst="line">
            <a:avLst/>
          </a:prstGeom>
          <a:noFill/>
          <a:ln w="19050">
            <a:solidFill>
              <a:srgbClr val="38BDF8"/>
            </a:solidFill>
            <a:prstDash val="solid"/>
          </a:ln>
        </p:spPr>
        <p:txBody>
          <a:bodyPr/>
          <a:p/>
        </p:txBody>
      </p:sp>
      <p:sp>
        <p:nvSpPr>
          <p:cNvPr id="9" name="Text 7"/>
          <p:cNvSpPr/>
          <p:nvPr/>
        </p:nvSpPr>
        <p:spPr>
          <a:xfrm>
            <a:off x="502920" y="3337560"/>
            <a:ext cx="813816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50" dirty="0">
                <a:solidFill>
                  <a:srgbClr val="E2E8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Trần Hoàng Hôn (26410046)  •  Đặng Chí Thanh (25730067)  •  Nguyễn Duy Khang (26410055)</a:t>
            </a:r>
            <a:endParaRPr lang="en-US" sz="950" dirty="0"/>
          </a:p>
          <a:p>
            <a:pPr algn="ctr" indent="0" marL="0">
              <a:buNone/>
            </a:pPr>
            <a:r>
              <a:rPr lang="en-US" sz="950" dirty="0">
                <a:solidFill>
                  <a:srgbClr val="E2E8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Hoàng Cao Sơn (25730061)  •  Vũ Văn Duy (26410031)  •  Bùi Thị Mỹ Cẩm (25730013)  •  Phạm Thanh Trung (26410141)</a:t>
            </a:r>
            <a:endParaRPr lang="en-US" sz="950" dirty="0"/>
          </a:p>
        </p:txBody>
      </p:sp>
      <p:sp>
        <p:nvSpPr>
          <p:cNvPr id="10" name="Text 8"/>
          <p:cNvSpPr/>
          <p:nvPr/>
        </p:nvSpPr>
        <p:spPr>
          <a:xfrm>
            <a:off x="502920" y="4389120"/>
            <a:ext cx="813816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TP. Hồ Chí Minh, Tháng 09/2026</a:t>
            </a:r>
            <a:endParaRPr lang="en-US" sz="9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02920" y="228600"/>
            <a:ext cx="813816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900" b="1" dirty="0">
                <a:solidFill>
                  <a:srgbClr val="D97706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UIT • ĐHQG-HCM | CS106: TRÍ TUỆ NHÂN TẠO</a:t>
            </a:r>
            <a:endParaRPr lang="en-US" sz="900" dirty="0"/>
          </a:p>
        </p:txBody>
      </p:sp>
      <p:sp>
        <p:nvSpPr>
          <p:cNvPr id="3" name="Text 1"/>
          <p:cNvSpPr/>
          <p:nvPr/>
        </p:nvSpPr>
        <p:spPr>
          <a:xfrm>
            <a:off x="502920" y="475488"/>
            <a:ext cx="813816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1E295C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NỘI DUNG BÁO CÁO &amp; LỘ TRÌNH</a:t>
            </a:r>
            <a:endParaRPr lang="en-US" sz="2200" dirty="0"/>
          </a:p>
        </p:txBody>
      </p:sp>
      <p:sp>
        <p:nvSpPr>
          <p:cNvPr id="4" name="Shape 2"/>
          <p:cNvSpPr/>
          <p:nvPr/>
        </p:nvSpPr>
        <p:spPr>
          <a:xfrm>
            <a:off x="502920" y="914400"/>
            <a:ext cx="8138160" cy="0"/>
          </a:xfrm>
          <a:prstGeom prst="line">
            <a:avLst/>
          </a:prstGeom>
          <a:noFill/>
          <a:ln w="9525">
            <a:solidFill>
              <a:srgbClr val="E2E8F0"/>
            </a:solidFill>
            <a:prstDash val="solid"/>
          </a:ln>
        </p:spPr>
        <p:txBody>
          <a:bodyPr/>
          <a:p/>
        </p:txBody>
      </p:sp>
      <p:sp>
        <p:nvSpPr>
          <p:cNvPr id="5" name="Shape 3"/>
          <p:cNvSpPr/>
          <p:nvPr/>
        </p:nvSpPr>
        <p:spPr>
          <a:xfrm>
            <a:off x="502920" y="1097280"/>
            <a:ext cx="685800" cy="594360"/>
          </a:xfrm>
          <a:prstGeom prst="roundRect">
            <a:avLst>
              <a:gd name="adj" fmla="val 9231"/>
            </a:avLst>
          </a:prstGeom>
          <a:solidFill>
            <a:srgbClr val="2563EB"/>
          </a:solidFill>
          <a:ln/>
        </p:spPr>
        <p:txBody>
          <a:bodyPr/>
          <a:p/>
        </p:txBody>
      </p:sp>
      <p:sp>
        <p:nvSpPr>
          <p:cNvPr id="6" name="Text 4"/>
          <p:cNvSpPr/>
          <p:nvPr/>
        </p:nvSpPr>
        <p:spPr>
          <a:xfrm>
            <a:off x="502920" y="1097280"/>
            <a:ext cx="685800" cy="594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01</a:t>
            </a:r>
            <a:endParaRPr lang="en-US" sz="1800" dirty="0"/>
          </a:p>
        </p:txBody>
      </p:sp>
      <p:sp>
        <p:nvSpPr>
          <p:cNvPr id="7" name="Shape 5"/>
          <p:cNvSpPr/>
          <p:nvPr/>
        </p:nvSpPr>
        <p:spPr>
          <a:xfrm>
            <a:off x="1307592" y="1097280"/>
            <a:ext cx="7333488" cy="594360"/>
          </a:xfrm>
          <a:prstGeom prst="roundRect">
            <a:avLst>
              <a:gd name="adj" fmla="val 7692"/>
            </a:avLst>
          </a:prstGeom>
          <a:solidFill>
            <a:srgbClr val="F8FAFC"/>
          </a:solidFill>
          <a:ln w="9525">
            <a:solidFill>
              <a:srgbClr val="E2E8F0"/>
            </a:solidFill>
            <a:prstDash val="solid"/>
          </a:ln>
        </p:spPr>
        <p:txBody>
          <a:bodyPr/>
          <a:p/>
        </p:txBody>
      </p:sp>
      <p:sp>
        <p:nvSpPr>
          <p:cNvPr id="8" name="Text 6"/>
          <p:cNvSpPr/>
          <p:nvPr/>
        </p:nvSpPr>
        <p:spPr>
          <a:xfrm>
            <a:off x="1463040" y="1152144"/>
            <a:ext cx="6583680" cy="23774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1E295C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Giới thiệu &amp; Problem Formulation</a:t>
            </a:r>
            <a:endParaRPr lang="en-US" sz="1250" dirty="0"/>
          </a:p>
        </p:txBody>
      </p:sp>
      <p:sp>
        <p:nvSpPr>
          <p:cNvPr id="9" name="Text 7"/>
          <p:cNvSpPr/>
          <p:nvPr/>
        </p:nvSpPr>
        <p:spPr>
          <a:xfrm>
            <a:off x="1463040" y="1389888"/>
            <a:ext cx="65836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4B556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Bối cảnh tài chính, bài toán Extreme Class Imbalance và phát biểu bài toán.</a:t>
            </a:r>
            <a:endParaRPr lang="en-US" sz="950" dirty="0"/>
          </a:p>
        </p:txBody>
      </p:sp>
      <p:sp>
        <p:nvSpPr>
          <p:cNvPr id="10" name="Shape 8"/>
          <p:cNvSpPr/>
          <p:nvPr/>
        </p:nvSpPr>
        <p:spPr>
          <a:xfrm>
            <a:off x="502920" y="1819656"/>
            <a:ext cx="685800" cy="594360"/>
          </a:xfrm>
          <a:prstGeom prst="roundRect">
            <a:avLst>
              <a:gd name="adj" fmla="val 9231"/>
            </a:avLst>
          </a:prstGeom>
          <a:solidFill>
            <a:srgbClr val="1D4ED8"/>
          </a:solidFill>
          <a:ln/>
        </p:spPr>
        <p:txBody>
          <a:bodyPr/>
          <a:p/>
        </p:txBody>
      </p:sp>
      <p:sp>
        <p:nvSpPr>
          <p:cNvPr id="11" name="Text 9"/>
          <p:cNvSpPr/>
          <p:nvPr/>
        </p:nvSpPr>
        <p:spPr>
          <a:xfrm>
            <a:off x="502920" y="1819656"/>
            <a:ext cx="685800" cy="594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02</a:t>
            </a:r>
            <a:endParaRPr lang="en-US" sz="1800" dirty="0"/>
          </a:p>
        </p:txBody>
      </p:sp>
      <p:sp>
        <p:nvSpPr>
          <p:cNvPr id="12" name="Shape 10"/>
          <p:cNvSpPr/>
          <p:nvPr/>
        </p:nvSpPr>
        <p:spPr>
          <a:xfrm>
            <a:off x="1307592" y="1819656"/>
            <a:ext cx="7333488" cy="594360"/>
          </a:xfrm>
          <a:prstGeom prst="roundRect">
            <a:avLst>
              <a:gd name="adj" fmla="val 7692"/>
            </a:avLst>
          </a:prstGeom>
          <a:solidFill>
            <a:srgbClr val="F8FAFC"/>
          </a:solidFill>
          <a:ln w="9525">
            <a:solidFill>
              <a:srgbClr val="E2E8F0"/>
            </a:solidFill>
            <a:prstDash val="solid"/>
          </a:ln>
        </p:spPr>
        <p:txBody>
          <a:bodyPr/>
          <a:p/>
        </p:txBody>
      </p:sp>
      <p:sp>
        <p:nvSpPr>
          <p:cNvPr id="13" name="Text 11"/>
          <p:cNvSpPr/>
          <p:nvPr/>
        </p:nvSpPr>
        <p:spPr>
          <a:xfrm>
            <a:off x="1463040" y="1874520"/>
            <a:ext cx="6583680" cy="23774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1E295C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Exploratory Data Analysis &amp; Feature Engineering</a:t>
            </a:r>
            <a:endParaRPr lang="en-US" sz="1250" dirty="0"/>
          </a:p>
        </p:txBody>
      </p:sp>
      <p:sp>
        <p:nvSpPr>
          <p:cNvPr id="14" name="Text 12"/>
          <p:cNvSpPr/>
          <p:nvPr/>
        </p:nvSpPr>
        <p:spPr>
          <a:xfrm>
            <a:off x="1463040" y="2112264"/>
            <a:ext cx="65836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4B556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Khu biệt loại giao dịch, dấu vết rút cạn số dư và 14 engineered features.</a:t>
            </a:r>
            <a:endParaRPr lang="en-US" sz="950" dirty="0"/>
          </a:p>
        </p:txBody>
      </p:sp>
      <p:sp>
        <p:nvSpPr>
          <p:cNvPr id="15" name="Shape 13"/>
          <p:cNvSpPr/>
          <p:nvPr/>
        </p:nvSpPr>
        <p:spPr>
          <a:xfrm>
            <a:off x="502920" y="2542032"/>
            <a:ext cx="685800" cy="594360"/>
          </a:xfrm>
          <a:prstGeom prst="roundRect">
            <a:avLst>
              <a:gd name="adj" fmla="val 9231"/>
            </a:avLst>
          </a:prstGeom>
          <a:solidFill>
            <a:srgbClr val="1E40AF"/>
          </a:solidFill>
          <a:ln/>
        </p:spPr>
        <p:txBody>
          <a:bodyPr/>
          <a:p/>
        </p:txBody>
      </p:sp>
      <p:sp>
        <p:nvSpPr>
          <p:cNvPr id="16" name="Text 14"/>
          <p:cNvSpPr/>
          <p:nvPr/>
        </p:nvSpPr>
        <p:spPr>
          <a:xfrm>
            <a:off x="502920" y="2542032"/>
            <a:ext cx="685800" cy="594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03</a:t>
            </a:r>
            <a:endParaRPr lang="en-US" sz="1800" dirty="0"/>
          </a:p>
        </p:txBody>
      </p:sp>
      <p:sp>
        <p:nvSpPr>
          <p:cNvPr id="17" name="Shape 15"/>
          <p:cNvSpPr/>
          <p:nvPr/>
        </p:nvSpPr>
        <p:spPr>
          <a:xfrm>
            <a:off x="1307592" y="2542032"/>
            <a:ext cx="7333488" cy="594360"/>
          </a:xfrm>
          <a:prstGeom prst="roundRect">
            <a:avLst>
              <a:gd name="adj" fmla="val 7692"/>
            </a:avLst>
          </a:prstGeom>
          <a:solidFill>
            <a:srgbClr val="F8FAFC"/>
          </a:solidFill>
          <a:ln w="9525">
            <a:solidFill>
              <a:srgbClr val="E2E8F0"/>
            </a:solidFill>
            <a:prstDash val="solid"/>
          </a:ln>
        </p:spPr>
        <p:txBody>
          <a:bodyPr/>
          <a:p/>
        </p:txBody>
      </p:sp>
      <p:sp>
        <p:nvSpPr>
          <p:cNvPr id="18" name="Text 16"/>
          <p:cNvSpPr/>
          <p:nvPr/>
        </p:nvSpPr>
        <p:spPr>
          <a:xfrm>
            <a:off x="1463040" y="2596896"/>
            <a:ext cx="6583680" cy="23774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1E295C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Phương pháp Đề xuất &amp; ML Pipeline</a:t>
            </a:r>
            <a:endParaRPr lang="en-US" sz="1250" dirty="0"/>
          </a:p>
        </p:txBody>
      </p:sp>
      <p:sp>
        <p:nvSpPr>
          <p:cNvPr id="19" name="Text 17"/>
          <p:cNvSpPr/>
          <p:nvPr/>
        </p:nvSpPr>
        <p:spPr>
          <a:xfrm>
            <a:off x="1463040" y="2834640"/>
            <a:ext cx="65836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4B556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Resampling (SMOTE/ADASYN), Random Forest, XGBoost và Deep Autoencoder.</a:t>
            </a:r>
            <a:endParaRPr lang="en-US" sz="950" dirty="0"/>
          </a:p>
        </p:txBody>
      </p:sp>
      <p:sp>
        <p:nvSpPr>
          <p:cNvPr id="20" name="Shape 18"/>
          <p:cNvSpPr/>
          <p:nvPr/>
        </p:nvSpPr>
        <p:spPr>
          <a:xfrm>
            <a:off x="502920" y="3264408"/>
            <a:ext cx="685800" cy="594360"/>
          </a:xfrm>
          <a:prstGeom prst="roundRect">
            <a:avLst>
              <a:gd name="adj" fmla="val 9231"/>
            </a:avLst>
          </a:prstGeom>
          <a:solidFill>
            <a:srgbClr val="1E3A8A"/>
          </a:solidFill>
          <a:ln/>
        </p:spPr>
        <p:txBody>
          <a:bodyPr/>
          <a:p/>
        </p:txBody>
      </p:sp>
      <p:sp>
        <p:nvSpPr>
          <p:cNvPr id="21" name="Text 19"/>
          <p:cNvSpPr/>
          <p:nvPr/>
        </p:nvSpPr>
        <p:spPr>
          <a:xfrm>
            <a:off x="502920" y="3264408"/>
            <a:ext cx="685800" cy="594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04</a:t>
            </a:r>
            <a:endParaRPr lang="en-US" sz="1800" dirty="0"/>
          </a:p>
        </p:txBody>
      </p:sp>
      <p:sp>
        <p:nvSpPr>
          <p:cNvPr id="22" name="Shape 20"/>
          <p:cNvSpPr/>
          <p:nvPr/>
        </p:nvSpPr>
        <p:spPr>
          <a:xfrm>
            <a:off x="1307592" y="3264408"/>
            <a:ext cx="7333488" cy="594360"/>
          </a:xfrm>
          <a:prstGeom prst="roundRect">
            <a:avLst>
              <a:gd name="adj" fmla="val 7692"/>
            </a:avLst>
          </a:prstGeom>
          <a:solidFill>
            <a:srgbClr val="F8FAFC"/>
          </a:solidFill>
          <a:ln w="9525">
            <a:solidFill>
              <a:srgbClr val="E2E8F0"/>
            </a:solidFill>
            <a:prstDash val="solid"/>
          </a:ln>
        </p:spPr>
        <p:txBody>
          <a:bodyPr/>
          <a:p/>
        </p:txBody>
      </p:sp>
      <p:sp>
        <p:nvSpPr>
          <p:cNvPr id="23" name="Text 21"/>
          <p:cNvSpPr/>
          <p:nvPr/>
        </p:nvSpPr>
        <p:spPr>
          <a:xfrm>
            <a:off x="1463040" y="3319272"/>
            <a:ext cx="6583680" cy="23774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1E295C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Kết quả Thực nghiệm &amp; Đánh giá So sánh</a:t>
            </a:r>
            <a:endParaRPr lang="en-US" sz="1250" dirty="0"/>
          </a:p>
        </p:txBody>
      </p:sp>
      <p:sp>
        <p:nvSpPr>
          <p:cNvPr id="24" name="Text 22"/>
          <p:cNvSpPr/>
          <p:nvPr/>
        </p:nvSpPr>
        <p:spPr>
          <a:xfrm>
            <a:off x="1463040" y="3557016"/>
            <a:ext cx="65836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4B556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Benchmark hiệu năng, Confusion Matrix, Feature Gain và phân tích sai số.</a:t>
            </a:r>
            <a:endParaRPr lang="en-US" sz="950" dirty="0"/>
          </a:p>
        </p:txBody>
      </p:sp>
      <p:sp>
        <p:nvSpPr>
          <p:cNvPr id="25" name="Shape 23"/>
          <p:cNvSpPr/>
          <p:nvPr/>
        </p:nvSpPr>
        <p:spPr>
          <a:xfrm>
            <a:off x="502920" y="3986784"/>
            <a:ext cx="685800" cy="594360"/>
          </a:xfrm>
          <a:prstGeom prst="roundRect">
            <a:avLst>
              <a:gd name="adj" fmla="val 9231"/>
            </a:avLst>
          </a:prstGeom>
          <a:solidFill>
            <a:srgbClr val="172554"/>
          </a:solidFill>
          <a:ln/>
        </p:spPr>
        <p:txBody>
          <a:bodyPr/>
          <a:p/>
        </p:txBody>
      </p:sp>
      <p:sp>
        <p:nvSpPr>
          <p:cNvPr id="26" name="Text 24"/>
          <p:cNvSpPr/>
          <p:nvPr/>
        </p:nvSpPr>
        <p:spPr>
          <a:xfrm>
            <a:off x="502920" y="3986784"/>
            <a:ext cx="685800" cy="594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05</a:t>
            </a:r>
            <a:endParaRPr lang="en-US" sz="1800" dirty="0"/>
          </a:p>
        </p:txBody>
      </p:sp>
      <p:sp>
        <p:nvSpPr>
          <p:cNvPr id="27" name="Shape 25"/>
          <p:cNvSpPr/>
          <p:nvPr/>
        </p:nvSpPr>
        <p:spPr>
          <a:xfrm>
            <a:off x="1307592" y="3986784"/>
            <a:ext cx="7333488" cy="594360"/>
          </a:xfrm>
          <a:prstGeom prst="roundRect">
            <a:avLst>
              <a:gd name="adj" fmla="val 7692"/>
            </a:avLst>
          </a:prstGeom>
          <a:solidFill>
            <a:srgbClr val="F8FAFC"/>
          </a:solidFill>
          <a:ln w="9525">
            <a:solidFill>
              <a:srgbClr val="E2E8F0"/>
            </a:solidFill>
            <a:prstDash val="solid"/>
          </a:ln>
        </p:spPr>
        <p:txBody>
          <a:bodyPr/>
          <a:p/>
        </p:txBody>
      </p:sp>
      <p:sp>
        <p:nvSpPr>
          <p:cNvPr id="28" name="Text 26"/>
          <p:cNvSpPr/>
          <p:nvPr/>
        </p:nvSpPr>
        <p:spPr>
          <a:xfrm>
            <a:off x="1463040" y="4041648"/>
            <a:ext cx="6583680" cy="23774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1E295C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Hệ thống Thực thi &amp; Hướng Phát triển</a:t>
            </a:r>
            <a:endParaRPr lang="en-US" sz="1250" dirty="0"/>
          </a:p>
        </p:txBody>
      </p:sp>
      <p:sp>
        <p:nvSpPr>
          <p:cNvPr id="29" name="Text 27"/>
          <p:cNvSpPr/>
          <p:nvPr/>
        </p:nvSpPr>
        <p:spPr>
          <a:xfrm>
            <a:off x="1463040" y="4279392"/>
            <a:ext cx="65836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4B556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Dashboard Streamlit real-time, đóng góp cốt lõi, hạn chế và lộ trình GNN.</a:t>
            </a:r>
            <a:endParaRPr lang="en-US" sz="950" dirty="0"/>
          </a:p>
        </p:txBody>
      </p:sp>
      <p:sp>
        <p:nvSpPr>
          <p:cNvPr id="30" name="Text 28"/>
          <p:cNvSpPr/>
          <p:nvPr/>
        </p:nvSpPr>
        <p:spPr>
          <a:xfrm>
            <a:off x="502920" y="4823460"/>
            <a:ext cx="5669280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CS106: Trí tuệ Nhân tạo — Nhóm 09 — Báo cáo Đồ án: Phát hiện Gian lận Tài chính</a:t>
            </a:r>
            <a:endParaRPr lang="en-US" sz="850" dirty="0"/>
          </a:p>
        </p:txBody>
      </p:sp>
      <p:sp>
        <p:nvSpPr>
          <p:cNvPr id="31" name="Text 29"/>
          <p:cNvSpPr/>
          <p:nvPr/>
        </p:nvSpPr>
        <p:spPr>
          <a:xfrm>
            <a:off x="7269480" y="4823460"/>
            <a:ext cx="1371600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5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 / 24</a:t>
            </a:r>
            <a:endParaRPr lang="en-US" sz="85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161F4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02920" y="457200"/>
            <a:ext cx="813816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3C5FD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TRƯỜNG ĐẠI HỌC CÔNG NGHỆ THÔNG TIN, ĐHQG-HCM  •  BÁO CÁO ĐỒ ÁN CS106</a:t>
            </a:r>
            <a:endParaRPr lang="en-US" sz="900" dirty="0"/>
          </a:p>
        </p:txBody>
      </p:sp>
      <p:sp>
        <p:nvSpPr>
          <p:cNvPr id="3" name="Shape 1"/>
          <p:cNvSpPr/>
          <p:nvPr/>
        </p:nvSpPr>
        <p:spPr>
          <a:xfrm>
            <a:off x="3886200" y="1188720"/>
            <a:ext cx="1371600" cy="384048"/>
          </a:xfrm>
          <a:prstGeom prst="roundRect">
            <a:avLst>
              <a:gd name="adj" fmla="val 19048"/>
            </a:avLst>
          </a:prstGeom>
          <a:solidFill>
            <a:srgbClr val="2563EB"/>
          </a:solidFill>
          <a:ln w="12700">
            <a:solidFill>
              <a:srgbClr val="60A5FA"/>
            </a:solidFill>
            <a:prstDash val="solid"/>
          </a:ln>
        </p:spPr>
        <p:txBody>
          <a:bodyPr/>
          <a:p/>
        </p:txBody>
      </p:sp>
      <p:sp>
        <p:nvSpPr>
          <p:cNvPr id="4" name="Text 2"/>
          <p:cNvSpPr/>
          <p:nvPr/>
        </p:nvSpPr>
        <p:spPr>
          <a:xfrm>
            <a:off x="3886200" y="1188720"/>
            <a:ext cx="137160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50" b="1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PHẦN 01</a:t>
            </a:r>
            <a:endParaRPr lang="en-US" sz="1250" dirty="0"/>
          </a:p>
        </p:txBody>
      </p:sp>
      <p:sp>
        <p:nvSpPr>
          <p:cNvPr id="5" name="Text 3"/>
          <p:cNvSpPr/>
          <p:nvPr/>
        </p:nvSpPr>
        <p:spPr>
          <a:xfrm>
            <a:off x="502920" y="1783080"/>
            <a:ext cx="8138160" cy="6858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500" b="1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GIỚI THIỆU &amp; PROBLEM FORMULATION</a:t>
            </a:r>
            <a:endParaRPr lang="en-US" sz="2500" dirty="0"/>
          </a:p>
        </p:txBody>
      </p:sp>
      <p:sp>
        <p:nvSpPr>
          <p:cNvPr id="6" name="Shape 4"/>
          <p:cNvSpPr/>
          <p:nvPr/>
        </p:nvSpPr>
        <p:spPr>
          <a:xfrm>
            <a:off x="3200400" y="2578608"/>
            <a:ext cx="2743200" cy="0"/>
          </a:xfrm>
          <a:prstGeom prst="line">
            <a:avLst/>
          </a:prstGeom>
          <a:noFill/>
          <a:ln w="25400">
            <a:solidFill>
              <a:srgbClr val="F59E0B"/>
            </a:solidFill>
            <a:prstDash val="solid"/>
          </a:ln>
        </p:spPr>
        <p:txBody>
          <a:bodyPr/>
          <a:p/>
        </p:txBody>
      </p:sp>
      <p:sp>
        <p:nvSpPr>
          <p:cNvPr id="7" name="Shape 5"/>
          <p:cNvSpPr/>
          <p:nvPr/>
        </p:nvSpPr>
        <p:spPr>
          <a:xfrm>
            <a:off x="2011680" y="2852928"/>
            <a:ext cx="5120640" cy="1508760"/>
          </a:xfrm>
          <a:prstGeom prst="roundRect">
            <a:avLst>
              <a:gd name="adj" fmla="val 3636"/>
            </a:avLst>
          </a:prstGeom>
          <a:solidFill>
            <a:srgbClr val="1E295C"/>
          </a:solidFill>
          <a:ln w="9525">
            <a:solidFill>
              <a:srgbClr val="3B82F6"/>
            </a:solidFill>
            <a:prstDash val="solid"/>
          </a:ln>
        </p:spPr>
        <p:txBody>
          <a:bodyPr/>
          <a:p/>
        </p:txBody>
      </p:sp>
      <p:sp>
        <p:nvSpPr>
          <p:cNvPr id="8" name="Text 6"/>
          <p:cNvSpPr/>
          <p:nvPr/>
        </p:nvSpPr>
        <p:spPr>
          <a:xfrm>
            <a:off x="2286000" y="2971800"/>
            <a:ext cx="4572000" cy="12801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342900" indent="-342900">
              <a:buSzPct val="100000"/>
              <a:buChar char="•"/>
            </a:pPr>
            <a:r>
              <a:rPr lang="en-US" sz="1100" dirty="0">
                <a:solidFill>
                  <a:srgbClr val="E2E8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Bối cảnh Công nghiệp &amp; Sự bùng nổ Mobile Money</a:t>
            </a:r>
            <a:endParaRPr lang="en-US" sz="1100" dirty="0"/>
          </a:p>
          <a:p>
            <a:pPr marL="342900" indent="-342900">
              <a:buSzPct val="100000"/>
              <a:buChar char="•"/>
            </a:pPr>
            <a:r>
              <a:rPr lang="en-US" sz="1100" dirty="0">
                <a:solidFill>
                  <a:srgbClr val="E2E8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Thách thức Extreme Class Imbalance (~0.13%) &amp; Asymmetric Cost</a:t>
            </a:r>
            <a:endParaRPr lang="en-US" sz="1100" dirty="0"/>
          </a:p>
          <a:p>
            <a:pPr marL="342900" indent="-342900">
              <a:buSzPct val="100000"/>
              <a:buChar char="•"/>
            </a:pPr>
            <a:r>
              <a:rPr lang="en-US" sz="1100" dirty="0">
                <a:solidFill>
                  <a:srgbClr val="E2E8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Phát biểu Bài toán Hình thức &amp; Mục tiêu Nghiên cứu</a:t>
            </a:r>
            <a:endParaRPr lang="en-US" sz="11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02920" y="164592"/>
            <a:ext cx="246888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850" b="1" dirty="0">
                <a:solidFill>
                  <a:srgbClr val="D97706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UIT • ĐHQG-HCM | CS106 (AI)</a:t>
            </a:r>
            <a:endParaRPr lang="en-US" sz="850" dirty="0"/>
          </a:p>
        </p:txBody>
      </p:sp>
      <p:sp>
        <p:nvSpPr>
          <p:cNvPr id="3" name="Shape 1"/>
          <p:cNvSpPr/>
          <p:nvPr/>
        </p:nvSpPr>
        <p:spPr>
          <a:xfrm>
            <a:off x="3758184" y="146304"/>
            <a:ext cx="932688" cy="219456"/>
          </a:xfrm>
          <a:prstGeom prst="roundRect">
            <a:avLst>
              <a:gd name="adj" fmla="val 20833"/>
            </a:avLst>
          </a:prstGeom>
          <a:solidFill>
            <a:srgbClr val="2563EB"/>
          </a:solidFill>
          <a:ln w="6350">
            <a:solidFill>
              <a:srgbClr val="1D4ED8"/>
            </a:solidFill>
            <a:prstDash val="solid"/>
          </a:ln>
        </p:spPr>
        <p:txBody>
          <a:bodyPr/>
          <a:p/>
        </p:txBody>
      </p:sp>
      <p:sp>
        <p:nvSpPr>
          <p:cNvPr id="4" name="Text 2"/>
          <p:cNvSpPr/>
          <p:nvPr/>
        </p:nvSpPr>
        <p:spPr>
          <a:xfrm>
            <a:off x="3758184" y="146304"/>
            <a:ext cx="932688" cy="2194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720" b="1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1. Giới thiệu</a:t>
            </a:r>
            <a:endParaRPr lang="en-US" sz="720" dirty="0"/>
          </a:p>
        </p:txBody>
      </p:sp>
      <p:sp>
        <p:nvSpPr>
          <p:cNvPr id="5" name="Shape 3"/>
          <p:cNvSpPr/>
          <p:nvPr/>
        </p:nvSpPr>
        <p:spPr>
          <a:xfrm>
            <a:off x="4745736" y="146304"/>
            <a:ext cx="932688" cy="219456"/>
          </a:xfrm>
          <a:prstGeom prst="roundRect">
            <a:avLst>
              <a:gd name="adj" fmla="val 20833"/>
            </a:avLst>
          </a:prstGeom>
          <a:solidFill>
            <a:srgbClr val="F1F5F9"/>
          </a:solidFill>
          <a:ln w="6350">
            <a:solidFill>
              <a:srgbClr val="E2E8F0"/>
            </a:solidFill>
            <a:prstDash val="solid"/>
          </a:ln>
        </p:spPr>
        <p:txBody>
          <a:bodyPr/>
          <a:p/>
        </p:txBody>
      </p:sp>
      <p:sp>
        <p:nvSpPr>
          <p:cNvPr id="6" name="Text 4"/>
          <p:cNvSpPr/>
          <p:nvPr/>
        </p:nvSpPr>
        <p:spPr>
          <a:xfrm>
            <a:off x="4745736" y="146304"/>
            <a:ext cx="932688" cy="2194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720" dirty="0">
                <a:solidFill>
                  <a:srgbClr val="64748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2. EDA &amp; Features</a:t>
            </a:r>
            <a:endParaRPr lang="en-US" sz="720" dirty="0"/>
          </a:p>
        </p:txBody>
      </p:sp>
      <p:sp>
        <p:nvSpPr>
          <p:cNvPr id="7" name="Shape 5"/>
          <p:cNvSpPr/>
          <p:nvPr/>
        </p:nvSpPr>
        <p:spPr>
          <a:xfrm>
            <a:off x="5733288" y="146304"/>
            <a:ext cx="932688" cy="219456"/>
          </a:xfrm>
          <a:prstGeom prst="roundRect">
            <a:avLst>
              <a:gd name="adj" fmla="val 20833"/>
            </a:avLst>
          </a:prstGeom>
          <a:solidFill>
            <a:srgbClr val="F1F5F9"/>
          </a:solidFill>
          <a:ln w="6350">
            <a:solidFill>
              <a:srgbClr val="E2E8F0"/>
            </a:solidFill>
            <a:prstDash val="solid"/>
          </a:ln>
        </p:spPr>
        <p:txBody>
          <a:bodyPr/>
          <a:p/>
        </p:txBody>
      </p:sp>
      <p:sp>
        <p:nvSpPr>
          <p:cNvPr id="8" name="Text 6"/>
          <p:cNvSpPr/>
          <p:nvPr/>
        </p:nvSpPr>
        <p:spPr>
          <a:xfrm>
            <a:off x="5733288" y="146304"/>
            <a:ext cx="932688" cy="2194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720" dirty="0">
                <a:solidFill>
                  <a:srgbClr val="64748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3. Phương pháp</a:t>
            </a:r>
            <a:endParaRPr lang="en-US" sz="720" dirty="0"/>
          </a:p>
        </p:txBody>
      </p:sp>
      <p:sp>
        <p:nvSpPr>
          <p:cNvPr id="9" name="Shape 7"/>
          <p:cNvSpPr/>
          <p:nvPr/>
        </p:nvSpPr>
        <p:spPr>
          <a:xfrm>
            <a:off x="6720840" y="146304"/>
            <a:ext cx="932688" cy="219456"/>
          </a:xfrm>
          <a:prstGeom prst="roundRect">
            <a:avLst>
              <a:gd name="adj" fmla="val 20833"/>
            </a:avLst>
          </a:prstGeom>
          <a:solidFill>
            <a:srgbClr val="F1F5F9"/>
          </a:solidFill>
          <a:ln w="6350">
            <a:solidFill>
              <a:srgbClr val="E2E8F0"/>
            </a:solidFill>
            <a:prstDash val="solid"/>
          </a:ln>
        </p:spPr>
        <p:txBody>
          <a:bodyPr/>
          <a:p/>
        </p:txBody>
      </p:sp>
      <p:sp>
        <p:nvSpPr>
          <p:cNvPr id="10" name="Text 8"/>
          <p:cNvSpPr/>
          <p:nvPr/>
        </p:nvSpPr>
        <p:spPr>
          <a:xfrm>
            <a:off x="6720840" y="146304"/>
            <a:ext cx="932688" cy="2194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720" dirty="0">
                <a:solidFill>
                  <a:srgbClr val="64748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4. Thực nghiệm</a:t>
            </a:r>
            <a:endParaRPr lang="en-US" sz="720" dirty="0"/>
          </a:p>
        </p:txBody>
      </p:sp>
      <p:sp>
        <p:nvSpPr>
          <p:cNvPr id="11" name="Shape 9"/>
          <p:cNvSpPr/>
          <p:nvPr/>
        </p:nvSpPr>
        <p:spPr>
          <a:xfrm>
            <a:off x="7708392" y="146304"/>
            <a:ext cx="932688" cy="219456"/>
          </a:xfrm>
          <a:prstGeom prst="roundRect">
            <a:avLst>
              <a:gd name="adj" fmla="val 20833"/>
            </a:avLst>
          </a:prstGeom>
          <a:solidFill>
            <a:srgbClr val="F1F5F9"/>
          </a:solidFill>
          <a:ln w="6350">
            <a:solidFill>
              <a:srgbClr val="E2E8F0"/>
            </a:solidFill>
            <a:prstDash val="solid"/>
          </a:ln>
        </p:spPr>
        <p:txBody>
          <a:bodyPr/>
          <a:p/>
        </p:txBody>
      </p:sp>
      <p:sp>
        <p:nvSpPr>
          <p:cNvPr id="12" name="Text 10"/>
          <p:cNvSpPr/>
          <p:nvPr/>
        </p:nvSpPr>
        <p:spPr>
          <a:xfrm>
            <a:off x="7708392" y="146304"/>
            <a:ext cx="932688" cy="2194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720" dirty="0">
                <a:solidFill>
                  <a:srgbClr val="64748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5. Demo &amp; Tương lai</a:t>
            </a:r>
            <a:endParaRPr lang="en-US" sz="720" dirty="0"/>
          </a:p>
        </p:txBody>
      </p:sp>
      <p:sp>
        <p:nvSpPr>
          <p:cNvPr id="13" name="Text 11"/>
          <p:cNvSpPr/>
          <p:nvPr/>
        </p:nvSpPr>
        <p:spPr>
          <a:xfrm>
            <a:off x="502920" y="438912"/>
            <a:ext cx="813816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1E295C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Động lực Nghiên cứu &amp; Thách thức Kỹ thuật</a:t>
            </a:r>
            <a:endParaRPr lang="en-US" sz="2000" dirty="0"/>
          </a:p>
        </p:txBody>
      </p:sp>
      <p:sp>
        <p:nvSpPr>
          <p:cNvPr id="14" name="Shape 12"/>
          <p:cNvSpPr/>
          <p:nvPr/>
        </p:nvSpPr>
        <p:spPr>
          <a:xfrm>
            <a:off x="502920" y="859536"/>
            <a:ext cx="8138160" cy="0"/>
          </a:xfrm>
          <a:prstGeom prst="line">
            <a:avLst/>
          </a:prstGeom>
          <a:noFill/>
          <a:ln w="9525">
            <a:solidFill>
              <a:srgbClr val="E2E8F0"/>
            </a:solidFill>
            <a:prstDash val="solid"/>
          </a:ln>
        </p:spPr>
        <p:txBody>
          <a:bodyPr/>
          <a:p/>
        </p:txBody>
      </p:sp>
      <p:sp>
        <p:nvSpPr>
          <p:cNvPr id="15" name="Text 13"/>
          <p:cNvSpPr/>
          <p:nvPr/>
        </p:nvSpPr>
        <p:spPr>
          <a:xfrm>
            <a:off x="502920" y="4823460"/>
            <a:ext cx="5669280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CS106: Trí tuệ Nhân tạo — Nhóm 09 — Báo cáo Đồ án: Phát hiện Gian lận Tài chính</a:t>
            </a:r>
            <a:endParaRPr lang="en-US" sz="850" dirty="0"/>
          </a:p>
        </p:txBody>
      </p:sp>
      <p:sp>
        <p:nvSpPr>
          <p:cNvPr id="16" name="Text 14"/>
          <p:cNvSpPr/>
          <p:nvPr/>
        </p:nvSpPr>
        <p:spPr>
          <a:xfrm>
            <a:off x="7269480" y="4823460"/>
            <a:ext cx="1371600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5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 / 24</a:t>
            </a:r>
            <a:endParaRPr lang="en-US" sz="850" dirty="0"/>
          </a:p>
        </p:txBody>
      </p:sp>
      <p:sp>
        <p:nvSpPr>
          <p:cNvPr id="17" name="Text 15"/>
          <p:cNvSpPr/>
          <p:nvPr/>
        </p:nvSpPr>
        <p:spPr>
          <a:xfrm>
            <a:off x="502920" y="1024128"/>
            <a:ext cx="4480560" cy="3657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E295C"/>
                </a:solidFill>
              </a:rPr>
              <a:t>1. Bối cảnh Thực tiễn &amp; Quy mô
• Giao dịch tiền di động (Mobile Money) tăng trưởng bùng nổ, kéo theo các thủ đoạn gian lận tinh vi.
• Hệ thống phòng thủ đòi hỏi độ trễ suy luận thời gian thực (Inference Latency &lt; 100ms) trước khi dòng tiền bị rút khỏi hệ thống.
2. Extreme Class Imbalance (~0.13%)
• Giao dịch gian lận chỉ chiếm ~1 trên 800 giao dịch trong tập dữ liệu PaySim.
• Cost Asymmetry: Bỏ sót gian lận (False Negative) gây tổn thất vốn trực tiếp, trong khi Báo động nhầm (False Positive) gây phiền hà khách hàng.
3. Non-Stationary Fraud Patterns
• Kẻ gian liên tục biến đổi phương thức luân chuyển tiền để lẩn tránh các bộ lọc luật tĩnh (rule-based).</a:t>
            </a:r>
            <a:pPr indent="0" marL="0">
              <a:buNone/>
            </a:pPr>
            <a:r>
              <a:rPr lang="en-US" sz="1050" dirty="0">
                <a:solidFill>
                  <a:srgbClr val="1F2937"/>
                </a:solidFill>
              </a:rPr>
              <a:t/>
            </a:r>
            <a:pPr indent="0" marL="0">
              <a:buNone/>
            </a:pPr>
            <a:r>
              <a:rPr lang="en-US" sz="1050" dirty="0">
                <a:solidFill>
                  <a:srgbClr val="1F2937"/>
                </a:solidFill>
              </a:rPr>
              <a:t/>
            </a:r>
            <a:pPr indent="0" marL="0">
              <a:buNone/>
            </a:pPr>
            <a:r>
              <a:rPr lang="en-US" sz="1200" b="1" dirty="0">
                <a:solidFill>
                  <a:srgbClr val="1E295C"/>
                </a:solidFill>
              </a:rPr>
              <a:t/>
            </a:r>
            <a:pPr indent="0" marL="0">
              <a:buNone/>
            </a:pPr>
            <a:r>
              <a:rPr lang="en-US" sz="1050" dirty="0">
                <a:solidFill>
                  <a:srgbClr val="1F2937"/>
                </a:solidFill>
              </a:rPr>
              <a:t/>
            </a:r>
            <a:pPr indent="0" marL="0">
              <a:buNone/>
            </a:pPr>
            <a:r>
              <a:rPr lang="en-US" sz="1050" dirty="0">
                <a:solidFill>
                  <a:srgbClr val="1F2937"/>
                </a:solidFill>
              </a:rPr>
              <a:t/>
            </a:r>
            <a:pPr indent="0" marL="0">
              <a:buNone/>
            </a:pPr>
            <a:r>
              <a:rPr lang="en-US" sz="1200" b="1" dirty="0">
                <a:solidFill>
                  <a:srgbClr val="1E295C"/>
                </a:solidFill>
              </a:rPr>
              <a:t/>
            </a:r>
            <a:pPr indent="0" marL="0">
              <a:buNone/>
            </a:pPr>
            <a:r>
              <a:rPr lang="en-US" sz="1050" dirty="0">
                <a:solidFill>
                  <a:srgbClr val="1F2937"/>
                </a:solidFill>
              </a:rPr>
              <a:t/>
            </a:r>
            <a:endParaRPr lang="en-US" sz="1200" dirty="0"/>
          </a:p>
        </p:txBody>
      </p:sp>
      <p:graphicFrame>
        <p:nvGraphicFramePr>
          <p:cNvPr id="5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166360" y="1024128"/>
          <a:ext cx="3474720" cy="914400"/>
        </p:xfrm>
        <a:graphic>
          <a:graphicData uri="http://schemas.openxmlformats.org/drawingml/2006/table">
            <a:tbl>
              <a:tblPr/>
              <a:tblGrid>
                <a:gridCol w="1111910"/>
                <a:gridCol w="833933"/>
                <a:gridCol w="1528877"/>
              </a:tblGrid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1E295C"/>
                          </a:solidFill>
                        </a:rPr>
                        <a:t>Class Target</a:t>
                      </a:r>
                      <a:endParaRPr lang="en-US" sz="900" dirty="0"/>
                    </a:p>
                  </a:txBody>
                  <a:tcPr marL="38100" marR="38100" marT="25400" marB="2540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2E8F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2563EB"/>
                          </a:solidFill>
                        </a:rPr>
                        <a:t>Y in {0, 1}</a:t>
                      </a:r>
                      <a:endParaRPr lang="en-US" sz="900" dirty="0"/>
                    </a:p>
                  </a:txBody>
                  <a:tcPr marL="38100" marR="38100" marT="25400" marB="2540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FF6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FFFFFF"/>
                          </a:solidFill>
                        </a:rPr>
                        <a:t>1 = Fraudulent (Gian lận), 0 = Legitimate</a:t>
                      </a:r>
                      <a:endParaRPr lang="en-US" sz="850" dirty="0"/>
                    </a:p>
                  </a:txBody>
                  <a:tcPr marL="38100" marR="38100" marT="25400" marB="2540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95C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1E295C"/>
                          </a:solidFill>
                        </a:rPr>
                        <a:t>Imbalance Ratio</a:t>
                      </a:r>
                      <a:endParaRPr lang="en-US" sz="900" dirty="0"/>
                    </a:p>
                  </a:txBody>
                  <a:tcPr marL="38100" marR="38100" marT="25400" marB="2540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2E8F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2563EB"/>
                          </a:solidFill>
                        </a:rPr>
                        <a:t>IR = 0.13%</a:t>
                      </a:r>
                      <a:endParaRPr lang="en-US" sz="900" dirty="0"/>
                    </a:p>
                  </a:txBody>
                  <a:tcPr marL="38100" marR="38100" marT="25400" marB="2540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FF6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FFFFFF"/>
                          </a:solidFill>
                        </a:rPr>
                        <a:t>1,643 ca gian lận trên 1.3M giao dịch</a:t>
                      </a:r>
                      <a:endParaRPr lang="en-US" sz="850" dirty="0"/>
                    </a:p>
                  </a:txBody>
                  <a:tcPr marL="38100" marR="38100" marT="25400" marB="2540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95C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1E295C"/>
                          </a:solidFill>
                        </a:rPr>
                        <a:t>Primary Metric</a:t>
                      </a:r>
                      <a:endParaRPr lang="en-US" sz="900" dirty="0"/>
                    </a:p>
                  </a:txBody>
                  <a:tcPr marL="38100" marR="38100" marT="25400" marB="2540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2E8F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2563EB"/>
                          </a:solidFill>
                        </a:rPr>
                        <a:t>Max PR-AUC</a:t>
                      </a:r>
                      <a:endParaRPr lang="en-US" sz="900" dirty="0"/>
                    </a:p>
                  </a:txBody>
                  <a:tcPr marL="38100" marR="38100" marT="25400" marB="2540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FF6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FFFFFF"/>
                          </a:solidFill>
                        </a:rPr>
                        <a:t>Tối đa hóa Recall trên lớp gian lận hiếm</a:t>
                      </a:r>
                      <a:endParaRPr lang="en-US" sz="850" dirty="0"/>
                    </a:p>
                  </a:txBody>
                  <a:tcPr marL="38100" marR="38100" marT="25400" marB="2540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95C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1E295C"/>
                          </a:solidFill>
                        </a:rPr>
                        <a:t>Cost Asymmetry</a:t>
                      </a:r>
                      <a:endParaRPr lang="en-US" sz="900" dirty="0"/>
                    </a:p>
                  </a:txBody>
                  <a:tcPr marL="38100" marR="38100" marT="25400" marB="2540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2E8F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2563EB"/>
                          </a:solidFill>
                        </a:rPr>
                        <a:t>C_FN &gt;&gt; C_FP</a:t>
                      </a:r>
                      <a:endParaRPr lang="en-US" sz="900" dirty="0"/>
                    </a:p>
                  </a:txBody>
                  <a:tcPr marL="38100" marR="38100" marT="25400" marB="2540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FF6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FFFFFF"/>
                          </a:solidFill>
                        </a:rPr>
                        <a:t>Trọng số phạt tổn thất bất đối xứng (C_FN &gt;&gt; C_FP)</a:t>
                      </a:r>
                      <a:endParaRPr lang="en-US" sz="850" dirty="0"/>
                    </a:p>
                  </a:txBody>
                  <a:tcPr marL="38100" marR="38100" marT="25400" marB="2540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95C"/>
                    </a:solidFill>
                  </a:tcPr>
                </a:tc>
              </a:tr>
            </a:tbl>
          </a:graphicData>
        </a:graphic>
      </p:graphicFrame>
      <p:sp>
        <p:nvSpPr>
          <p:cNvPr id="19" name="Shape 16"/>
          <p:cNvSpPr/>
          <p:nvPr/>
        </p:nvSpPr>
        <p:spPr>
          <a:xfrm>
            <a:off x="5166360" y="2606040"/>
            <a:ext cx="3474720" cy="2057400"/>
          </a:xfrm>
          <a:prstGeom prst="roundRect">
            <a:avLst>
              <a:gd name="adj" fmla="val 2222"/>
            </a:avLst>
          </a:prstGeom>
          <a:solidFill>
            <a:srgbClr val="F0F7FF"/>
          </a:solidFill>
          <a:ln w="12700">
            <a:solidFill>
              <a:srgbClr val="BAE6FD"/>
            </a:solidFill>
            <a:prstDash val="solid"/>
          </a:ln>
        </p:spPr>
        <p:txBody>
          <a:bodyPr/>
          <a:p/>
        </p:txBody>
      </p:sp>
      <p:sp>
        <p:nvSpPr>
          <p:cNvPr id="20" name="Text 17"/>
          <p:cNvSpPr/>
          <p:nvPr/>
        </p:nvSpPr>
        <p:spPr>
          <a:xfrm>
            <a:off x="5303520" y="2697480"/>
            <a:ext cx="32004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1E295C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Mục tiêu Nghiên cứu</a:t>
            </a:r>
            <a:endParaRPr lang="en-US" sz="1150" dirty="0"/>
          </a:p>
        </p:txBody>
      </p:sp>
      <p:sp>
        <p:nvSpPr>
          <p:cNvPr id="21" name="Text 18"/>
          <p:cNvSpPr/>
          <p:nvPr/>
        </p:nvSpPr>
        <p:spPr>
          <a:xfrm>
            <a:off x="5303520" y="2953512"/>
            <a:ext cx="3200400" cy="1636776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marL="342900" indent="-342900">
              <a:buSzPct val="100000"/>
              <a:buChar char="•"/>
            </a:pPr>
            <a:r>
              <a:rPr lang="en-US" sz="105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Xây dựng end-to-end ML pipeline chuẩn, đảm bảo Leak-Free tuyệt đối.</a:t>
            </a:r>
            <a:endParaRPr lang="en-US" sz="1050" dirty="0"/>
          </a:p>
          <a:p>
            <a:pPr marL="342900" indent="-342900">
              <a:buSzPct val="100000"/>
              <a:buChar char="•"/>
            </a:pPr>
            <a:r>
              <a:rPr lang="en-US" sz="105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Thiết kế các phương trình domain feature bắt trọn sai lệch sổ cái tài khoản.</a:t>
            </a:r>
            <a:endParaRPr lang="en-US" sz="1050" dirty="0"/>
          </a:p>
          <a:p>
            <a:pPr marL="342900" indent="-342900">
              <a:buSzPct val="100000"/>
              <a:buChar char="•"/>
            </a:pPr>
            <a:r>
              <a:rPr lang="en-US" sz="105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Benchmark mô hình Ensemble Trees với Deep Unsupervised Autoencoder.</a:t>
            </a:r>
            <a:endParaRPr lang="en-US" sz="1050" dirty="0"/>
          </a:p>
          <a:p>
            <a:pPr marL="342900" indent="-342900">
              <a:buSzPct val="100000"/>
              <a:buChar char="•"/>
            </a:pPr>
            <a:r>
              <a:rPr lang="en-US" sz="105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Triển khai interactive dashboard phục vụ ra quyết định thời gian thực.</a:t>
            </a:r>
            <a:endParaRPr lang="en-US" sz="105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02920" y="164592"/>
            <a:ext cx="246888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850" b="1" dirty="0">
                <a:solidFill>
                  <a:srgbClr val="D97706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UIT • ĐHQG-HCM | CS106 (AI)</a:t>
            </a:r>
            <a:endParaRPr lang="en-US" sz="850" dirty="0"/>
          </a:p>
        </p:txBody>
      </p:sp>
      <p:sp>
        <p:nvSpPr>
          <p:cNvPr id="3" name="Shape 1"/>
          <p:cNvSpPr/>
          <p:nvPr/>
        </p:nvSpPr>
        <p:spPr>
          <a:xfrm>
            <a:off x="3758184" y="146304"/>
            <a:ext cx="932688" cy="219456"/>
          </a:xfrm>
          <a:prstGeom prst="roundRect">
            <a:avLst>
              <a:gd name="adj" fmla="val 20833"/>
            </a:avLst>
          </a:prstGeom>
          <a:solidFill>
            <a:srgbClr val="2563EB"/>
          </a:solidFill>
          <a:ln w="6350">
            <a:solidFill>
              <a:srgbClr val="1D4ED8"/>
            </a:solidFill>
            <a:prstDash val="solid"/>
          </a:ln>
        </p:spPr>
        <p:txBody>
          <a:bodyPr/>
          <a:p/>
        </p:txBody>
      </p:sp>
      <p:sp>
        <p:nvSpPr>
          <p:cNvPr id="4" name="Text 2"/>
          <p:cNvSpPr/>
          <p:nvPr/>
        </p:nvSpPr>
        <p:spPr>
          <a:xfrm>
            <a:off x="3758184" y="146304"/>
            <a:ext cx="932688" cy="2194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720" b="1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1. Giới thiệu</a:t>
            </a:r>
            <a:endParaRPr lang="en-US" sz="720" dirty="0"/>
          </a:p>
        </p:txBody>
      </p:sp>
      <p:sp>
        <p:nvSpPr>
          <p:cNvPr id="5" name="Shape 3"/>
          <p:cNvSpPr/>
          <p:nvPr/>
        </p:nvSpPr>
        <p:spPr>
          <a:xfrm>
            <a:off x="4745736" y="146304"/>
            <a:ext cx="932688" cy="219456"/>
          </a:xfrm>
          <a:prstGeom prst="roundRect">
            <a:avLst>
              <a:gd name="adj" fmla="val 20833"/>
            </a:avLst>
          </a:prstGeom>
          <a:solidFill>
            <a:srgbClr val="F1F5F9"/>
          </a:solidFill>
          <a:ln w="6350">
            <a:solidFill>
              <a:srgbClr val="E2E8F0"/>
            </a:solidFill>
            <a:prstDash val="solid"/>
          </a:ln>
        </p:spPr>
        <p:txBody>
          <a:bodyPr/>
          <a:p/>
        </p:txBody>
      </p:sp>
      <p:sp>
        <p:nvSpPr>
          <p:cNvPr id="6" name="Text 4"/>
          <p:cNvSpPr/>
          <p:nvPr/>
        </p:nvSpPr>
        <p:spPr>
          <a:xfrm>
            <a:off x="4745736" y="146304"/>
            <a:ext cx="932688" cy="2194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720" dirty="0">
                <a:solidFill>
                  <a:srgbClr val="64748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2. EDA &amp; Features</a:t>
            </a:r>
            <a:endParaRPr lang="en-US" sz="720" dirty="0"/>
          </a:p>
        </p:txBody>
      </p:sp>
      <p:sp>
        <p:nvSpPr>
          <p:cNvPr id="7" name="Shape 5"/>
          <p:cNvSpPr/>
          <p:nvPr/>
        </p:nvSpPr>
        <p:spPr>
          <a:xfrm>
            <a:off x="5733288" y="146304"/>
            <a:ext cx="932688" cy="219456"/>
          </a:xfrm>
          <a:prstGeom prst="roundRect">
            <a:avLst>
              <a:gd name="adj" fmla="val 20833"/>
            </a:avLst>
          </a:prstGeom>
          <a:solidFill>
            <a:srgbClr val="F1F5F9"/>
          </a:solidFill>
          <a:ln w="6350">
            <a:solidFill>
              <a:srgbClr val="E2E8F0"/>
            </a:solidFill>
            <a:prstDash val="solid"/>
          </a:ln>
        </p:spPr>
        <p:txBody>
          <a:bodyPr/>
          <a:p/>
        </p:txBody>
      </p:sp>
      <p:sp>
        <p:nvSpPr>
          <p:cNvPr id="8" name="Text 6"/>
          <p:cNvSpPr/>
          <p:nvPr/>
        </p:nvSpPr>
        <p:spPr>
          <a:xfrm>
            <a:off x="5733288" y="146304"/>
            <a:ext cx="932688" cy="2194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720" dirty="0">
                <a:solidFill>
                  <a:srgbClr val="64748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3. Phương pháp</a:t>
            </a:r>
            <a:endParaRPr lang="en-US" sz="720" dirty="0"/>
          </a:p>
        </p:txBody>
      </p:sp>
      <p:sp>
        <p:nvSpPr>
          <p:cNvPr id="9" name="Shape 7"/>
          <p:cNvSpPr/>
          <p:nvPr/>
        </p:nvSpPr>
        <p:spPr>
          <a:xfrm>
            <a:off x="6720840" y="146304"/>
            <a:ext cx="932688" cy="219456"/>
          </a:xfrm>
          <a:prstGeom prst="roundRect">
            <a:avLst>
              <a:gd name="adj" fmla="val 20833"/>
            </a:avLst>
          </a:prstGeom>
          <a:solidFill>
            <a:srgbClr val="F1F5F9"/>
          </a:solidFill>
          <a:ln w="6350">
            <a:solidFill>
              <a:srgbClr val="E2E8F0"/>
            </a:solidFill>
            <a:prstDash val="solid"/>
          </a:ln>
        </p:spPr>
        <p:txBody>
          <a:bodyPr/>
          <a:p/>
        </p:txBody>
      </p:sp>
      <p:sp>
        <p:nvSpPr>
          <p:cNvPr id="10" name="Text 8"/>
          <p:cNvSpPr/>
          <p:nvPr/>
        </p:nvSpPr>
        <p:spPr>
          <a:xfrm>
            <a:off x="6720840" y="146304"/>
            <a:ext cx="932688" cy="2194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720" dirty="0">
                <a:solidFill>
                  <a:srgbClr val="64748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4. Thực nghiệm</a:t>
            </a:r>
            <a:endParaRPr lang="en-US" sz="720" dirty="0"/>
          </a:p>
        </p:txBody>
      </p:sp>
      <p:sp>
        <p:nvSpPr>
          <p:cNvPr id="11" name="Shape 9"/>
          <p:cNvSpPr/>
          <p:nvPr/>
        </p:nvSpPr>
        <p:spPr>
          <a:xfrm>
            <a:off x="7708392" y="146304"/>
            <a:ext cx="932688" cy="219456"/>
          </a:xfrm>
          <a:prstGeom prst="roundRect">
            <a:avLst>
              <a:gd name="adj" fmla="val 20833"/>
            </a:avLst>
          </a:prstGeom>
          <a:solidFill>
            <a:srgbClr val="F1F5F9"/>
          </a:solidFill>
          <a:ln w="6350">
            <a:solidFill>
              <a:srgbClr val="E2E8F0"/>
            </a:solidFill>
            <a:prstDash val="solid"/>
          </a:ln>
        </p:spPr>
        <p:txBody>
          <a:bodyPr/>
          <a:p/>
        </p:txBody>
      </p:sp>
      <p:sp>
        <p:nvSpPr>
          <p:cNvPr id="12" name="Text 10"/>
          <p:cNvSpPr/>
          <p:nvPr/>
        </p:nvSpPr>
        <p:spPr>
          <a:xfrm>
            <a:off x="7708392" y="146304"/>
            <a:ext cx="932688" cy="2194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720" dirty="0">
                <a:solidFill>
                  <a:srgbClr val="64748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5. Demo &amp; Tương lai</a:t>
            </a:r>
            <a:endParaRPr lang="en-US" sz="720" dirty="0"/>
          </a:p>
        </p:txBody>
      </p:sp>
      <p:sp>
        <p:nvSpPr>
          <p:cNvPr id="13" name="Text 11"/>
          <p:cNvSpPr/>
          <p:nvPr/>
        </p:nvSpPr>
        <p:spPr>
          <a:xfrm>
            <a:off x="502920" y="438912"/>
            <a:ext cx="813816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1E295C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Tập Dữ liệu PaySim: Thuộc tính Thống kê</a:t>
            </a:r>
            <a:endParaRPr lang="en-US" sz="2000" dirty="0"/>
          </a:p>
        </p:txBody>
      </p:sp>
      <p:sp>
        <p:nvSpPr>
          <p:cNvPr id="14" name="Shape 12"/>
          <p:cNvSpPr/>
          <p:nvPr/>
        </p:nvSpPr>
        <p:spPr>
          <a:xfrm>
            <a:off x="502920" y="859536"/>
            <a:ext cx="8138160" cy="0"/>
          </a:xfrm>
          <a:prstGeom prst="line">
            <a:avLst/>
          </a:prstGeom>
          <a:noFill/>
          <a:ln w="9525">
            <a:solidFill>
              <a:srgbClr val="E2E8F0"/>
            </a:solidFill>
            <a:prstDash val="solid"/>
          </a:ln>
        </p:spPr>
        <p:txBody>
          <a:bodyPr/>
          <a:p/>
        </p:txBody>
      </p:sp>
      <p:sp>
        <p:nvSpPr>
          <p:cNvPr id="15" name="Text 13"/>
          <p:cNvSpPr/>
          <p:nvPr/>
        </p:nvSpPr>
        <p:spPr>
          <a:xfrm>
            <a:off x="502920" y="4823460"/>
            <a:ext cx="5669280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CS106: Trí tuệ Nhân tạo — Nhóm 09 — Báo cáo Đồ án: Phát hiện Gian lận Tài chính</a:t>
            </a:r>
            <a:endParaRPr lang="en-US" sz="850" dirty="0"/>
          </a:p>
        </p:txBody>
      </p:sp>
      <p:sp>
        <p:nvSpPr>
          <p:cNvPr id="16" name="Text 14"/>
          <p:cNvSpPr/>
          <p:nvPr/>
        </p:nvSpPr>
        <p:spPr>
          <a:xfrm>
            <a:off x="7269480" y="4823460"/>
            <a:ext cx="1371600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5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 / 24</a:t>
            </a:r>
            <a:endParaRPr lang="en-US" sz="850" dirty="0"/>
          </a:p>
        </p:txBody>
      </p:sp>
      <p:sp>
        <p:nvSpPr>
          <p:cNvPr id="17" name="Shape 15"/>
          <p:cNvSpPr/>
          <p:nvPr/>
        </p:nvSpPr>
        <p:spPr>
          <a:xfrm>
            <a:off x="502920" y="1024128"/>
            <a:ext cx="2621280" cy="914400"/>
          </a:xfrm>
          <a:prstGeom prst="roundRect">
            <a:avLst>
              <a:gd name="adj" fmla="val 5000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  <p:txBody>
          <a:bodyPr/>
          <a:p/>
        </p:txBody>
      </p:sp>
      <p:sp>
        <p:nvSpPr>
          <p:cNvPr id="18" name="Text 16"/>
          <p:cNvSpPr/>
          <p:nvPr/>
        </p:nvSpPr>
        <p:spPr>
          <a:xfrm>
            <a:off x="502920" y="1078992"/>
            <a:ext cx="262128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1E295C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6,362,620 -&gt; 200,000</a:t>
            </a:r>
            <a:endParaRPr lang="en-US" sz="1500" dirty="0"/>
          </a:p>
        </p:txBody>
      </p:sp>
      <p:sp>
        <p:nvSpPr>
          <p:cNvPr id="19" name="Text 17"/>
          <p:cNvSpPr/>
          <p:nvPr/>
        </p:nvSpPr>
        <p:spPr>
          <a:xfrm>
            <a:off x="502920" y="1417320"/>
            <a:ext cx="262128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4B556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Dataset Scaling</a:t>
            </a:r>
            <a:endParaRPr lang="en-US" sz="900" dirty="0"/>
          </a:p>
          <a:p>
            <a:pPr algn="ctr" indent="0" marL="0">
              <a:buNone/>
            </a:pPr>
            <a:r>
              <a:rPr lang="en-US" sz="900" dirty="0">
                <a:solidFill>
                  <a:srgbClr val="4B556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Stratified downsampling bảo toàn 100% gian lận</a:t>
            </a:r>
            <a:endParaRPr lang="en-US" sz="900" dirty="0"/>
          </a:p>
        </p:txBody>
      </p:sp>
      <p:sp>
        <p:nvSpPr>
          <p:cNvPr id="20" name="Shape 18"/>
          <p:cNvSpPr/>
          <p:nvPr/>
        </p:nvSpPr>
        <p:spPr>
          <a:xfrm>
            <a:off x="3261360" y="1024128"/>
            <a:ext cx="2621280" cy="914400"/>
          </a:xfrm>
          <a:prstGeom prst="roundRect">
            <a:avLst>
              <a:gd name="adj" fmla="val 5000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  <p:txBody>
          <a:bodyPr/>
          <a:p/>
        </p:txBody>
      </p:sp>
      <p:sp>
        <p:nvSpPr>
          <p:cNvPr id="21" name="Text 19"/>
          <p:cNvSpPr/>
          <p:nvPr/>
        </p:nvSpPr>
        <p:spPr>
          <a:xfrm>
            <a:off x="3261360" y="1078992"/>
            <a:ext cx="262128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1E295C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8,213</a:t>
            </a:r>
            <a:endParaRPr lang="en-US" sz="1500" dirty="0"/>
          </a:p>
        </p:txBody>
      </p:sp>
      <p:sp>
        <p:nvSpPr>
          <p:cNvPr id="22" name="Text 20"/>
          <p:cNvSpPr/>
          <p:nvPr/>
        </p:nvSpPr>
        <p:spPr>
          <a:xfrm>
            <a:off x="3261360" y="1417320"/>
            <a:ext cx="262128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4B556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Positive Instances (isFraud = 1)</a:t>
            </a:r>
            <a:endParaRPr lang="en-US" sz="900" dirty="0"/>
          </a:p>
          <a:p>
            <a:pPr algn="ctr" indent="0" marL="0">
              <a:buNone/>
            </a:pPr>
            <a:r>
              <a:rPr lang="en-US" sz="900" dirty="0">
                <a:solidFill>
                  <a:srgbClr val="4B556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Giao dịch gian lận nhãn ground-truth</a:t>
            </a:r>
            <a:endParaRPr lang="en-US" sz="900" dirty="0"/>
          </a:p>
        </p:txBody>
      </p:sp>
      <p:sp>
        <p:nvSpPr>
          <p:cNvPr id="23" name="Shape 21"/>
          <p:cNvSpPr/>
          <p:nvPr/>
        </p:nvSpPr>
        <p:spPr>
          <a:xfrm>
            <a:off x="6019800" y="1024128"/>
            <a:ext cx="2621280" cy="914400"/>
          </a:xfrm>
          <a:prstGeom prst="roundRect">
            <a:avLst>
              <a:gd name="adj" fmla="val 5000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  <p:txBody>
          <a:bodyPr/>
          <a:p/>
        </p:txBody>
      </p:sp>
      <p:sp>
        <p:nvSpPr>
          <p:cNvPr id="24" name="Text 22"/>
          <p:cNvSpPr/>
          <p:nvPr/>
        </p:nvSpPr>
        <p:spPr>
          <a:xfrm>
            <a:off x="6019800" y="1078992"/>
            <a:ext cx="262128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1E295C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11 -&gt; 14 Features</a:t>
            </a:r>
            <a:endParaRPr lang="en-US" sz="1500" dirty="0"/>
          </a:p>
        </p:txBody>
      </p:sp>
      <p:sp>
        <p:nvSpPr>
          <p:cNvPr id="25" name="Text 23"/>
          <p:cNvSpPr/>
          <p:nvPr/>
        </p:nvSpPr>
        <p:spPr>
          <a:xfrm>
            <a:off x="6019800" y="1417320"/>
            <a:ext cx="262128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4B556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Feature Space Mở rộng</a:t>
            </a:r>
            <a:endParaRPr lang="en-US" sz="900" dirty="0"/>
          </a:p>
          <a:p>
            <a:pPr algn="ctr" indent="0" marL="0">
              <a:buNone/>
            </a:pPr>
            <a:r>
              <a:rPr lang="en-US" sz="900" dirty="0">
                <a:solidFill>
                  <a:srgbClr val="4B556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Bổ sung các phương trình sai lệch số dư</a:t>
            </a:r>
            <a:endParaRPr lang="en-US" sz="900" dirty="0"/>
          </a:p>
        </p:txBody>
      </p:sp>
      <p:graphicFrame>
        <p:nvGraphicFramePr>
          <p:cNvPr id="6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02920" y="2103120"/>
          <a:ext cx="8138160" cy="2468880"/>
        </p:xfrm>
        <a:graphic>
          <a:graphicData uri="http://schemas.openxmlformats.org/drawingml/2006/table">
            <a:tbl>
              <a:tblPr/>
              <a:tblGrid>
                <a:gridCol w="2712720"/>
                <a:gridCol w="2712720"/>
                <a:gridCol w="2712720"/>
              </a:tblGrid>
              <a:tr h="41148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b="1" dirty="0">
                          <a:solidFill>
                            <a:srgbClr val="FFFFFF"/>
                          </a:solidFill>
                        </a:rPr>
                        <a:t>Feature Name</a:t>
                      </a:r>
                      <a:endParaRPr lang="en-US" sz="950" dirty="0"/>
                    </a:p>
                  </a:txBody>
                  <a:tcPr marL="50800" marR="50800" marT="38100" marB="3810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95C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b="1" dirty="0">
                          <a:solidFill>
                            <a:srgbClr val="FFFFFF"/>
                          </a:solidFill>
                        </a:rPr>
                        <a:t>Data Type</a:t>
                      </a:r>
                      <a:endParaRPr lang="en-US" sz="950" dirty="0"/>
                    </a:p>
                  </a:txBody>
                  <a:tcPr marL="50800" marR="50800" marT="38100" marB="3810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95C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b="1" dirty="0">
                          <a:solidFill>
                            <a:srgbClr val="FFFFFF"/>
                          </a:solidFill>
                        </a:rPr>
                        <a:t>Domain Description &amp; Ý nghĩa Nghiệp vụ</a:t>
                      </a:r>
                      <a:endParaRPr lang="en-US" sz="950" dirty="0"/>
                    </a:p>
                  </a:txBody>
                  <a:tcPr marL="50800" marR="50800" marT="38100" marB="3810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95C"/>
                    </a:solidFill>
                  </a:tcPr>
                </a:tc>
              </a:tr>
              <a:tr h="41148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b="1" dirty="0">
                          <a:solidFill>
                            <a:srgbClr val="000000"/>
                          </a:solidFill>
                        </a:rPr>
                        <a:t>step</a:t>
                      </a:r>
                      <a:endParaRPr lang="en-US" sz="950" dirty="0"/>
                    </a:p>
                  </a:txBody>
                  <a:tcPr marL="50800" marR="50800" marT="38100" marB="3810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000000"/>
                          </a:solidFill>
                        </a:rPr>
                        <a:t>Integer</a:t>
                      </a:r>
                      <a:endParaRPr lang="en-US" sz="950" dirty="0"/>
                    </a:p>
                  </a:txBody>
                  <a:tcPr marL="50800" marR="50800" marT="38100" marB="3810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000000"/>
                          </a:solidFill>
                        </a:rPr>
                        <a:t>Time step theo giờ (1..744, tương ứng 30 ngày mô phỏng)</a:t>
                      </a:r>
                      <a:endParaRPr lang="en-US" sz="950" dirty="0"/>
                    </a:p>
                  </a:txBody>
                  <a:tcPr marL="50800" marR="50800" marT="38100" marB="3810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1148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b="1" dirty="0">
                          <a:solidFill>
                            <a:srgbClr val="000000"/>
                          </a:solidFill>
                        </a:rPr>
                        <a:t>type</a:t>
                      </a:r>
                      <a:endParaRPr lang="en-US" sz="950" dirty="0"/>
                    </a:p>
                  </a:txBody>
                  <a:tcPr marL="50800" marR="50800" marT="38100" marB="3810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000000"/>
                          </a:solidFill>
                        </a:rPr>
                        <a:t>Categorical</a:t>
                      </a:r>
                      <a:endParaRPr lang="en-US" sz="950" dirty="0"/>
                    </a:p>
                  </a:txBody>
                  <a:tcPr marL="50800" marR="50800" marT="38100" marB="3810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000000"/>
                          </a:solidFill>
                        </a:rPr>
                        <a:t>Loại giao dịch: CASH_OUT, TRANSFER, PAYMENT, CASH_IN, DEBIT</a:t>
                      </a:r>
                      <a:endParaRPr lang="en-US" sz="950" dirty="0"/>
                    </a:p>
                  </a:txBody>
                  <a:tcPr marL="50800" marR="50800" marT="38100" marB="3810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1148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b="1" dirty="0">
                          <a:solidFill>
                            <a:srgbClr val="000000"/>
                          </a:solidFill>
                        </a:rPr>
                        <a:t>amount</a:t>
                      </a:r>
                      <a:endParaRPr lang="en-US" sz="950" dirty="0"/>
                    </a:p>
                  </a:txBody>
                  <a:tcPr marL="50800" marR="50800" marT="38100" marB="3810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000000"/>
                          </a:solidFill>
                        </a:rPr>
                        <a:t>Continuous</a:t>
                      </a:r>
                      <a:endParaRPr lang="en-US" sz="950" dirty="0"/>
                    </a:p>
                  </a:txBody>
                  <a:tcPr marL="50800" marR="50800" marT="38100" marB="3810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000000"/>
                          </a:solidFill>
                        </a:rPr>
                        <a:t>Số tiền thực hiện giao dịch (đơn vị tiền tệ cục bộ)</a:t>
                      </a:r>
                      <a:endParaRPr lang="en-US" sz="950" dirty="0"/>
                    </a:p>
                  </a:txBody>
                  <a:tcPr marL="50800" marR="50800" marT="38100" marB="3810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1148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b="1" dirty="0">
                          <a:solidFill>
                            <a:srgbClr val="000000"/>
                          </a:solidFill>
                        </a:rPr>
                        <a:t>oldbalanceOrg / newbalanceOrig</a:t>
                      </a:r>
                      <a:endParaRPr lang="en-US" sz="950" dirty="0"/>
                    </a:p>
                  </a:txBody>
                  <a:tcPr marL="50800" marR="50800" marT="38100" marB="3810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000000"/>
                          </a:solidFill>
                        </a:rPr>
                        <a:t>Continuous</a:t>
                      </a:r>
                      <a:endParaRPr lang="en-US" sz="950" dirty="0"/>
                    </a:p>
                  </a:txBody>
                  <a:tcPr marL="50800" marR="50800" marT="38100" marB="3810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000000"/>
                          </a:solidFill>
                        </a:rPr>
                        <a:t>Số dư trước và ngay sau giao dịch của tài khoản nguồn (sender)</a:t>
                      </a:r>
                      <a:endParaRPr lang="en-US" sz="950" dirty="0"/>
                    </a:p>
                  </a:txBody>
                  <a:tcPr marL="50800" marR="50800" marT="38100" marB="3810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1148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b="1" dirty="0">
                          <a:solidFill>
                            <a:srgbClr val="000000"/>
                          </a:solidFill>
                        </a:rPr>
                        <a:t>oldbalanceDest / newbalanceDest</a:t>
                      </a:r>
                      <a:endParaRPr lang="en-US" sz="950" dirty="0"/>
                    </a:p>
                  </a:txBody>
                  <a:tcPr marL="50800" marR="50800" marT="38100" marB="3810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000000"/>
                          </a:solidFill>
                        </a:rPr>
                        <a:t>Continuous</a:t>
                      </a:r>
                      <a:endParaRPr lang="en-US" sz="950" dirty="0"/>
                    </a:p>
                  </a:txBody>
                  <a:tcPr marL="50800" marR="50800" marT="38100" marB="3810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000000"/>
                          </a:solidFill>
                        </a:rPr>
                        <a:t>Số dư trước và ngay sau giao dịch của tài khoản đích (recipient)</a:t>
                      </a:r>
                      <a:endParaRPr lang="en-US" sz="950" dirty="0"/>
                    </a:p>
                  </a:txBody>
                  <a:tcPr marL="50800" marR="50800" marT="38100" marB="3810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161F4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02920" y="457200"/>
            <a:ext cx="813816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3C5FD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TRƯỜNG ĐẠI HỌC CÔNG NGHỆ THÔNG TIN, ĐHQG-HCM  •  BÁO CÁO ĐỒ ÁN CS106</a:t>
            </a:r>
            <a:endParaRPr lang="en-US" sz="900" dirty="0"/>
          </a:p>
        </p:txBody>
      </p:sp>
      <p:sp>
        <p:nvSpPr>
          <p:cNvPr id="3" name="Shape 1"/>
          <p:cNvSpPr/>
          <p:nvPr/>
        </p:nvSpPr>
        <p:spPr>
          <a:xfrm>
            <a:off x="3886200" y="1188720"/>
            <a:ext cx="1371600" cy="384048"/>
          </a:xfrm>
          <a:prstGeom prst="roundRect">
            <a:avLst>
              <a:gd name="adj" fmla="val 19048"/>
            </a:avLst>
          </a:prstGeom>
          <a:solidFill>
            <a:srgbClr val="2563EB"/>
          </a:solidFill>
          <a:ln w="12700">
            <a:solidFill>
              <a:srgbClr val="60A5FA"/>
            </a:solidFill>
            <a:prstDash val="solid"/>
          </a:ln>
        </p:spPr>
        <p:txBody>
          <a:bodyPr/>
          <a:p/>
        </p:txBody>
      </p:sp>
      <p:sp>
        <p:nvSpPr>
          <p:cNvPr id="4" name="Text 2"/>
          <p:cNvSpPr/>
          <p:nvPr/>
        </p:nvSpPr>
        <p:spPr>
          <a:xfrm>
            <a:off x="3886200" y="1188720"/>
            <a:ext cx="137160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50" b="1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PHẦN 02</a:t>
            </a:r>
            <a:endParaRPr lang="en-US" sz="1250" dirty="0"/>
          </a:p>
        </p:txBody>
      </p:sp>
      <p:sp>
        <p:nvSpPr>
          <p:cNvPr id="5" name="Text 3"/>
          <p:cNvSpPr/>
          <p:nvPr/>
        </p:nvSpPr>
        <p:spPr>
          <a:xfrm>
            <a:off x="502920" y="1783080"/>
            <a:ext cx="8138160" cy="6858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500" b="1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EXPLORATORY DATA ANALYSIS &amp; FEATURE ENGINEERING</a:t>
            </a:r>
            <a:endParaRPr lang="en-US" sz="2500" dirty="0"/>
          </a:p>
        </p:txBody>
      </p:sp>
      <p:sp>
        <p:nvSpPr>
          <p:cNvPr id="6" name="Shape 4"/>
          <p:cNvSpPr/>
          <p:nvPr/>
        </p:nvSpPr>
        <p:spPr>
          <a:xfrm>
            <a:off x="3200400" y="2578608"/>
            <a:ext cx="2743200" cy="0"/>
          </a:xfrm>
          <a:prstGeom prst="line">
            <a:avLst/>
          </a:prstGeom>
          <a:noFill/>
          <a:ln w="25400">
            <a:solidFill>
              <a:srgbClr val="F59E0B"/>
            </a:solidFill>
            <a:prstDash val="solid"/>
          </a:ln>
        </p:spPr>
        <p:txBody>
          <a:bodyPr/>
          <a:p/>
        </p:txBody>
      </p:sp>
      <p:sp>
        <p:nvSpPr>
          <p:cNvPr id="7" name="Shape 5"/>
          <p:cNvSpPr/>
          <p:nvPr/>
        </p:nvSpPr>
        <p:spPr>
          <a:xfrm>
            <a:off x="2011680" y="2852928"/>
            <a:ext cx="5120640" cy="1508760"/>
          </a:xfrm>
          <a:prstGeom prst="roundRect">
            <a:avLst>
              <a:gd name="adj" fmla="val 3636"/>
            </a:avLst>
          </a:prstGeom>
          <a:solidFill>
            <a:srgbClr val="1E295C"/>
          </a:solidFill>
          <a:ln w="9525">
            <a:solidFill>
              <a:srgbClr val="3B82F6"/>
            </a:solidFill>
            <a:prstDash val="solid"/>
          </a:ln>
        </p:spPr>
        <p:txBody>
          <a:bodyPr/>
          <a:p/>
        </p:txBody>
      </p:sp>
      <p:sp>
        <p:nvSpPr>
          <p:cNvPr id="8" name="Text 6"/>
          <p:cNvSpPr/>
          <p:nvPr/>
        </p:nvSpPr>
        <p:spPr>
          <a:xfrm>
            <a:off x="2286000" y="2971800"/>
            <a:ext cx="4572000" cy="12801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342900" indent="-342900">
              <a:buSzPct val="100000"/>
              <a:buChar char="•"/>
            </a:pPr>
            <a:r>
              <a:rPr lang="en-US" sz="1100" dirty="0">
                <a:solidFill>
                  <a:srgbClr val="E2E8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Phân tích Dấu vết Hành vi Thực nghiệm (Behavioral Signatures)</a:t>
            </a:r>
            <a:endParaRPr lang="en-US" sz="1100" dirty="0"/>
          </a:p>
          <a:p>
            <a:pPr marL="342900" indent="-342900">
              <a:buSzPct val="100000"/>
              <a:buChar char="•"/>
            </a:pPr>
            <a:r>
              <a:rPr lang="en-US" sz="1100" dirty="0">
                <a:solidFill>
                  <a:srgbClr val="E2E8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Công thức Toán học của 14 Engineered Domain Features</a:t>
            </a:r>
            <a:endParaRPr lang="en-US" sz="1100" dirty="0"/>
          </a:p>
          <a:p>
            <a:pPr marL="342900" indent="-342900">
              <a:buSzPct val="100000"/>
              <a:buChar char="•"/>
            </a:pPr>
            <a:r>
              <a:rPr lang="en-US" sz="1100" dirty="0">
                <a:solidFill>
                  <a:srgbClr val="E2E8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Xử lý Mất cân bằng Lớp: SMOTE vs. ADASYN Formulation</a:t>
            </a:r>
            <a:endParaRPr lang="en-US" sz="11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02920" y="164592"/>
            <a:ext cx="246888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850" b="1" dirty="0">
                <a:solidFill>
                  <a:srgbClr val="D97706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UIT • ĐHQG-HCM | CS106 (AI)</a:t>
            </a:r>
            <a:endParaRPr lang="en-US" sz="850" dirty="0"/>
          </a:p>
        </p:txBody>
      </p:sp>
      <p:sp>
        <p:nvSpPr>
          <p:cNvPr id="3" name="Shape 1"/>
          <p:cNvSpPr/>
          <p:nvPr/>
        </p:nvSpPr>
        <p:spPr>
          <a:xfrm>
            <a:off x="3758184" y="146304"/>
            <a:ext cx="932688" cy="219456"/>
          </a:xfrm>
          <a:prstGeom prst="roundRect">
            <a:avLst>
              <a:gd name="adj" fmla="val 20833"/>
            </a:avLst>
          </a:prstGeom>
          <a:solidFill>
            <a:srgbClr val="F1F5F9"/>
          </a:solidFill>
          <a:ln w="6350">
            <a:solidFill>
              <a:srgbClr val="E2E8F0"/>
            </a:solidFill>
            <a:prstDash val="solid"/>
          </a:ln>
        </p:spPr>
        <p:txBody>
          <a:bodyPr/>
          <a:p/>
        </p:txBody>
      </p:sp>
      <p:sp>
        <p:nvSpPr>
          <p:cNvPr id="4" name="Text 2"/>
          <p:cNvSpPr/>
          <p:nvPr/>
        </p:nvSpPr>
        <p:spPr>
          <a:xfrm>
            <a:off x="3758184" y="146304"/>
            <a:ext cx="932688" cy="2194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720" dirty="0">
                <a:solidFill>
                  <a:srgbClr val="64748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1. Giới thiệu</a:t>
            </a:r>
            <a:endParaRPr lang="en-US" sz="720" dirty="0"/>
          </a:p>
        </p:txBody>
      </p:sp>
      <p:sp>
        <p:nvSpPr>
          <p:cNvPr id="5" name="Shape 3"/>
          <p:cNvSpPr/>
          <p:nvPr/>
        </p:nvSpPr>
        <p:spPr>
          <a:xfrm>
            <a:off x="4745736" y="146304"/>
            <a:ext cx="932688" cy="219456"/>
          </a:xfrm>
          <a:prstGeom prst="roundRect">
            <a:avLst>
              <a:gd name="adj" fmla="val 20833"/>
            </a:avLst>
          </a:prstGeom>
          <a:solidFill>
            <a:srgbClr val="2563EB"/>
          </a:solidFill>
          <a:ln w="6350">
            <a:solidFill>
              <a:srgbClr val="1D4ED8"/>
            </a:solidFill>
            <a:prstDash val="solid"/>
          </a:ln>
        </p:spPr>
        <p:txBody>
          <a:bodyPr/>
          <a:p/>
        </p:txBody>
      </p:sp>
      <p:sp>
        <p:nvSpPr>
          <p:cNvPr id="6" name="Text 4"/>
          <p:cNvSpPr/>
          <p:nvPr/>
        </p:nvSpPr>
        <p:spPr>
          <a:xfrm>
            <a:off x="4745736" y="146304"/>
            <a:ext cx="932688" cy="2194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720" b="1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2. EDA &amp; Features</a:t>
            </a:r>
            <a:endParaRPr lang="en-US" sz="720" dirty="0"/>
          </a:p>
        </p:txBody>
      </p:sp>
      <p:sp>
        <p:nvSpPr>
          <p:cNvPr id="7" name="Shape 5"/>
          <p:cNvSpPr/>
          <p:nvPr/>
        </p:nvSpPr>
        <p:spPr>
          <a:xfrm>
            <a:off x="5733288" y="146304"/>
            <a:ext cx="932688" cy="219456"/>
          </a:xfrm>
          <a:prstGeom prst="roundRect">
            <a:avLst>
              <a:gd name="adj" fmla="val 20833"/>
            </a:avLst>
          </a:prstGeom>
          <a:solidFill>
            <a:srgbClr val="F1F5F9"/>
          </a:solidFill>
          <a:ln w="6350">
            <a:solidFill>
              <a:srgbClr val="E2E8F0"/>
            </a:solidFill>
            <a:prstDash val="solid"/>
          </a:ln>
        </p:spPr>
        <p:txBody>
          <a:bodyPr/>
          <a:p/>
        </p:txBody>
      </p:sp>
      <p:sp>
        <p:nvSpPr>
          <p:cNvPr id="8" name="Text 6"/>
          <p:cNvSpPr/>
          <p:nvPr/>
        </p:nvSpPr>
        <p:spPr>
          <a:xfrm>
            <a:off x="5733288" y="146304"/>
            <a:ext cx="932688" cy="2194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720" dirty="0">
                <a:solidFill>
                  <a:srgbClr val="64748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3. Phương pháp</a:t>
            </a:r>
            <a:endParaRPr lang="en-US" sz="720" dirty="0"/>
          </a:p>
        </p:txBody>
      </p:sp>
      <p:sp>
        <p:nvSpPr>
          <p:cNvPr id="9" name="Shape 7"/>
          <p:cNvSpPr/>
          <p:nvPr/>
        </p:nvSpPr>
        <p:spPr>
          <a:xfrm>
            <a:off x="6720840" y="146304"/>
            <a:ext cx="932688" cy="219456"/>
          </a:xfrm>
          <a:prstGeom prst="roundRect">
            <a:avLst>
              <a:gd name="adj" fmla="val 20833"/>
            </a:avLst>
          </a:prstGeom>
          <a:solidFill>
            <a:srgbClr val="F1F5F9"/>
          </a:solidFill>
          <a:ln w="6350">
            <a:solidFill>
              <a:srgbClr val="E2E8F0"/>
            </a:solidFill>
            <a:prstDash val="solid"/>
          </a:ln>
        </p:spPr>
        <p:txBody>
          <a:bodyPr/>
          <a:p/>
        </p:txBody>
      </p:sp>
      <p:sp>
        <p:nvSpPr>
          <p:cNvPr id="10" name="Text 8"/>
          <p:cNvSpPr/>
          <p:nvPr/>
        </p:nvSpPr>
        <p:spPr>
          <a:xfrm>
            <a:off x="6720840" y="146304"/>
            <a:ext cx="932688" cy="2194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720" dirty="0">
                <a:solidFill>
                  <a:srgbClr val="64748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4. Thực nghiệm</a:t>
            </a:r>
            <a:endParaRPr lang="en-US" sz="720" dirty="0"/>
          </a:p>
        </p:txBody>
      </p:sp>
      <p:sp>
        <p:nvSpPr>
          <p:cNvPr id="11" name="Shape 9"/>
          <p:cNvSpPr/>
          <p:nvPr/>
        </p:nvSpPr>
        <p:spPr>
          <a:xfrm>
            <a:off x="7708392" y="146304"/>
            <a:ext cx="932688" cy="219456"/>
          </a:xfrm>
          <a:prstGeom prst="roundRect">
            <a:avLst>
              <a:gd name="adj" fmla="val 20833"/>
            </a:avLst>
          </a:prstGeom>
          <a:solidFill>
            <a:srgbClr val="F1F5F9"/>
          </a:solidFill>
          <a:ln w="6350">
            <a:solidFill>
              <a:srgbClr val="E2E8F0"/>
            </a:solidFill>
            <a:prstDash val="solid"/>
          </a:ln>
        </p:spPr>
        <p:txBody>
          <a:bodyPr/>
          <a:p/>
        </p:txBody>
      </p:sp>
      <p:sp>
        <p:nvSpPr>
          <p:cNvPr id="12" name="Text 10"/>
          <p:cNvSpPr/>
          <p:nvPr/>
        </p:nvSpPr>
        <p:spPr>
          <a:xfrm>
            <a:off x="7708392" y="146304"/>
            <a:ext cx="932688" cy="2194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720" dirty="0">
                <a:solidFill>
                  <a:srgbClr val="64748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5. Demo &amp; Tương lai</a:t>
            </a:r>
            <a:endParaRPr lang="en-US" sz="720" dirty="0"/>
          </a:p>
        </p:txBody>
      </p:sp>
      <p:sp>
        <p:nvSpPr>
          <p:cNvPr id="13" name="Text 11"/>
          <p:cNvSpPr/>
          <p:nvPr/>
        </p:nvSpPr>
        <p:spPr>
          <a:xfrm>
            <a:off x="502920" y="438912"/>
            <a:ext cx="813816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1E295C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Exploratory Data Analysis: Dấu vết Hành vi Cốt lõi</a:t>
            </a:r>
            <a:endParaRPr lang="en-US" sz="2000" dirty="0"/>
          </a:p>
        </p:txBody>
      </p:sp>
      <p:sp>
        <p:nvSpPr>
          <p:cNvPr id="14" name="Shape 12"/>
          <p:cNvSpPr/>
          <p:nvPr/>
        </p:nvSpPr>
        <p:spPr>
          <a:xfrm>
            <a:off x="502920" y="859536"/>
            <a:ext cx="8138160" cy="0"/>
          </a:xfrm>
          <a:prstGeom prst="line">
            <a:avLst/>
          </a:prstGeom>
          <a:noFill/>
          <a:ln w="9525">
            <a:solidFill>
              <a:srgbClr val="E2E8F0"/>
            </a:solidFill>
            <a:prstDash val="solid"/>
          </a:ln>
        </p:spPr>
        <p:txBody>
          <a:bodyPr/>
          <a:p/>
        </p:txBody>
      </p:sp>
      <p:sp>
        <p:nvSpPr>
          <p:cNvPr id="15" name="Text 13"/>
          <p:cNvSpPr/>
          <p:nvPr/>
        </p:nvSpPr>
        <p:spPr>
          <a:xfrm>
            <a:off x="502920" y="4823460"/>
            <a:ext cx="5669280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CS106: Trí tuệ Nhân tạo — Nhóm 09 — Báo cáo Đồ án: Phát hiện Gian lận Tài chính</a:t>
            </a:r>
            <a:endParaRPr lang="en-US" sz="850" dirty="0"/>
          </a:p>
        </p:txBody>
      </p:sp>
      <p:sp>
        <p:nvSpPr>
          <p:cNvPr id="16" name="Text 14"/>
          <p:cNvSpPr/>
          <p:nvPr/>
        </p:nvSpPr>
        <p:spPr>
          <a:xfrm>
            <a:off x="7269480" y="4823460"/>
            <a:ext cx="1371600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5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7 / 24</a:t>
            </a:r>
            <a:endParaRPr lang="en-US" sz="850" dirty="0"/>
          </a:p>
        </p:txBody>
      </p:sp>
      <p:sp>
        <p:nvSpPr>
          <p:cNvPr id="17" name="Shape 15"/>
          <p:cNvSpPr/>
          <p:nvPr/>
        </p:nvSpPr>
        <p:spPr>
          <a:xfrm>
            <a:off x="502920" y="1051560"/>
            <a:ext cx="2621280" cy="3566160"/>
          </a:xfrm>
          <a:prstGeom prst="roundRect">
            <a:avLst>
              <a:gd name="adj" fmla="val 2093"/>
            </a:avLst>
          </a:prstGeom>
          <a:solidFill>
            <a:srgbClr val="F0F7FF"/>
          </a:solidFill>
          <a:ln w="12700">
            <a:solidFill>
              <a:srgbClr val="BAE6FD"/>
            </a:solidFill>
            <a:prstDash val="solid"/>
          </a:ln>
        </p:spPr>
        <p:txBody>
          <a:bodyPr/>
          <a:p/>
        </p:txBody>
      </p:sp>
      <p:sp>
        <p:nvSpPr>
          <p:cNvPr id="18" name="Text 16"/>
          <p:cNvSpPr/>
          <p:nvPr/>
        </p:nvSpPr>
        <p:spPr>
          <a:xfrm>
            <a:off x="640080" y="1161288"/>
            <a:ext cx="234696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1E295C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Finding 1: Category Confinement</a:t>
            </a:r>
            <a:endParaRPr lang="en-US" sz="1150" dirty="0"/>
          </a:p>
        </p:txBody>
      </p:sp>
      <p:sp>
        <p:nvSpPr>
          <p:cNvPr id="19" name="Shape 17"/>
          <p:cNvSpPr/>
          <p:nvPr/>
        </p:nvSpPr>
        <p:spPr>
          <a:xfrm>
            <a:off x="640080" y="1463040"/>
            <a:ext cx="2346960" cy="219456"/>
          </a:xfrm>
          <a:prstGeom prst="roundRect">
            <a:avLst>
              <a:gd name="adj" fmla="val 16667"/>
            </a:avLst>
          </a:prstGeom>
          <a:solidFill>
            <a:srgbClr val="DBEAFE"/>
          </a:solidFill>
          <a:ln/>
        </p:spPr>
        <p:txBody>
          <a:bodyPr/>
          <a:p/>
        </p:txBody>
      </p:sp>
      <p:sp>
        <p:nvSpPr>
          <p:cNvPr id="20" name="Text 18"/>
          <p:cNvSpPr/>
          <p:nvPr/>
        </p:nvSpPr>
        <p:spPr>
          <a:xfrm>
            <a:off x="640080" y="1463040"/>
            <a:ext cx="2346960" cy="2194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1D4ED8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100% FRAUD CONCENTRATION</a:t>
            </a:r>
            <a:endParaRPr lang="en-US" sz="800" dirty="0"/>
          </a:p>
        </p:txBody>
      </p:sp>
      <p:sp>
        <p:nvSpPr>
          <p:cNvPr id="21" name="Text 19"/>
          <p:cNvSpPr/>
          <p:nvPr/>
        </p:nvSpPr>
        <p:spPr>
          <a:xfrm>
            <a:off x="640080" y="1764792"/>
            <a:ext cx="2346960" cy="2743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8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100% giao dịch gian lận chỉ xuất hiện ở TRANSFER và CASH_OUT.</a:t>
            </a:r>
            <a:endParaRPr lang="en-US" sz="980" dirty="0"/>
          </a:p>
          <a:p>
            <a:pPr indent="0" marL="0">
              <a:buNone/>
            </a:pPr>
            <a:r>
              <a:rPr lang="en-US" sz="98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Các loại PAYMENT, CASH_IN và DEBIT hoàn toàn không có gian lận (0%).</a:t>
            </a:r>
            <a:endParaRPr lang="en-US" sz="980" dirty="0"/>
          </a:p>
          <a:p>
            <a:pPr indent="0" marL="0">
              <a:buNone/>
            </a:pPr>
            <a:r>
              <a:rPr lang="en-US" sz="98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Pipeline Action: Lọc dữ liệu chỉ giữ lại TRANSFER &amp; CASH_OUT để triệt tiêu 70% nhiễu.</a:t>
            </a:r>
            <a:endParaRPr lang="en-US" sz="980" dirty="0"/>
          </a:p>
        </p:txBody>
      </p:sp>
      <p:sp>
        <p:nvSpPr>
          <p:cNvPr id="22" name="Shape 20"/>
          <p:cNvSpPr/>
          <p:nvPr/>
        </p:nvSpPr>
        <p:spPr>
          <a:xfrm>
            <a:off x="3261360" y="1051560"/>
            <a:ext cx="2621280" cy="3566160"/>
          </a:xfrm>
          <a:prstGeom prst="roundRect">
            <a:avLst>
              <a:gd name="adj" fmla="val 2093"/>
            </a:avLst>
          </a:prstGeom>
          <a:solidFill>
            <a:srgbClr val="FEF2F2"/>
          </a:solidFill>
          <a:ln w="12700">
            <a:solidFill>
              <a:srgbClr val="FECACA"/>
            </a:solidFill>
            <a:prstDash val="solid"/>
          </a:ln>
        </p:spPr>
        <p:txBody>
          <a:bodyPr/>
          <a:p/>
        </p:txBody>
      </p:sp>
      <p:sp>
        <p:nvSpPr>
          <p:cNvPr id="23" name="Text 21"/>
          <p:cNvSpPr/>
          <p:nvPr/>
        </p:nvSpPr>
        <p:spPr>
          <a:xfrm>
            <a:off x="3398520" y="1161288"/>
            <a:ext cx="234696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DC2626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Finding 2: Total Account Drain</a:t>
            </a:r>
            <a:endParaRPr lang="en-US" sz="1150" dirty="0"/>
          </a:p>
        </p:txBody>
      </p:sp>
      <p:sp>
        <p:nvSpPr>
          <p:cNvPr id="24" name="Shape 22"/>
          <p:cNvSpPr/>
          <p:nvPr/>
        </p:nvSpPr>
        <p:spPr>
          <a:xfrm>
            <a:off x="3398520" y="1463040"/>
            <a:ext cx="2346960" cy="219456"/>
          </a:xfrm>
          <a:prstGeom prst="roundRect">
            <a:avLst>
              <a:gd name="adj" fmla="val 16667"/>
            </a:avLst>
          </a:prstGeom>
          <a:solidFill>
            <a:srgbClr val="FEE2E2"/>
          </a:solidFill>
          <a:ln/>
        </p:spPr>
        <p:txBody>
          <a:bodyPr/>
          <a:p/>
        </p:txBody>
      </p:sp>
      <p:sp>
        <p:nvSpPr>
          <p:cNvPr id="25" name="Text 23"/>
          <p:cNvSpPr/>
          <p:nvPr/>
        </p:nvSpPr>
        <p:spPr>
          <a:xfrm>
            <a:off x="3398520" y="1463040"/>
            <a:ext cx="2346960" cy="2194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DC2626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97.56% OF FRAUD CASES</a:t>
            </a:r>
            <a:endParaRPr lang="en-US" sz="800" dirty="0"/>
          </a:p>
        </p:txBody>
      </p:sp>
      <p:sp>
        <p:nvSpPr>
          <p:cNvPr id="26" name="Text 24"/>
          <p:cNvSpPr/>
          <p:nvPr/>
        </p:nvSpPr>
        <p:spPr>
          <a:xfrm>
            <a:off x="3398520" y="1764792"/>
            <a:ext cx="2346960" cy="2743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8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Ở 97.56% giao dịch gian lận, tài khoản nạn nhân bị rút cạn sạch (newbalanceOrig == 0).</a:t>
            </a:r>
            <a:endParaRPr lang="en-US" sz="980" dirty="0"/>
          </a:p>
          <a:p>
            <a:pPr indent="0" marL="0">
              <a:buNone/>
            </a:pPr>
            <a:r>
              <a:rPr lang="en-US" sz="98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Kẻ gian tối đa hóa hiệu suất rút tiền trước khi bị hệ thống phát hiện định danh.</a:t>
            </a:r>
            <a:endParaRPr lang="en-US" sz="980" dirty="0"/>
          </a:p>
          <a:p>
            <a:pPr indent="0" marL="0">
              <a:buNone/>
            </a:pPr>
            <a:r>
              <a:rPr lang="en-US" sz="98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Key Signal: Tỷ lệ rút cạn tài khoản đóng vai trò phân loại chính.</a:t>
            </a:r>
            <a:endParaRPr lang="en-US" sz="980" dirty="0"/>
          </a:p>
        </p:txBody>
      </p:sp>
      <p:sp>
        <p:nvSpPr>
          <p:cNvPr id="27" name="Shape 25"/>
          <p:cNvSpPr/>
          <p:nvPr/>
        </p:nvSpPr>
        <p:spPr>
          <a:xfrm>
            <a:off x="6019800" y="1051560"/>
            <a:ext cx="2621280" cy="3566160"/>
          </a:xfrm>
          <a:prstGeom prst="roundRect">
            <a:avLst>
              <a:gd name="adj" fmla="val 2093"/>
            </a:avLst>
          </a:prstGeom>
          <a:solidFill>
            <a:srgbClr val="F0F7FF"/>
          </a:solidFill>
          <a:ln w="12700">
            <a:solidFill>
              <a:srgbClr val="BAE6FD"/>
            </a:solidFill>
            <a:prstDash val="solid"/>
          </a:ln>
        </p:spPr>
        <p:txBody>
          <a:bodyPr/>
          <a:p/>
        </p:txBody>
      </p:sp>
      <p:sp>
        <p:nvSpPr>
          <p:cNvPr id="28" name="Text 26"/>
          <p:cNvSpPr/>
          <p:nvPr/>
        </p:nvSpPr>
        <p:spPr>
          <a:xfrm>
            <a:off x="6156960" y="1161288"/>
            <a:ext cx="234696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1E295C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Finding 3: Destination Ledger Mismatch</a:t>
            </a:r>
            <a:endParaRPr lang="en-US" sz="1150" dirty="0"/>
          </a:p>
        </p:txBody>
      </p:sp>
      <p:sp>
        <p:nvSpPr>
          <p:cNvPr id="29" name="Shape 27"/>
          <p:cNvSpPr/>
          <p:nvPr/>
        </p:nvSpPr>
        <p:spPr>
          <a:xfrm>
            <a:off x="6156960" y="1463040"/>
            <a:ext cx="2346960" cy="219456"/>
          </a:xfrm>
          <a:prstGeom prst="roundRect">
            <a:avLst>
              <a:gd name="adj" fmla="val 16667"/>
            </a:avLst>
          </a:prstGeom>
          <a:solidFill>
            <a:srgbClr val="DBEAFE"/>
          </a:solidFill>
          <a:ln/>
        </p:spPr>
        <p:txBody>
          <a:bodyPr/>
          <a:p/>
        </p:txBody>
      </p:sp>
      <p:sp>
        <p:nvSpPr>
          <p:cNvPr id="30" name="Text 28"/>
          <p:cNvSpPr/>
          <p:nvPr/>
        </p:nvSpPr>
        <p:spPr>
          <a:xfrm>
            <a:off x="6156960" y="1463040"/>
            <a:ext cx="2346960" cy="2194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1D4ED8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ZERO DELTA ANOMALY</a:t>
            </a:r>
            <a:endParaRPr lang="en-US" sz="800" dirty="0"/>
          </a:p>
        </p:txBody>
      </p:sp>
      <p:sp>
        <p:nvSpPr>
          <p:cNvPr id="31" name="Text 29"/>
          <p:cNvSpPr/>
          <p:nvPr/>
        </p:nvSpPr>
        <p:spPr>
          <a:xfrm>
            <a:off x="6156960" y="1764792"/>
            <a:ext cx="2346960" cy="2743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8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Tỷ lệ lớn giao dịch gian lận không làm tăng số dư tài khoản đích.</a:t>
            </a:r>
            <a:endParaRPr lang="en-US" sz="980" dirty="0"/>
          </a:p>
          <a:p>
            <a:pPr indent="0" marL="0">
              <a:buNone/>
            </a:pPr>
            <a:r>
              <a:rPr lang="en-US" sz="98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Phản ánh tài khoản rác (mule account) hoặc luân chuyển rửa tiền đa tầng tức thì.</a:t>
            </a:r>
            <a:endParaRPr lang="en-US" sz="980" dirty="0"/>
          </a:p>
          <a:p>
            <a:pPr indent="0" marL="0">
              <a:buNone/>
            </a:pPr>
            <a:r>
              <a:rPr lang="en-US" sz="98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Key Signal: Destination discrepancy error vạch trần hành vi rút tiền bất hợp pháp.</a:t>
            </a:r>
            <a:endParaRPr lang="en-US" sz="98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 xmlns:mc="http://schemas.openxmlformats.org/markup-compatibility/2006" xmlns:a14="http://schemas.microsoft.com/office/drawing/2010/main">
  <p:cSld name="Slide 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02920" y="164592"/>
            <a:ext cx="246888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850" b="1" dirty="0">
                <a:solidFill>
                  <a:srgbClr val="D97706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UIT • ĐHQG-HCM | CS106 (AI)</a:t>
            </a:r>
            <a:endParaRPr lang="en-US" sz="850" dirty="0"/>
          </a:p>
        </p:txBody>
      </p:sp>
      <p:sp>
        <p:nvSpPr>
          <p:cNvPr id="3" name="Shape 1"/>
          <p:cNvSpPr/>
          <p:nvPr/>
        </p:nvSpPr>
        <p:spPr>
          <a:xfrm>
            <a:off x="3758184" y="146304"/>
            <a:ext cx="932688" cy="219456"/>
          </a:xfrm>
          <a:prstGeom prst="roundRect">
            <a:avLst>
              <a:gd name="adj" fmla="val 20833"/>
            </a:avLst>
          </a:prstGeom>
          <a:solidFill>
            <a:srgbClr val="F1F5F9"/>
          </a:solidFill>
          <a:ln w="6350">
            <a:solidFill>
              <a:srgbClr val="E2E8F0"/>
            </a:solidFill>
            <a:prstDash val="solid"/>
          </a:ln>
        </p:spPr>
        <p:txBody>
          <a:bodyPr/>
          <a:p/>
        </p:txBody>
      </p:sp>
      <p:sp>
        <p:nvSpPr>
          <p:cNvPr id="4" name="Text 2"/>
          <p:cNvSpPr/>
          <p:nvPr/>
        </p:nvSpPr>
        <p:spPr>
          <a:xfrm>
            <a:off x="3758184" y="146304"/>
            <a:ext cx="932688" cy="2194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720" dirty="0">
                <a:solidFill>
                  <a:srgbClr val="64748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1. Giới thiệu</a:t>
            </a:r>
            <a:endParaRPr lang="en-US" sz="720" dirty="0"/>
          </a:p>
        </p:txBody>
      </p:sp>
      <p:sp>
        <p:nvSpPr>
          <p:cNvPr id="5" name="Shape 3"/>
          <p:cNvSpPr/>
          <p:nvPr/>
        </p:nvSpPr>
        <p:spPr>
          <a:xfrm>
            <a:off x="4745736" y="146304"/>
            <a:ext cx="932688" cy="219456"/>
          </a:xfrm>
          <a:prstGeom prst="roundRect">
            <a:avLst>
              <a:gd name="adj" fmla="val 20833"/>
            </a:avLst>
          </a:prstGeom>
          <a:solidFill>
            <a:srgbClr val="2563EB"/>
          </a:solidFill>
          <a:ln w="6350">
            <a:solidFill>
              <a:srgbClr val="1D4ED8"/>
            </a:solidFill>
            <a:prstDash val="solid"/>
          </a:ln>
        </p:spPr>
        <p:txBody>
          <a:bodyPr/>
          <a:p/>
        </p:txBody>
      </p:sp>
      <p:sp>
        <p:nvSpPr>
          <p:cNvPr id="6" name="Text 4"/>
          <p:cNvSpPr/>
          <p:nvPr/>
        </p:nvSpPr>
        <p:spPr>
          <a:xfrm>
            <a:off x="4745736" y="146304"/>
            <a:ext cx="932688" cy="2194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720" b="1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2. EDA &amp; Features</a:t>
            </a:r>
            <a:endParaRPr lang="en-US" sz="720" dirty="0"/>
          </a:p>
        </p:txBody>
      </p:sp>
      <p:sp>
        <p:nvSpPr>
          <p:cNvPr id="7" name="Shape 5"/>
          <p:cNvSpPr/>
          <p:nvPr/>
        </p:nvSpPr>
        <p:spPr>
          <a:xfrm>
            <a:off x="5733288" y="146304"/>
            <a:ext cx="932688" cy="219456"/>
          </a:xfrm>
          <a:prstGeom prst="roundRect">
            <a:avLst>
              <a:gd name="adj" fmla="val 20833"/>
            </a:avLst>
          </a:prstGeom>
          <a:solidFill>
            <a:srgbClr val="F1F5F9"/>
          </a:solidFill>
          <a:ln w="6350">
            <a:solidFill>
              <a:srgbClr val="E2E8F0"/>
            </a:solidFill>
            <a:prstDash val="solid"/>
          </a:ln>
        </p:spPr>
        <p:txBody>
          <a:bodyPr/>
          <a:p/>
        </p:txBody>
      </p:sp>
      <p:sp>
        <p:nvSpPr>
          <p:cNvPr id="8" name="Text 6"/>
          <p:cNvSpPr/>
          <p:nvPr/>
        </p:nvSpPr>
        <p:spPr>
          <a:xfrm>
            <a:off x="5733288" y="146304"/>
            <a:ext cx="932688" cy="2194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720" dirty="0">
                <a:solidFill>
                  <a:srgbClr val="64748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3. Phương pháp</a:t>
            </a:r>
            <a:endParaRPr lang="en-US" sz="720" dirty="0"/>
          </a:p>
        </p:txBody>
      </p:sp>
      <p:sp>
        <p:nvSpPr>
          <p:cNvPr id="9" name="Shape 7"/>
          <p:cNvSpPr/>
          <p:nvPr/>
        </p:nvSpPr>
        <p:spPr>
          <a:xfrm>
            <a:off x="6720840" y="146304"/>
            <a:ext cx="932688" cy="219456"/>
          </a:xfrm>
          <a:prstGeom prst="roundRect">
            <a:avLst>
              <a:gd name="adj" fmla="val 20833"/>
            </a:avLst>
          </a:prstGeom>
          <a:solidFill>
            <a:srgbClr val="F1F5F9"/>
          </a:solidFill>
          <a:ln w="6350">
            <a:solidFill>
              <a:srgbClr val="E2E8F0"/>
            </a:solidFill>
            <a:prstDash val="solid"/>
          </a:ln>
        </p:spPr>
        <p:txBody>
          <a:bodyPr/>
          <a:p/>
        </p:txBody>
      </p:sp>
      <p:sp>
        <p:nvSpPr>
          <p:cNvPr id="10" name="Text 8"/>
          <p:cNvSpPr/>
          <p:nvPr/>
        </p:nvSpPr>
        <p:spPr>
          <a:xfrm>
            <a:off x="6720840" y="146304"/>
            <a:ext cx="932688" cy="2194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720" dirty="0">
                <a:solidFill>
                  <a:srgbClr val="64748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4. Thực nghiệm</a:t>
            </a:r>
            <a:endParaRPr lang="en-US" sz="720" dirty="0"/>
          </a:p>
        </p:txBody>
      </p:sp>
      <p:sp>
        <p:nvSpPr>
          <p:cNvPr id="11" name="Shape 9"/>
          <p:cNvSpPr/>
          <p:nvPr/>
        </p:nvSpPr>
        <p:spPr>
          <a:xfrm>
            <a:off x="7708392" y="146304"/>
            <a:ext cx="932688" cy="219456"/>
          </a:xfrm>
          <a:prstGeom prst="roundRect">
            <a:avLst>
              <a:gd name="adj" fmla="val 20833"/>
            </a:avLst>
          </a:prstGeom>
          <a:solidFill>
            <a:srgbClr val="F1F5F9"/>
          </a:solidFill>
          <a:ln w="6350">
            <a:solidFill>
              <a:srgbClr val="E2E8F0"/>
            </a:solidFill>
            <a:prstDash val="solid"/>
          </a:ln>
        </p:spPr>
        <p:txBody>
          <a:bodyPr/>
          <a:p/>
        </p:txBody>
      </p:sp>
      <p:sp>
        <p:nvSpPr>
          <p:cNvPr id="12" name="Text 10"/>
          <p:cNvSpPr/>
          <p:nvPr/>
        </p:nvSpPr>
        <p:spPr>
          <a:xfrm>
            <a:off x="7708392" y="146304"/>
            <a:ext cx="932688" cy="2194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720" dirty="0">
                <a:solidFill>
                  <a:srgbClr val="64748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5. Demo &amp; Tương lai</a:t>
            </a:r>
            <a:endParaRPr lang="en-US" sz="720" dirty="0"/>
          </a:p>
        </p:txBody>
      </p:sp>
      <p:sp>
        <p:nvSpPr>
          <p:cNvPr id="13" name="Text 11"/>
          <p:cNvSpPr/>
          <p:nvPr/>
        </p:nvSpPr>
        <p:spPr>
          <a:xfrm>
            <a:off x="502920" y="438912"/>
            <a:ext cx="813816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1E295C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Feature Engineering: 14 Synthesized Domain Predictors</a:t>
            </a:r>
            <a:endParaRPr lang="en-US" sz="2000" dirty="0"/>
          </a:p>
        </p:txBody>
      </p:sp>
      <p:sp>
        <p:nvSpPr>
          <p:cNvPr id="14" name="Shape 12"/>
          <p:cNvSpPr/>
          <p:nvPr/>
        </p:nvSpPr>
        <p:spPr>
          <a:xfrm>
            <a:off x="502920" y="859536"/>
            <a:ext cx="8138160" cy="0"/>
          </a:xfrm>
          <a:prstGeom prst="line">
            <a:avLst/>
          </a:prstGeom>
          <a:noFill/>
          <a:ln w="9525">
            <a:solidFill>
              <a:srgbClr val="E2E8F0"/>
            </a:solidFill>
            <a:prstDash val="solid"/>
          </a:ln>
        </p:spPr>
        <p:txBody>
          <a:bodyPr/>
          <a:p/>
        </p:txBody>
      </p:sp>
      <p:sp>
        <p:nvSpPr>
          <p:cNvPr id="15" name="Text 13"/>
          <p:cNvSpPr/>
          <p:nvPr/>
        </p:nvSpPr>
        <p:spPr>
          <a:xfrm>
            <a:off x="502920" y="4823460"/>
            <a:ext cx="5669280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CS106: Trí tuệ Nhân tạo — Nhóm 09 — Báo cáo Đồ án: Phát hiện Gian lận Tài chính</a:t>
            </a:r>
            <a:endParaRPr lang="en-US" sz="850" dirty="0"/>
          </a:p>
        </p:txBody>
      </p:sp>
      <p:sp>
        <p:nvSpPr>
          <p:cNvPr id="16" name="Text 14"/>
          <p:cNvSpPr/>
          <p:nvPr/>
        </p:nvSpPr>
        <p:spPr>
          <a:xfrm>
            <a:off x="7269480" y="4823460"/>
            <a:ext cx="1371600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5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8 / 24</a:t>
            </a:r>
            <a:endParaRPr lang="en-US" sz="850" dirty="0"/>
          </a:p>
        </p:txBody>
      </p:sp>
      <p:sp>
        <p:nvSpPr>
          <p:cNvPr id="17" name="Shape 15"/>
          <p:cNvSpPr/>
          <p:nvPr/>
        </p:nvSpPr>
        <p:spPr>
          <a:xfrm>
            <a:off x="502920" y="1051560"/>
            <a:ext cx="4389120" cy="1143000"/>
          </a:xfrm>
          <a:prstGeom prst="roundRect">
            <a:avLst>
              <a:gd name="adj" fmla="val 4000"/>
            </a:avLst>
          </a:prstGeom>
          <a:solidFill>
            <a:srgbClr val="F8FAFC"/>
          </a:solidFill>
          <a:ln w="12700">
            <a:solidFill>
              <a:srgbClr val="CBD5E1"/>
            </a:solidFill>
            <a:prstDash val="solid"/>
          </a:ln>
        </p:spPr>
        <p:txBody>
          <a:bodyPr/>
          <a:p/>
        </p:txBody>
      </p:sp>
      <p:sp>
        <p:nvSpPr>
          <p:cNvPr id="18" name="Text 16"/>
          <p:cNvSpPr/>
          <p:nvPr/>
        </p:nvSpPr>
        <p:spPr>
          <a:xfrm>
            <a:off x="640080" y="1124712"/>
            <a:ext cx="411480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1E295C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1. Origin Balance Error (Delta Orig)</a:t>
            </a:r>
            <a:endParaRPr lang="en-US" sz="1050" dirty="0"/>
          </a:p>
        </p:txBody>
      </p:sp>
      <p:sp>
        <p:nvSpPr>
          <p:cNvPr id="19" name="Text 17"/>
          <p:cNvSpPr/>
          <p:nvPr/>
        </p:nvSpPr>
        <p:spPr>
          <a:xfrm>
            <a:off x="640080" y="1380744"/>
            <a:ext cx="411480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  <a:defRPr sz="950" kern="1200"/>
            </a:pPr>
            <a14:m xmlns:a14="http://schemas.microsoft.com/office/drawing/2010/main">
              <m:oMath xmlns:m="http://schemas.openxmlformats.org/officeDocument/2006/math">
                <m:sSub>
                  <m:e>
                    <m:r>
                      <m:rPr>
                        <m:sty m:val="p"/>
                      </m:rPr>
                      <m:t>Δ</m:t>
                    </m:r>
                  </m:e>
                  <m:sub>
                    <m:r>
                      <m:rPr>
                        <m:nor/>
                        <m:sty m:val="p"/>
                      </m:rPr>
                      <m:t>orig</m:t>
                    </m:r>
                  </m:sub>
                </m:sSub>
                <m:r>
                  <m:rPr>
                    <m:sty m:val="p"/>
                  </m:rPr>
                  <m:t>=</m:t>
                </m:r>
                <m:r>
                  <m:rPr>
                    <m:nor/>
                    <m:sty m:val="p"/>
                  </m:rPr>
                  <m:t>oldbalanceOrg</m:t>
                </m:r>
                <m:r>
                  <m:rPr>
                    <m:sty m:val="p"/>
                  </m:rPr>
                  <m:t>−</m:t>
                </m:r>
                <m:r>
                  <m:rPr>
                    <m:nor/>
                    <m:sty m:val="p"/>
                  </m:rPr>
                  <m:t>amount</m:t>
                </m:r>
                <m:r>
                  <m:rPr>
                    <m:sty m:val="p"/>
                  </m:rPr>
                  <m:t>−</m:t>
                </m:r>
                <m:r>
                  <m:rPr>
                    <m:nor/>
                    <m:sty m:val="p"/>
                  </m:rPr>
                  <m:t>newbalanceOrig</m:t>
                </m:r>
              </m:oMath>
            </a14:m>
            <a:endParaRPr lang="en-US" sz="950" dirty="0"/>
          </a:p>
        </p:txBody>
      </p:sp>
      <p:sp>
        <p:nvSpPr>
          <p:cNvPr id="20" name="Text 18"/>
          <p:cNvSpPr/>
          <p:nvPr/>
        </p:nvSpPr>
        <p:spPr>
          <a:xfrm>
            <a:off x="640080" y="1801368"/>
            <a:ext cx="4114800" cy="338328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indent="0" marL="0">
              <a:buNone/>
            </a:pPr>
            <a:r>
              <a:rPr lang="en-US" sz="880" dirty="0">
                <a:solidFill>
                  <a:srgbClr val="4B556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Đo lường sai lệch giữa số dư kỳ vọng và số dư thực tế của tài khoản nguồn sau giao dịch.</a:t>
            </a:r>
            <a:endParaRPr lang="en-US" sz="880" dirty="0"/>
          </a:p>
        </p:txBody>
      </p:sp>
      <p:sp>
        <p:nvSpPr>
          <p:cNvPr id="21" name="Shape 19"/>
          <p:cNvSpPr/>
          <p:nvPr/>
        </p:nvSpPr>
        <p:spPr>
          <a:xfrm>
            <a:off x="502920" y="2286000"/>
            <a:ext cx="4389120" cy="1143000"/>
          </a:xfrm>
          <a:prstGeom prst="roundRect">
            <a:avLst>
              <a:gd name="adj" fmla="val 4000"/>
            </a:avLst>
          </a:prstGeom>
          <a:solidFill>
            <a:srgbClr val="F8FAFC"/>
          </a:solidFill>
          <a:ln w="12700">
            <a:solidFill>
              <a:srgbClr val="CBD5E1"/>
            </a:solidFill>
            <a:prstDash val="solid"/>
          </a:ln>
        </p:spPr>
        <p:txBody>
          <a:bodyPr/>
          <a:p/>
        </p:txBody>
      </p:sp>
      <p:sp>
        <p:nvSpPr>
          <p:cNvPr id="22" name="Text 20"/>
          <p:cNvSpPr/>
          <p:nvPr/>
        </p:nvSpPr>
        <p:spPr>
          <a:xfrm>
            <a:off x="640080" y="2359152"/>
            <a:ext cx="411480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1E295C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2. Destination Balance Error (Delta Dest)</a:t>
            </a:r>
            <a:endParaRPr lang="en-US" sz="1050" dirty="0"/>
          </a:p>
        </p:txBody>
      </p:sp>
      <p:sp>
        <p:nvSpPr>
          <p:cNvPr id="23" name="Text 21"/>
          <p:cNvSpPr/>
          <p:nvPr/>
        </p:nvSpPr>
        <p:spPr>
          <a:xfrm>
            <a:off x="640080" y="2615184"/>
            <a:ext cx="411480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  <a:defRPr sz="950" kern="1200"/>
            </a:pPr>
            <a14:m xmlns:a14="http://schemas.microsoft.com/office/drawing/2010/main">
              <m:oMath xmlns:m="http://schemas.openxmlformats.org/officeDocument/2006/math">
                <m:sSub>
                  <m:e>
                    <m:r>
                      <m:rPr>
                        <m:sty m:val="p"/>
                      </m:rPr>
                      <m:t>Δ</m:t>
                    </m:r>
                  </m:e>
                  <m:sub>
                    <m:r>
                      <m:rPr>
                        <m:nor/>
                        <m:sty m:val="p"/>
                      </m:rPr>
                      <m:t>dest</m:t>
                    </m:r>
                  </m:sub>
                </m:sSub>
                <m:r>
                  <m:rPr>
                    <m:sty m:val="p"/>
                  </m:rPr>
                  <m:t>=</m:t>
                </m:r>
                <m:r>
                  <m:rPr>
                    <m:nor/>
                    <m:sty m:val="p"/>
                  </m:rPr>
                  <m:t>oldbalanceDest</m:t>
                </m:r>
                <m:r>
                  <m:rPr>
                    <m:sty m:val="p"/>
                  </m:rPr>
                  <m:t>+</m:t>
                </m:r>
                <m:r>
                  <m:rPr>
                    <m:nor/>
                    <m:sty m:val="p"/>
                  </m:rPr>
                  <m:t>amount</m:t>
                </m:r>
                <m:r>
                  <m:rPr>
                    <m:sty m:val="p"/>
                  </m:rPr>
                  <m:t>−</m:t>
                </m:r>
                <m:r>
                  <m:rPr>
                    <m:nor/>
                    <m:sty m:val="p"/>
                  </m:rPr>
                  <m:t>newbalanceDest</m:t>
                </m:r>
              </m:oMath>
            </a14:m>
            <a:endParaRPr lang="en-US" sz="950" dirty="0"/>
          </a:p>
        </p:txBody>
      </p:sp>
      <p:sp>
        <p:nvSpPr>
          <p:cNvPr id="24" name="Text 22"/>
          <p:cNvSpPr/>
          <p:nvPr/>
        </p:nvSpPr>
        <p:spPr>
          <a:xfrm>
            <a:off x="640080" y="3035808"/>
            <a:ext cx="4114800" cy="338328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indent="0" marL="0">
              <a:buNone/>
            </a:pPr>
            <a:r>
              <a:rPr lang="en-US" sz="880" dirty="0">
                <a:solidFill>
                  <a:srgbClr val="4B556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Theo dõi các sai lệch luân chuyển tiền hoặc không ghi có tại tài khoản đích.</a:t>
            </a:r>
            <a:endParaRPr lang="en-US" sz="880" dirty="0"/>
          </a:p>
        </p:txBody>
      </p:sp>
      <p:sp>
        <p:nvSpPr>
          <p:cNvPr id="25" name="Shape 23"/>
          <p:cNvSpPr/>
          <p:nvPr/>
        </p:nvSpPr>
        <p:spPr>
          <a:xfrm>
            <a:off x="502920" y="3520440"/>
            <a:ext cx="4389120" cy="1097280"/>
          </a:xfrm>
          <a:prstGeom prst="roundRect">
            <a:avLst>
              <a:gd name="adj" fmla="val 4167"/>
            </a:avLst>
          </a:prstGeom>
          <a:solidFill>
            <a:srgbClr val="F8FAFC"/>
          </a:solidFill>
          <a:ln w="12700">
            <a:solidFill>
              <a:srgbClr val="CBD5E1"/>
            </a:solidFill>
            <a:prstDash val="solid"/>
          </a:ln>
        </p:spPr>
        <p:txBody>
          <a:bodyPr/>
          <a:p/>
        </p:txBody>
      </p:sp>
      <p:sp>
        <p:nvSpPr>
          <p:cNvPr id="26" name="Text 24"/>
          <p:cNvSpPr/>
          <p:nvPr/>
        </p:nvSpPr>
        <p:spPr>
          <a:xfrm>
            <a:off x="640080" y="3593592"/>
            <a:ext cx="411480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1E295C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3. Full Account Drain Indicator Flag</a:t>
            </a:r>
            <a:endParaRPr lang="en-US" sz="1050" dirty="0"/>
          </a:p>
        </p:txBody>
      </p:sp>
      <p:sp>
        <p:nvSpPr>
          <p:cNvPr id="27" name="Text 25"/>
          <p:cNvSpPr/>
          <p:nvPr/>
        </p:nvSpPr>
        <p:spPr>
          <a:xfrm>
            <a:off x="640080" y="3849624"/>
            <a:ext cx="411480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  <a:defRPr sz="950" kern="1200"/>
            </a:pPr>
            <a14:m xmlns:a14="http://schemas.microsoft.com/office/drawing/2010/main">
              <m:oMath xmlns:m="http://schemas.openxmlformats.org/officeDocument/2006/math">
                <m:sSub>
                  <m:e>
                    <m:r>
                      <m:t>I</m:t>
                    </m:r>
                  </m:e>
                  <m:sub>
                    <m:r>
                      <m:rPr>
                        <m:nor/>
                        <m:sty m:val="p"/>
                      </m:rPr>
                      <m:t>drain</m:t>
                    </m:r>
                  </m:sub>
                </m:sSub>
                <m:r>
                  <m:rPr>
                    <m:sty m:val="p"/>
                  </m:rPr>
                  <m:t>=</m:t>
                </m:r>
                <m:r>
                  <m:rPr>
                    <m:scr m:val="double-struck"/>
                    <m:sty m:val="p"/>
                  </m:rPr>
                  <m:t>I</m:t>
                </m:r>
                <m:r>
                  <m:rPr>
                    <m:sty m:val="p"/>
                  </m:rPr>
                  <m:t>(</m:t>
                </m:r>
                <m:r>
                  <m:rPr>
                    <m:nor/>
                    <m:sty m:val="p"/>
                  </m:rPr>
                  <m:t>oldbalanceOrg</m:t>
                </m:r>
                <m:r>
                  <m:rPr>
                    <m:sty m:val="p"/>
                  </m:rPr>
                  <m:t>&gt;</m:t>
                </m:r>
                <m:r>
                  <m:t>0</m:t>
                </m:r>
                <m:r>
                  <m:rPr>
                    <m:sty m:val="p"/>
                  </m:rPr>
                  <m:t>∧</m:t>
                </m:r>
                <m:r>
                  <m:rPr>
                    <m:nor/>
                    <m:sty m:val="p"/>
                  </m:rPr>
                  <m:t>newbalanceOrig</m:t>
                </m:r>
                <m:r>
                  <m:rPr>
                    <m:sty m:val="p"/>
                  </m:rPr>
                  <m:t>=</m:t>
                </m:r>
                <m:r>
                  <m:t>0</m:t>
                </m:r>
                <m:r>
                  <m:rPr>
                    <m:sty m:val="p"/>
                  </m:rPr>
                  <m:t>)</m:t>
                </m:r>
              </m:oMath>
            </a14:m>
            <a:endParaRPr lang="en-US" sz="950" dirty="0"/>
          </a:p>
        </p:txBody>
      </p:sp>
      <p:sp>
        <p:nvSpPr>
          <p:cNvPr id="28" name="Text 26"/>
          <p:cNvSpPr/>
          <p:nvPr/>
        </p:nvSpPr>
        <p:spPr>
          <a:xfrm>
            <a:off x="640080" y="4270248"/>
            <a:ext cx="4114800" cy="292608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indent="0" marL="0">
              <a:buNone/>
            </a:pPr>
            <a:r>
              <a:rPr lang="en-US" sz="880" dirty="0">
                <a:solidFill>
                  <a:srgbClr val="4B556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Biến nhị phân bắt trọn hành vi vét sạch toàn bộ tài khoản trong 1 bước duy nhất.</a:t>
            </a:r>
            <a:endParaRPr lang="en-US" sz="880" dirty="0"/>
          </a:p>
        </p:txBody>
      </p:sp>
      <p:graphicFrame>
        <p:nvGraphicFramePr>
          <p:cNvPr id="9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074920" y="1051560"/>
          <a:ext cx="3566160" cy="914400"/>
        </p:xfrm>
        <a:graphic>
          <a:graphicData uri="http://schemas.openxmlformats.org/drawingml/2006/table">
            <a:tbl>
              <a:tblPr/>
              <a:tblGrid>
                <a:gridCol w="1141171"/>
                <a:gridCol w="855878"/>
                <a:gridCol w="1569110"/>
              </a:tblGrid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1E295C"/>
                          </a:solidFill>
                        </a:rPr>
                        <a:t>Feature Space</a:t>
                      </a:r>
                      <a:endParaRPr lang="en-US" sz="900" dirty="0"/>
                    </a:p>
                  </a:txBody>
                  <a:tcPr marL="38100" marR="38100" marT="25400" marB="2540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2E8F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2563EB"/>
                          </a:solidFill>
                        </a:rPr>
                        <a:t>d = 14</a:t>
                      </a:r>
                      <a:endParaRPr lang="en-US" sz="900" dirty="0"/>
                    </a:p>
                  </a:txBody>
                  <a:tcPr marL="38100" marR="38100" marT="25400" marB="2540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FF6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FFFFFF"/>
                          </a:solidFill>
                        </a:rPr>
                        <a:t>Không gian 14 đặc trưng số học sau Feature Engineering</a:t>
                      </a:r>
                      <a:endParaRPr lang="en-US" sz="850" dirty="0"/>
                    </a:p>
                  </a:txBody>
                  <a:tcPr marL="38100" marR="38100" marT="25400" marB="2540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95C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1E295C"/>
                          </a:solidFill>
                        </a:rPr>
                        <a:t>Origin Error</a:t>
                      </a:r>
                      <a:endParaRPr lang="en-US" sz="900" dirty="0"/>
                    </a:p>
                  </a:txBody>
                  <a:tcPr marL="38100" marR="38100" marT="25400" marB="2540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2E8F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2563EB"/>
                          </a:solidFill>
                        </a:rPr>
                        <a:t>Err_orig</a:t>
                      </a:r>
                      <a:endParaRPr lang="en-US" sz="900" dirty="0"/>
                    </a:p>
                  </a:txBody>
                  <a:tcPr marL="38100" marR="38100" marT="25400" marB="2540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FF6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FFFFFF"/>
                          </a:solidFill>
                        </a:rPr>
                        <a:t>Bắt trọn sai lệch sổ cái nguồn (49.9% gain)</a:t>
                      </a:r>
                      <a:endParaRPr lang="en-US" sz="850" dirty="0"/>
                    </a:p>
                  </a:txBody>
                  <a:tcPr marL="38100" marR="38100" marT="25400" marB="2540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95C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1E295C"/>
                          </a:solidFill>
                        </a:rPr>
                        <a:t>Dest Error</a:t>
                      </a:r>
                      <a:endParaRPr lang="en-US" sz="900" dirty="0"/>
                    </a:p>
                  </a:txBody>
                  <a:tcPr marL="38100" marR="38100" marT="25400" marB="2540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2E8F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2563EB"/>
                          </a:solidFill>
                        </a:rPr>
                        <a:t>Err_dest</a:t>
                      </a:r>
                      <a:endParaRPr lang="en-US" sz="900" dirty="0"/>
                    </a:p>
                  </a:txBody>
                  <a:tcPr marL="38100" marR="38100" marT="25400" marB="2540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FF6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FFFFFF"/>
                          </a:solidFill>
                        </a:rPr>
                        <a:t>Ghi nhận bất thường số dư tài khoản đích</a:t>
                      </a:r>
                      <a:endParaRPr lang="en-US" sz="850" dirty="0"/>
                    </a:p>
                  </a:txBody>
                  <a:tcPr marL="38100" marR="38100" marT="25400" marB="2540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95C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1E295C"/>
                          </a:solidFill>
                        </a:rPr>
                        <a:t>Amount Ratio</a:t>
                      </a:r>
                      <a:endParaRPr lang="en-US" sz="900" dirty="0"/>
                    </a:p>
                  </a:txBody>
                  <a:tcPr marL="38100" marR="38100" marT="25400" marB="2540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2E8F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2563EB"/>
                          </a:solidFill>
                        </a:rPr>
                        <a:t>R_amt</a:t>
                      </a:r>
                      <a:endParaRPr lang="en-US" sz="900" dirty="0"/>
                    </a:p>
                  </a:txBody>
                  <a:tcPr marL="38100" marR="38100" marT="25400" marB="2540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FF6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FFFFFF"/>
                          </a:solidFill>
                        </a:rPr>
                        <a:t>amount / (oldbalanceOrg + 1)</a:t>
                      </a:r>
                      <a:endParaRPr lang="en-US" sz="850" dirty="0"/>
                    </a:p>
                  </a:txBody>
                  <a:tcPr marL="38100" marR="38100" marT="25400" marB="2540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95C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1E295C"/>
                          </a:solidFill>
                        </a:rPr>
                        <a:t>Hour of Day</a:t>
                      </a:r>
                      <a:endParaRPr lang="en-US" sz="900" dirty="0"/>
                    </a:p>
                  </a:txBody>
                  <a:tcPr marL="38100" marR="38100" marT="25400" marB="2540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2E8F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2563EB"/>
                          </a:solidFill>
                        </a:rPr>
                        <a:t>h in [0..23]</a:t>
                      </a:r>
                      <a:endParaRPr lang="en-US" sz="900" dirty="0"/>
                    </a:p>
                  </a:txBody>
                  <a:tcPr marL="38100" marR="38100" marT="25400" marB="2540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FF6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FFFFFF"/>
                          </a:solidFill>
                        </a:rPr>
                        <a:t>step % 24 (chu kỳ thời gian trong ngày)</a:t>
                      </a:r>
                      <a:endParaRPr lang="en-US" sz="850" dirty="0"/>
                    </a:p>
                  </a:txBody>
                  <a:tcPr marL="38100" marR="38100" marT="25400" marB="2540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95C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1E295C"/>
                          </a:solidFill>
                        </a:rPr>
                        <a:t>Overnight Flag</a:t>
                      </a:r>
                      <a:endParaRPr lang="en-US" sz="900" dirty="0"/>
                    </a:p>
                  </a:txBody>
                  <a:tcPr marL="38100" marR="38100" marT="25400" marB="2540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2E8F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2563EB"/>
                          </a:solidFill>
                        </a:rPr>
                        <a:t>I_night</a:t>
                      </a:r>
                      <a:endParaRPr lang="en-US" sz="900" dirty="0"/>
                    </a:p>
                  </a:txBody>
                  <a:tcPr marL="38100" marR="38100" marT="25400" marB="2540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FF6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FFFFFF"/>
                          </a:solidFill>
                        </a:rPr>
                        <a:t>1 nếu hour in [0..5] (khung giờ đêm)</a:t>
                      </a:r>
                      <a:endParaRPr lang="en-US" sz="850" dirty="0"/>
                    </a:p>
                  </a:txBody>
                  <a:tcPr marL="38100" marR="38100" marT="25400" marB="2540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95C"/>
                    </a:solidFill>
                  </a:tcPr>
                </a:tc>
              </a:tr>
            </a:tbl>
          </a:graphicData>
        </a:graphic>
      </p:graphicFrame>
      <p:sp>
        <p:nvSpPr>
          <p:cNvPr id="30" name="Shape 27"/>
          <p:cNvSpPr/>
          <p:nvPr/>
        </p:nvSpPr>
        <p:spPr>
          <a:xfrm>
            <a:off x="5074920" y="3108960"/>
            <a:ext cx="3566160" cy="1508760"/>
          </a:xfrm>
          <a:prstGeom prst="roundRect">
            <a:avLst>
              <a:gd name="adj" fmla="val 3030"/>
            </a:avLst>
          </a:prstGeom>
          <a:solidFill>
            <a:srgbClr val="F0F7FF"/>
          </a:solidFill>
          <a:ln w="12700">
            <a:solidFill>
              <a:srgbClr val="BAE6FD"/>
            </a:solidFill>
            <a:prstDash val="solid"/>
          </a:ln>
        </p:spPr>
        <p:txBody>
          <a:bodyPr/>
          <a:p/>
        </p:txBody>
      </p:sp>
      <p:sp>
        <p:nvSpPr>
          <p:cNvPr id="31" name="Text 28"/>
          <p:cNvSpPr/>
          <p:nvPr/>
        </p:nvSpPr>
        <p:spPr>
          <a:xfrm>
            <a:off x="5212080" y="3200400"/>
            <a:ext cx="329184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1E295C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Feature Importance Insights</a:t>
            </a:r>
            <a:endParaRPr lang="en-US" sz="1150" dirty="0"/>
          </a:p>
        </p:txBody>
      </p:sp>
      <p:sp>
        <p:nvSpPr>
          <p:cNvPr id="32" name="Text 29"/>
          <p:cNvSpPr/>
          <p:nvPr/>
        </p:nvSpPr>
        <p:spPr>
          <a:xfrm>
            <a:off x="5212080" y="3456432"/>
            <a:ext cx="3291840" cy="1088136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marL="342900" indent="-342900">
              <a:buSzPct val="100000"/>
              <a:buChar char="•"/>
            </a:pPr>
            <a:r>
              <a:rPr lang="en-US" sz="105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Các biến ledger error đóng góp hơn 97% feature split gains của cây quyết định.</a:t>
            </a:r>
            <a:endParaRPr lang="en-US" sz="1050" dirty="0"/>
          </a:p>
          <a:p>
            <a:pPr marL="342900" indent="-342900">
              <a:buSzPct val="100000"/>
              <a:buChar char="•"/>
            </a:pPr>
            <a:r>
              <a:rPr lang="en-US" sz="105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Chu kỳ thời gian (hour) cô lập các cuộc tấn công theo kịch bản tự động vào ban đêm.</a:t>
            </a:r>
            <a:endParaRPr lang="en-US" sz="1050" dirty="0"/>
          </a:p>
          <a:p>
            <a:pPr marL="342900" indent="-342900">
              <a:buSzPct val="100000"/>
              <a:buChar char="•"/>
            </a:pPr>
            <a:r>
              <a:rPr lang="en-US" sz="105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Toàn bộ features được scale nghiêm ngặt CHỈ trên tập Train để chống Data Leakage.</a:t>
            </a:r>
            <a:endParaRPr lang="en-US" sz="105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 xmlns:mc="http://schemas.openxmlformats.org/markup-compatibility/2006" xmlns:a14="http://schemas.microsoft.com/office/drawing/2010/main">
  <p:cSld name="Slide 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02920" y="164592"/>
            <a:ext cx="246888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850" b="1" dirty="0">
                <a:solidFill>
                  <a:srgbClr val="D97706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UIT • ĐHQG-HCM | CS106 (AI)</a:t>
            </a:r>
            <a:endParaRPr lang="en-US" sz="850" dirty="0"/>
          </a:p>
        </p:txBody>
      </p:sp>
      <p:sp>
        <p:nvSpPr>
          <p:cNvPr id="3" name="Shape 1"/>
          <p:cNvSpPr/>
          <p:nvPr/>
        </p:nvSpPr>
        <p:spPr>
          <a:xfrm>
            <a:off x="3758184" y="146304"/>
            <a:ext cx="932688" cy="219456"/>
          </a:xfrm>
          <a:prstGeom prst="roundRect">
            <a:avLst>
              <a:gd name="adj" fmla="val 20833"/>
            </a:avLst>
          </a:prstGeom>
          <a:solidFill>
            <a:srgbClr val="F1F5F9"/>
          </a:solidFill>
          <a:ln w="6350">
            <a:solidFill>
              <a:srgbClr val="E2E8F0"/>
            </a:solidFill>
            <a:prstDash val="solid"/>
          </a:ln>
        </p:spPr>
        <p:txBody>
          <a:bodyPr/>
          <a:p/>
        </p:txBody>
      </p:sp>
      <p:sp>
        <p:nvSpPr>
          <p:cNvPr id="4" name="Text 2"/>
          <p:cNvSpPr/>
          <p:nvPr/>
        </p:nvSpPr>
        <p:spPr>
          <a:xfrm>
            <a:off x="3758184" y="146304"/>
            <a:ext cx="932688" cy="2194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720" dirty="0">
                <a:solidFill>
                  <a:srgbClr val="64748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1. Giới thiệu</a:t>
            </a:r>
            <a:endParaRPr lang="en-US" sz="720" dirty="0"/>
          </a:p>
        </p:txBody>
      </p:sp>
      <p:sp>
        <p:nvSpPr>
          <p:cNvPr id="5" name="Shape 3"/>
          <p:cNvSpPr/>
          <p:nvPr/>
        </p:nvSpPr>
        <p:spPr>
          <a:xfrm>
            <a:off x="4745736" y="146304"/>
            <a:ext cx="932688" cy="219456"/>
          </a:xfrm>
          <a:prstGeom prst="roundRect">
            <a:avLst>
              <a:gd name="adj" fmla="val 20833"/>
            </a:avLst>
          </a:prstGeom>
          <a:solidFill>
            <a:srgbClr val="2563EB"/>
          </a:solidFill>
          <a:ln w="6350">
            <a:solidFill>
              <a:srgbClr val="1D4ED8"/>
            </a:solidFill>
            <a:prstDash val="solid"/>
          </a:ln>
        </p:spPr>
        <p:txBody>
          <a:bodyPr/>
          <a:p/>
        </p:txBody>
      </p:sp>
      <p:sp>
        <p:nvSpPr>
          <p:cNvPr id="6" name="Text 4"/>
          <p:cNvSpPr/>
          <p:nvPr/>
        </p:nvSpPr>
        <p:spPr>
          <a:xfrm>
            <a:off x="4745736" y="146304"/>
            <a:ext cx="932688" cy="2194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720" b="1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2. EDA &amp; Features</a:t>
            </a:r>
            <a:endParaRPr lang="en-US" sz="720" dirty="0"/>
          </a:p>
        </p:txBody>
      </p:sp>
      <p:sp>
        <p:nvSpPr>
          <p:cNvPr id="7" name="Shape 5"/>
          <p:cNvSpPr/>
          <p:nvPr/>
        </p:nvSpPr>
        <p:spPr>
          <a:xfrm>
            <a:off x="5733288" y="146304"/>
            <a:ext cx="932688" cy="219456"/>
          </a:xfrm>
          <a:prstGeom prst="roundRect">
            <a:avLst>
              <a:gd name="adj" fmla="val 20833"/>
            </a:avLst>
          </a:prstGeom>
          <a:solidFill>
            <a:srgbClr val="F1F5F9"/>
          </a:solidFill>
          <a:ln w="6350">
            <a:solidFill>
              <a:srgbClr val="E2E8F0"/>
            </a:solidFill>
            <a:prstDash val="solid"/>
          </a:ln>
        </p:spPr>
        <p:txBody>
          <a:bodyPr/>
          <a:p/>
        </p:txBody>
      </p:sp>
      <p:sp>
        <p:nvSpPr>
          <p:cNvPr id="8" name="Text 6"/>
          <p:cNvSpPr/>
          <p:nvPr/>
        </p:nvSpPr>
        <p:spPr>
          <a:xfrm>
            <a:off x="5733288" y="146304"/>
            <a:ext cx="932688" cy="2194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720" dirty="0">
                <a:solidFill>
                  <a:srgbClr val="64748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3. Phương pháp</a:t>
            </a:r>
            <a:endParaRPr lang="en-US" sz="720" dirty="0"/>
          </a:p>
        </p:txBody>
      </p:sp>
      <p:sp>
        <p:nvSpPr>
          <p:cNvPr id="9" name="Shape 7"/>
          <p:cNvSpPr/>
          <p:nvPr/>
        </p:nvSpPr>
        <p:spPr>
          <a:xfrm>
            <a:off x="6720840" y="146304"/>
            <a:ext cx="932688" cy="219456"/>
          </a:xfrm>
          <a:prstGeom prst="roundRect">
            <a:avLst>
              <a:gd name="adj" fmla="val 20833"/>
            </a:avLst>
          </a:prstGeom>
          <a:solidFill>
            <a:srgbClr val="F1F5F9"/>
          </a:solidFill>
          <a:ln w="6350">
            <a:solidFill>
              <a:srgbClr val="E2E8F0"/>
            </a:solidFill>
            <a:prstDash val="solid"/>
          </a:ln>
        </p:spPr>
        <p:txBody>
          <a:bodyPr/>
          <a:p/>
        </p:txBody>
      </p:sp>
      <p:sp>
        <p:nvSpPr>
          <p:cNvPr id="10" name="Text 8"/>
          <p:cNvSpPr/>
          <p:nvPr/>
        </p:nvSpPr>
        <p:spPr>
          <a:xfrm>
            <a:off x="6720840" y="146304"/>
            <a:ext cx="932688" cy="2194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720" dirty="0">
                <a:solidFill>
                  <a:srgbClr val="64748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4. Thực nghiệm</a:t>
            </a:r>
            <a:endParaRPr lang="en-US" sz="720" dirty="0"/>
          </a:p>
        </p:txBody>
      </p:sp>
      <p:sp>
        <p:nvSpPr>
          <p:cNvPr id="11" name="Shape 9"/>
          <p:cNvSpPr/>
          <p:nvPr/>
        </p:nvSpPr>
        <p:spPr>
          <a:xfrm>
            <a:off x="7708392" y="146304"/>
            <a:ext cx="932688" cy="219456"/>
          </a:xfrm>
          <a:prstGeom prst="roundRect">
            <a:avLst>
              <a:gd name="adj" fmla="val 20833"/>
            </a:avLst>
          </a:prstGeom>
          <a:solidFill>
            <a:srgbClr val="F1F5F9"/>
          </a:solidFill>
          <a:ln w="6350">
            <a:solidFill>
              <a:srgbClr val="E2E8F0"/>
            </a:solidFill>
            <a:prstDash val="solid"/>
          </a:ln>
        </p:spPr>
        <p:txBody>
          <a:bodyPr/>
          <a:p/>
        </p:txBody>
      </p:sp>
      <p:sp>
        <p:nvSpPr>
          <p:cNvPr id="12" name="Text 10"/>
          <p:cNvSpPr/>
          <p:nvPr/>
        </p:nvSpPr>
        <p:spPr>
          <a:xfrm>
            <a:off x="7708392" y="146304"/>
            <a:ext cx="932688" cy="2194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720" dirty="0">
                <a:solidFill>
                  <a:srgbClr val="64748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5. Demo &amp; Tương lai</a:t>
            </a:r>
            <a:endParaRPr lang="en-US" sz="720" dirty="0"/>
          </a:p>
        </p:txBody>
      </p:sp>
      <p:sp>
        <p:nvSpPr>
          <p:cNvPr id="13" name="Text 11"/>
          <p:cNvSpPr/>
          <p:nvPr/>
        </p:nvSpPr>
        <p:spPr>
          <a:xfrm>
            <a:off x="502920" y="438912"/>
            <a:ext cx="813816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1E295C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Xử lý Mất cân bằng Lớp: SMOTE vs. ADASYN</a:t>
            </a:r>
            <a:endParaRPr lang="en-US" sz="2000" dirty="0"/>
          </a:p>
        </p:txBody>
      </p:sp>
      <p:sp>
        <p:nvSpPr>
          <p:cNvPr id="14" name="Shape 12"/>
          <p:cNvSpPr/>
          <p:nvPr/>
        </p:nvSpPr>
        <p:spPr>
          <a:xfrm>
            <a:off x="502920" y="859536"/>
            <a:ext cx="8138160" cy="0"/>
          </a:xfrm>
          <a:prstGeom prst="line">
            <a:avLst/>
          </a:prstGeom>
          <a:noFill/>
          <a:ln w="9525">
            <a:solidFill>
              <a:srgbClr val="E2E8F0"/>
            </a:solidFill>
            <a:prstDash val="solid"/>
          </a:ln>
        </p:spPr>
        <p:txBody>
          <a:bodyPr/>
          <a:p/>
        </p:txBody>
      </p:sp>
      <p:sp>
        <p:nvSpPr>
          <p:cNvPr id="15" name="Text 13"/>
          <p:cNvSpPr/>
          <p:nvPr/>
        </p:nvSpPr>
        <p:spPr>
          <a:xfrm>
            <a:off x="502920" y="4823460"/>
            <a:ext cx="5669280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CS106: Trí tuệ Nhân tạo — Nhóm 09 — Báo cáo Đồ án: Phát hiện Gian lận Tài chính</a:t>
            </a:r>
            <a:endParaRPr lang="en-US" sz="850" dirty="0"/>
          </a:p>
        </p:txBody>
      </p:sp>
      <p:sp>
        <p:nvSpPr>
          <p:cNvPr id="16" name="Text 14"/>
          <p:cNvSpPr/>
          <p:nvPr/>
        </p:nvSpPr>
        <p:spPr>
          <a:xfrm>
            <a:off x="7269480" y="4823460"/>
            <a:ext cx="1371600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5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9 / 24</a:t>
            </a:r>
            <a:endParaRPr lang="en-US" sz="850" dirty="0"/>
          </a:p>
        </p:txBody>
      </p:sp>
      <p:sp>
        <p:nvSpPr>
          <p:cNvPr id="17" name="Shape 15"/>
          <p:cNvSpPr/>
          <p:nvPr/>
        </p:nvSpPr>
        <p:spPr>
          <a:xfrm>
            <a:off x="502920" y="1051560"/>
            <a:ext cx="3840480" cy="1554480"/>
          </a:xfrm>
          <a:prstGeom prst="roundRect">
            <a:avLst>
              <a:gd name="adj" fmla="val 2941"/>
            </a:avLst>
          </a:prstGeom>
          <a:solidFill>
            <a:srgbClr val="FEF2F2"/>
          </a:solidFill>
          <a:ln w="12700">
            <a:solidFill>
              <a:srgbClr val="FECACA"/>
            </a:solidFill>
            <a:prstDash val="solid"/>
          </a:ln>
        </p:spPr>
        <p:txBody>
          <a:bodyPr/>
          <a:p/>
        </p:txBody>
      </p:sp>
      <p:sp>
        <p:nvSpPr>
          <p:cNvPr id="18" name="Text 16"/>
          <p:cNvSpPr/>
          <p:nvPr/>
        </p:nvSpPr>
        <p:spPr>
          <a:xfrm>
            <a:off x="640080" y="1143000"/>
            <a:ext cx="356616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DC2626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Accuracy Paradox in Imbalanced Classification</a:t>
            </a:r>
            <a:endParaRPr lang="en-US" sz="1150" dirty="0"/>
          </a:p>
        </p:txBody>
      </p:sp>
      <p:sp>
        <p:nvSpPr>
          <p:cNvPr id="19" name="Text 17"/>
          <p:cNvSpPr/>
          <p:nvPr/>
        </p:nvSpPr>
        <p:spPr>
          <a:xfrm>
            <a:off x="640080" y="1399032"/>
            <a:ext cx="3566160" cy="1133856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indent="0" marL="0">
              <a:buNone/>
            </a:pPr>
            <a:r>
              <a:rPr lang="en-US" sz="110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Một baseline ngây thơ dự đoán 100% "Hợp lệ" đạt Accuracy 99.87% nhưng bỏ sót 100% gian lận.</a:t>
            </a:r>
            <a:endParaRPr lang="en-US" sz="1100" dirty="0"/>
          </a:p>
          <a:p>
            <a:pPr indent="0" marL="0">
              <a:buNone/>
            </a:pP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Evaluation Mandate: Lựa chọn model phải được dẫn dắt tuyệt đối bởi Precision, Recall, F1-Score và PR-AUC.</a:t>
            </a:r>
            <a:endParaRPr lang="en-US" sz="1100" dirty="0"/>
          </a:p>
        </p:txBody>
      </p:sp>
      <p:sp>
        <p:nvSpPr>
          <p:cNvPr id="20" name="Shape 18"/>
          <p:cNvSpPr/>
          <p:nvPr/>
        </p:nvSpPr>
        <p:spPr>
          <a:xfrm>
            <a:off x="502920" y="2697480"/>
            <a:ext cx="3840480" cy="1920240"/>
          </a:xfrm>
          <a:prstGeom prst="roundRect">
            <a:avLst>
              <a:gd name="adj" fmla="val 2381"/>
            </a:avLst>
          </a:prstGeom>
          <a:solidFill>
            <a:srgbClr val="F8FAFC"/>
          </a:solidFill>
          <a:ln w="12700">
            <a:solidFill>
              <a:srgbClr val="CBD5E1"/>
            </a:solidFill>
            <a:prstDash val="solid"/>
          </a:ln>
        </p:spPr>
        <p:txBody>
          <a:bodyPr/>
          <a:p/>
        </p:txBody>
      </p:sp>
      <p:sp>
        <p:nvSpPr>
          <p:cNvPr id="21" name="Text 19"/>
          <p:cNvSpPr/>
          <p:nvPr/>
        </p:nvSpPr>
        <p:spPr>
          <a:xfrm>
            <a:off x="640080" y="2770632"/>
            <a:ext cx="356616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1E295C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SMOTE Interpolation Formulation</a:t>
            </a:r>
            <a:endParaRPr lang="en-US" sz="1050" dirty="0"/>
          </a:p>
        </p:txBody>
      </p:sp>
      <p:sp>
        <p:nvSpPr>
          <p:cNvPr id="22" name="Text 20"/>
          <p:cNvSpPr/>
          <p:nvPr/>
        </p:nvSpPr>
        <p:spPr>
          <a:xfrm>
            <a:off x="640080" y="3026664"/>
            <a:ext cx="356616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  <a:defRPr sz="950" kern="1200"/>
            </a:pPr>
            <a14:m xmlns:a14="http://schemas.microsoft.com/office/drawing/2010/main">
              <m:oMath xmlns:m="http://schemas.openxmlformats.org/officeDocument/2006/math">
                <m:sSub>
                  <m:e>
                    <m:r>
                      <m:t>x</m:t>
                    </m:r>
                  </m:e>
                  <m:sub>
                    <m:r>
                      <m:rPr>
                        <m:nor/>
                        <m:sty m:val="p"/>
                      </m:rPr>
                      <m:t>new</m:t>
                    </m:r>
                  </m:sub>
                </m:sSub>
                <m:r>
                  <m:rPr>
                    <m:sty m:val="p"/>
                  </m:rPr>
                  <m:t>=</m:t>
                </m:r>
                <m:sSub>
                  <m:e>
                    <m:r>
                      <m:t>x</m:t>
                    </m:r>
                  </m:e>
                  <m:sub>
                    <m:r>
                      <m:t>i</m:t>
                    </m:r>
                  </m:sub>
                </m:sSub>
                <m:r>
                  <m:rPr>
                    <m:sty m:val="p"/>
                  </m:rPr>
                  <m:t>+</m:t>
                </m:r>
                <m:r>
                  <m:t>λ</m:t>
                </m:r>
                <m:r>
                  <m:rPr>
                    <m:sty m:val="p"/>
                  </m:rPr>
                  <m:t>(</m:t>
                </m:r>
                <m:sSub>
                  <m:e>
                    <m:r>
                      <m:t>x</m:t>
                    </m:r>
                  </m:e>
                  <m:sub>
                    <m:r>
                      <m:t>z</m:t>
                    </m:r>
                    <m:r>
                      <m:t>i</m:t>
                    </m:r>
                  </m:sub>
                </m:sSub>
                <m:r>
                  <m:rPr>
                    <m:sty m:val="p"/>
                  </m:rPr>
                  <m:t>−</m:t>
                </m:r>
                <m:sSub>
                  <m:e>
                    <m:r>
                      <m:t>x</m:t>
                    </m:r>
                  </m:e>
                  <m:sub>
                    <m:r>
                      <m:t>i</m:t>
                    </m:r>
                  </m:sub>
                </m:sSub>
                <m:r>
                  <m:rPr>
                    <m:sty m:val="p"/>
                  </m:rPr>
                  <m:t>)</m:t>
                </m:r>
                <m:r>
                  <m:rPr>
                    <m:sty m:val="p"/>
                  </m:rPr>
                  <m:t>,</m:t>
                </m:r>
                <m:r>
                  <m:t> </m:t>
                </m:r>
                <m:r>
                  <m:t>λ</m:t>
                </m:r>
                <m:r>
                  <m:rPr>
                    <m:sty m:val="p"/>
                  </m:rPr>
                  <m:t>∼</m:t>
                </m:r>
                <m:r>
                  <m:t>U</m:t>
                </m:r>
                <m:r>
                  <m:rPr>
                    <m:sty m:val="p"/>
                  </m:rPr>
                  <m:t>(</m:t>
                </m:r>
                <m:r>
                  <m:t>0</m:t>
                </m:r>
                <m:r>
                  <m:rPr>
                    <m:sty m:val="p"/>
                  </m:rPr>
                  <m:t>,</m:t>
                </m:r>
                <m:r>
                  <m:t>1</m:t>
                </m:r>
                <m:r>
                  <m:rPr>
                    <m:sty m:val="p"/>
                  </m:rPr>
                  <m:t>)</m:t>
                </m:r>
              </m:oMath>
            </a14:m>
            <a:endParaRPr lang="en-US" sz="950" dirty="0"/>
          </a:p>
        </p:txBody>
      </p:sp>
      <p:sp>
        <p:nvSpPr>
          <p:cNvPr id="23" name="Text 21"/>
          <p:cNvSpPr/>
          <p:nvPr/>
        </p:nvSpPr>
        <p:spPr>
          <a:xfrm>
            <a:off x="640080" y="3447288"/>
            <a:ext cx="3566160" cy="1115568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indent="0" marL="0">
              <a:buNone/>
            </a:pPr>
            <a:r>
              <a:rPr lang="en-US" sz="880" dirty="0">
                <a:solidFill>
                  <a:srgbClr val="4B556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Nội suy mẫu nhân tạo thiểu số dọc theo đoạn thẳng nối các láng giềng k-NN trong latent feature space.</a:t>
            </a:r>
            <a:endParaRPr lang="en-US" sz="880" dirty="0"/>
          </a:p>
        </p:txBody>
      </p:sp>
      <p:sp>
        <p:nvSpPr>
          <p:cNvPr id="24" name="Shape 22"/>
          <p:cNvSpPr/>
          <p:nvPr/>
        </p:nvSpPr>
        <p:spPr>
          <a:xfrm>
            <a:off x="4617720" y="1051560"/>
            <a:ext cx="4023360" cy="1920240"/>
          </a:xfrm>
          <a:prstGeom prst="roundRect">
            <a:avLst>
              <a:gd name="adj" fmla="val 2381"/>
            </a:avLst>
          </a:prstGeom>
          <a:solidFill>
            <a:srgbClr val="F8FAFC"/>
          </a:solidFill>
          <a:ln w="12700">
            <a:solidFill>
              <a:srgbClr val="CBD5E1"/>
            </a:solidFill>
            <a:prstDash val="solid"/>
          </a:ln>
        </p:spPr>
        <p:txBody>
          <a:bodyPr/>
          <a:p/>
        </p:txBody>
      </p:sp>
      <p:sp>
        <p:nvSpPr>
          <p:cNvPr id="25" name="Text 23"/>
          <p:cNvSpPr/>
          <p:nvPr/>
        </p:nvSpPr>
        <p:spPr>
          <a:xfrm>
            <a:off x="4754880" y="1124712"/>
            <a:ext cx="374904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1E295C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ADASYN Density-Weighted Resampling</a:t>
            </a:r>
            <a:endParaRPr lang="en-US" sz="1050" dirty="0"/>
          </a:p>
        </p:txBody>
      </p:sp>
      <p:sp>
        <p:nvSpPr>
          <p:cNvPr id="26" name="Text 24"/>
          <p:cNvSpPr/>
          <p:nvPr/>
        </p:nvSpPr>
        <p:spPr>
          <a:xfrm>
            <a:off x="4754880" y="1380744"/>
            <a:ext cx="374904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  <a:defRPr sz="950" kern="1200"/>
            </a:pPr>
            <a14:m xmlns:a14="http://schemas.microsoft.com/office/drawing/2010/main">
              <m:oMath xmlns:m="http://schemas.openxmlformats.org/officeDocument/2006/math">
                <m:sSub>
                  <m:e>
                    <m:r>
                      <m:t>r</m:t>
                    </m:r>
                  </m:e>
                  <m:sub>
                    <m:r>
                      <m:t>i</m:t>
                    </m:r>
                  </m:sub>
                </m:sSub>
                <m:r>
                  <m:rPr>
                    <m:sty m:val="p"/>
                  </m:rPr>
                  <m:t>=</m:t>
                </m:r>
                <m:sSub>
                  <m:e>
                    <m:r>
                      <m:rPr>
                        <m:sty m:val="p"/>
                      </m:rPr>
                      <m:t>Δ</m:t>
                    </m:r>
                  </m:e>
                  <m:sub>
                    <m:r>
                      <m:t>i</m:t>
                    </m:r>
                  </m:sub>
                </m:sSub>
                <m:r>
                  <m:rPr>
                    <m:sty m:val="p"/>
                  </m:rPr>
                  <m:t>/</m:t>
                </m:r>
                <m:r>
                  <m:t>K</m:t>
                </m:r>
                <m:r>
                  <m:rPr>
                    <m:sty m:val="p"/>
                  </m:rPr>
                  <m:t>,</m:t>
                </m:r>
                <m:r>
                  <m:t> </m:t>
                </m:r>
                <m:sSub>
                  <m:e>
                    <m:r>
                      <m:rPr>
                        <m:sty m:val="p"/>
                      </m:rPr>
                      <m:t>Γ</m:t>
                    </m:r>
                  </m:e>
                  <m:sub>
                    <m:r>
                      <m:t>i</m:t>
                    </m:r>
                  </m:sub>
                </m:sSub>
                <m:r>
                  <m:rPr>
                    <m:sty m:val="p"/>
                  </m:rPr>
                  <m:t>=</m:t>
                </m:r>
                <m:sSub>
                  <m:e>
                    <m:r>
                      <m:t>r</m:t>
                    </m:r>
                  </m:e>
                  <m:sub>
                    <m:r>
                      <m:t>i</m:t>
                    </m:r>
                  </m:sub>
                </m:sSub>
                <m:r>
                  <m:rPr>
                    <m:sty m:val="p"/>
                  </m:rPr>
                  <m:t>/</m:t>
                </m:r>
                <m:nary>
                  <m:naryPr>
                    <m:chr m:val="∑"/>
                    <m:limLoc m:val="undOvr"/>
                    <m:subHide m:val="off"/>
                    <m:supHide m:val="off"/>
                  </m:naryPr>
                  <m:sub>
                    <m:r>
                      <m:t>j</m:t>
                    </m:r>
                    <m:r>
                      <m:rPr>
                        <m:sty m:val="p"/>
                      </m:rPr>
                      <m:t>=</m:t>
                    </m:r>
                    <m:r>
                      <m:t>1</m:t>
                    </m:r>
                  </m:sub>
                  <m:sup>
                    <m:r>
                      <m:t>m</m:t>
                    </m:r>
                  </m:sup>
                  <m:e>
                    <m:sSub>
                      <m:e>
                        <m:r>
                          <m:t>r</m:t>
                        </m:r>
                      </m:e>
                      <m:sub>
                        <m:r>
                          <m:t>j</m:t>
                        </m:r>
                      </m:sub>
                    </m:sSub>
                  </m:e>
                </m:nary>
              </m:oMath>
            </a14:m>
            <a:endParaRPr lang="en-US" sz="950" dirty="0"/>
          </a:p>
        </p:txBody>
      </p:sp>
      <p:sp>
        <p:nvSpPr>
          <p:cNvPr id="27" name="Text 25"/>
          <p:cNvSpPr/>
          <p:nvPr/>
        </p:nvSpPr>
        <p:spPr>
          <a:xfrm>
            <a:off x="4754880" y="1801368"/>
            <a:ext cx="3749040" cy="1115568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indent="0" marL="0">
              <a:buNone/>
            </a:pPr>
            <a:r>
              <a:rPr lang="en-US" sz="880" dirty="0">
                <a:solidFill>
                  <a:srgbClr val="4B556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Sinh mẫu nhân tạo thiểu số theo phân phối trọng số mật độ (Gamma_i) ở vùng decision boundary.</a:t>
            </a:r>
            <a:endParaRPr lang="en-US" sz="880" dirty="0"/>
          </a:p>
        </p:txBody>
      </p:sp>
      <p:sp>
        <p:nvSpPr>
          <p:cNvPr id="28" name="Shape 26"/>
          <p:cNvSpPr/>
          <p:nvPr/>
        </p:nvSpPr>
        <p:spPr>
          <a:xfrm>
            <a:off x="4617720" y="3063240"/>
            <a:ext cx="4023360" cy="1554480"/>
          </a:xfrm>
          <a:prstGeom prst="roundRect">
            <a:avLst>
              <a:gd name="adj" fmla="val 2941"/>
            </a:avLst>
          </a:prstGeom>
          <a:solidFill>
            <a:srgbClr val="F0FDF4"/>
          </a:solidFill>
          <a:ln w="12700">
            <a:solidFill>
              <a:srgbClr val="BBF7D0"/>
            </a:solidFill>
            <a:prstDash val="solid"/>
          </a:ln>
        </p:spPr>
        <p:txBody>
          <a:bodyPr/>
          <a:p/>
        </p:txBody>
      </p:sp>
      <p:sp>
        <p:nvSpPr>
          <p:cNvPr id="29" name="Text 27"/>
          <p:cNvSpPr/>
          <p:nvPr/>
        </p:nvSpPr>
        <p:spPr>
          <a:xfrm>
            <a:off x="4754880" y="3154680"/>
            <a:ext cx="374904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16A34A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Đúc kết Thực nghiệm (Empirical Insights)</a:t>
            </a:r>
            <a:endParaRPr lang="en-US" sz="1150" dirty="0"/>
          </a:p>
        </p:txBody>
      </p:sp>
      <p:sp>
        <p:nvSpPr>
          <p:cNvPr id="30" name="Text 28"/>
          <p:cNvSpPr/>
          <p:nvPr/>
        </p:nvSpPr>
        <p:spPr>
          <a:xfrm>
            <a:off x="4754880" y="3410712"/>
            <a:ext cx="3749040" cy="1133856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marL="342900" indent="-342900">
              <a:buSzPct val="100000"/>
              <a:buChar char="•"/>
            </a:pPr>
            <a:r>
              <a:rPr lang="en-US" sz="105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SMOTE tạo decision boundary rõ nét hơn với tỷ lệ False Positive thấp hơn.</a:t>
            </a:r>
            <a:endParaRPr lang="en-US" sz="1050" dirty="0"/>
          </a:p>
          <a:p>
            <a:pPr marL="342900" indent="-342900">
              <a:buSzPct val="100000"/>
              <a:buChar char="•"/>
            </a:pPr>
            <a:r>
              <a:rPr lang="en-US" sz="105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ADASYN over-synthesize ở vùng chồng lấn nhiễu, làm giảm nhẹ chỉ số Precision.</a:t>
            </a:r>
            <a:endParaRPr lang="en-US" sz="105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161F4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02920" y="457200"/>
            <a:ext cx="813816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3C5FD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TRƯỜNG ĐẠI HỌC CÔNG NGHỆ THÔNG TIN, ĐHQG-HCM  •  BÁO CÁO ĐỒ ÁN CS106</a:t>
            </a:r>
            <a:endParaRPr lang="en-US" sz="900" dirty="0"/>
          </a:p>
        </p:txBody>
      </p:sp>
      <p:sp>
        <p:nvSpPr>
          <p:cNvPr id="3" name="Shape 1"/>
          <p:cNvSpPr/>
          <p:nvPr/>
        </p:nvSpPr>
        <p:spPr>
          <a:xfrm>
            <a:off x="3886200" y="1188720"/>
            <a:ext cx="1371600" cy="384048"/>
          </a:xfrm>
          <a:prstGeom prst="roundRect">
            <a:avLst>
              <a:gd name="adj" fmla="val 19048"/>
            </a:avLst>
          </a:prstGeom>
          <a:solidFill>
            <a:srgbClr val="2563EB"/>
          </a:solidFill>
          <a:ln w="12700">
            <a:solidFill>
              <a:srgbClr val="60A5FA"/>
            </a:solidFill>
            <a:prstDash val="solid"/>
          </a:ln>
        </p:spPr>
        <p:txBody>
          <a:bodyPr/>
          <a:p/>
        </p:txBody>
      </p:sp>
      <p:sp>
        <p:nvSpPr>
          <p:cNvPr id="4" name="Text 2"/>
          <p:cNvSpPr/>
          <p:nvPr/>
        </p:nvSpPr>
        <p:spPr>
          <a:xfrm>
            <a:off x="3886200" y="1188720"/>
            <a:ext cx="137160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50" b="1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PHẦN 03</a:t>
            </a:r>
            <a:endParaRPr lang="en-US" sz="1250" dirty="0"/>
          </a:p>
        </p:txBody>
      </p:sp>
      <p:sp>
        <p:nvSpPr>
          <p:cNvPr id="5" name="Text 3"/>
          <p:cNvSpPr/>
          <p:nvPr/>
        </p:nvSpPr>
        <p:spPr>
          <a:xfrm>
            <a:off x="502920" y="1783080"/>
            <a:ext cx="8138160" cy="6858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500" b="1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PHƯƠNG PHÁP ĐỀ XUẤT &amp; PIPELINE</a:t>
            </a:r>
            <a:endParaRPr lang="en-US" sz="2500" dirty="0"/>
          </a:p>
        </p:txBody>
      </p:sp>
      <p:sp>
        <p:nvSpPr>
          <p:cNvPr id="6" name="Shape 4"/>
          <p:cNvSpPr/>
          <p:nvPr/>
        </p:nvSpPr>
        <p:spPr>
          <a:xfrm>
            <a:off x="3200400" y="2578608"/>
            <a:ext cx="2743200" cy="0"/>
          </a:xfrm>
          <a:prstGeom prst="line">
            <a:avLst/>
          </a:prstGeom>
          <a:noFill/>
          <a:ln w="25400">
            <a:solidFill>
              <a:srgbClr val="F59E0B"/>
            </a:solidFill>
            <a:prstDash val="solid"/>
          </a:ln>
        </p:spPr>
        <p:txBody>
          <a:bodyPr/>
          <a:p/>
        </p:txBody>
      </p:sp>
      <p:sp>
        <p:nvSpPr>
          <p:cNvPr id="7" name="Shape 5"/>
          <p:cNvSpPr/>
          <p:nvPr/>
        </p:nvSpPr>
        <p:spPr>
          <a:xfrm>
            <a:off x="2011680" y="2852928"/>
            <a:ext cx="5120640" cy="1508760"/>
          </a:xfrm>
          <a:prstGeom prst="roundRect">
            <a:avLst>
              <a:gd name="adj" fmla="val 3636"/>
            </a:avLst>
          </a:prstGeom>
          <a:solidFill>
            <a:srgbClr val="1E295C"/>
          </a:solidFill>
          <a:ln w="9525">
            <a:solidFill>
              <a:srgbClr val="3B82F6"/>
            </a:solidFill>
            <a:prstDash val="solid"/>
          </a:ln>
        </p:spPr>
        <p:txBody>
          <a:bodyPr/>
          <a:p/>
        </p:txBody>
      </p:sp>
      <p:sp>
        <p:nvSpPr>
          <p:cNvPr id="8" name="Text 6"/>
          <p:cNvSpPr/>
          <p:nvPr/>
        </p:nvSpPr>
        <p:spPr>
          <a:xfrm>
            <a:off x="2286000" y="2971800"/>
            <a:ext cx="4572000" cy="12801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342900" indent="-342900">
              <a:buSzPct val="100000"/>
              <a:buChar char="•"/>
            </a:pPr>
            <a:r>
              <a:rPr lang="en-US" sz="1100" dirty="0">
                <a:solidFill>
                  <a:srgbClr val="E2E8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Kiến trúc Pipeline Toàn diện Chuẩn Leak-Free</a:t>
            </a:r>
            <a:endParaRPr lang="en-US" sz="1100" dirty="0"/>
          </a:p>
          <a:p>
            <a:pPr marL="342900" indent="-342900">
              <a:buSzPct val="100000"/>
              <a:buChar char="•"/>
            </a:pPr>
            <a:r>
              <a:rPr lang="en-US" sz="1100" dirty="0">
                <a:solidFill>
                  <a:srgbClr val="E2E8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Supervised Learning: Random Forest (Bagging &amp; MDI Importance)</a:t>
            </a:r>
            <a:endParaRPr lang="en-US" sz="1100" dirty="0"/>
          </a:p>
          <a:p>
            <a:pPr marL="342900" indent="-342900">
              <a:buSzPct val="100000"/>
              <a:buChar char="•"/>
            </a:pPr>
            <a:r>
              <a:rPr lang="en-US" sz="1100" dirty="0">
                <a:solidFill>
                  <a:srgbClr val="E2E8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Gradient Boosting: XGBoost (Regularized GBDT &amp; Taylor Expansion)</a:t>
            </a:r>
            <a:endParaRPr lang="en-US" sz="1100" dirty="0"/>
          </a:p>
          <a:p>
            <a:pPr marL="342900" indent="-342900">
              <a:buSzPct val="100000"/>
              <a:buChar char="•"/>
            </a:pPr>
            <a:r>
              <a:rPr lang="en-US" sz="1100" dirty="0">
                <a:solidFill>
                  <a:srgbClr val="E2E8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Unsupervised Learning: Deep Autoencoder (Manifold Reconstruction)</a:t>
            </a:r>
            <a:endParaRPr lang="en-US" sz="11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02920" y="164592"/>
            <a:ext cx="246888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850" b="1" dirty="0">
                <a:solidFill>
                  <a:srgbClr val="D97706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UIT • ĐHQG-HCM | CS106 (AI)</a:t>
            </a:r>
            <a:endParaRPr lang="en-US" sz="850" dirty="0"/>
          </a:p>
        </p:txBody>
      </p:sp>
      <p:sp>
        <p:nvSpPr>
          <p:cNvPr id="3" name="Shape 1"/>
          <p:cNvSpPr/>
          <p:nvPr/>
        </p:nvSpPr>
        <p:spPr>
          <a:xfrm>
            <a:off x="3758184" y="146304"/>
            <a:ext cx="932688" cy="219456"/>
          </a:xfrm>
          <a:prstGeom prst="roundRect">
            <a:avLst>
              <a:gd name="adj" fmla="val 20833"/>
            </a:avLst>
          </a:prstGeom>
          <a:solidFill>
            <a:srgbClr val="F1F5F9"/>
          </a:solidFill>
          <a:ln w="6350">
            <a:solidFill>
              <a:srgbClr val="E2E8F0"/>
            </a:solidFill>
            <a:prstDash val="solid"/>
          </a:ln>
        </p:spPr>
        <p:txBody>
          <a:bodyPr/>
          <a:p/>
        </p:txBody>
      </p:sp>
      <p:sp>
        <p:nvSpPr>
          <p:cNvPr id="4" name="Text 2"/>
          <p:cNvSpPr/>
          <p:nvPr/>
        </p:nvSpPr>
        <p:spPr>
          <a:xfrm>
            <a:off x="3758184" y="146304"/>
            <a:ext cx="932688" cy="2194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720" dirty="0">
                <a:solidFill>
                  <a:srgbClr val="64748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1. Giới thiệu</a:t>
            </a:r>
            <a:endParaRPr lang="en-US" sz="720" dirty="0"/>
          </a:p>
        </p:txBody>
      </p:sp>
      <p:sp>
        <p:nvSpPr>
          <p:cNvPr id="5" name="Shape 3"/>
          <p:cNvSpPr/>
          <p:nvPr/>
        </p:nvSpPr>
        <p:spPr>
          <a:xfrm>
            <a:off x="4745736" y="146304"/>
            <a:ext cx="932688" cy="219456"/>
          </a:xfrm>
          <a:prstGeom prst="roundRect">
            <a:avLst>
              <a:gd name="adj" fmla="val 20833"/>
            </a:avLst>
          </a:prstGeom>
          <a:solidFill>
            <a:srgbClr val="F1F5F9"/>
          </a:solidFill>
          <a:ln w="6350">
            <a:solidFill>
              <a:srgbClr val="E2E8F0"/>
            </a:solidFill>
            <a:prstDash val="solid"/>
          </a:ln>
        </p:spPr>
        <p:txBody>
          <a:bodyPr/>
          <a:p/>
        </p:txBody>
      </p:sp>
      <p:sp>
        <p:nvSpPr>
          <p:cNvPr id="6" name="Text 4"/>
          <p:cNvSpPr/>
          <p:nvPr/>
        </p:nvSpPr>
        <p:spPr>
          <a:xfrm>
            <a:off x="4745736" y="146304"/>
            <a:ext cx="932688" cy="2194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720" dirty="0">
                <a:solidFill>
                  <a:srgbClr val="64748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2. EDA &amp; Features</a:t>
            </a:r>
            <a:endParaRPr lang="en-US" sz="720" dirty="0"/>
          </a:p>
        </p:txBody>
      </p:sp>
      <p:sp>
        <p:nvSpPr>
          <p:cNvPr id="7" name="Shape 5"/>
          <p:cNvSpPr/>
          <p:nvPr/>
        </p:nvSpPr>
        <p:spPr>
          <a:xfrm>
            <a:off x="5733288" y="146304"/>
            <a:ext cx="932688" cy="219456"/>
          </a:xfrm>
          <a:prstGeom prst="roundRect">
            <a:avLst>
              <a:gd name="adj" fmla="val 20833"/>
            </a:avLst>
          </a:prstGeom>
          <a:solidFill>
            <a:srgbClr val="2563EB"/>
          </a:solidFill>
          <a:ln w="6350">
            <a:solidFill>
              <a:srgbClr val="1D4ED8"/>
            </a:solidFill>
            <a:prstDash val="solid"/>
          </a:ln>
        </p:spPr>
        <p:txBody>
          <a:bodyPr/>
          <a:p/>
        </p:txBody>
      </p:sp>
      <p:sp>
        <p:nvSpPr>
          <p:cNvPr id="8" name="Text 6"/>
          <p:cNvSpPr/>
          <p:nvPr/>
        </p:nvSpPr>
        <p:spPr>
          <a:xfrm>
            <a:off x="5733288" y="146304"/>
            <a:ext cx="932688" cy="2194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720" b="1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3. Phương pháp</a:t>
            </a:r>
            <a:endParaRPr lang="en-US" sz="720" dirty="0"/>
          </a:p>
        </p:txBody>
      </p:sp>
      <p:sp>
        <p:nvSpPr>
          <p:cNvPr id="9" name="Shape 7"/>
          <p:cNvSpPr/>
          <p:nvPr/>
        </p:nvSpPr>
        <p:spPr>
          <a:xfrm>
            <a:off x="6720840" y="146304"/>
            <a:ext cx="932688" cy="219456"/>
          </a:xfrm>
          <a:prstGeom prst="roundRect">
            <a:avLst>
              <a:gd name="adj" fmla="val 20833"/>
            </a:avLst>
          </a:prstGeom>
          <a:solidFill>
            <a:srgbClr val="F1F5F9"/>
          </a:solidFill>
          <a:ln w="6350">
            <a:solidFill>
              <a:srgbClr val="E2E8F0"/>
            </a:solidFill>
            <a:prstDash val="solid"/>
          </a:ln>
        </p:spPr>
        <p:txBody>
          <a:bodyPr/>
          <a:p/>
        </p:txBody>
      </p:sp>
      <p:sp>
        <p:nvSpPr>
          <p:cNvPr id="10" name="Text 8"/>
          <p:cNvSpPr/>
          <p:nvPr/>
        </p:nvSpPr>
        <p:spPr>
          <a:xfrm>
            <a:off x="6720840" y="146304"/>
            <a:ext cx="932688" cy="2194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720" dirty="0">
                <a:solidFill>
                  <a:srgbClr val="64748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4. Thực nghiệm</a:t>
            </a:r>
            <a:endParaRPr lang="en-US" sz="720" dirty="0"/>
          </a:p>
        </p:txBody>
      </p:sp>
      <p:sp>
        <p:nvSpPr>
          <p:cNvPr id="11" name="Shape 9"/>
          <p:cNvSpPr/>
          <p:nvPr/>
        </p:nvSpPr>
        <p:spPr>
          <a:xfrm>
            <a:off x="7708392" y="146304"/>
            <a:ext cx="932688" cy="219456"/>
          </a:xfrm>
          <a:prstGeom prst="roundRect">
            <a:avLst>
              <a:gd name="adj" fmla="val 20833"/>
            </a:avLst>
          </a:prstGeom>
          <a:solidFill>
            <a:srgbClr val="F1F5F9"/>
          </a:solidFill>
          <a:ln w="6350">
            <a:solidFill>
              <a:srgbClr val="E2E8F0"/>
            </a:solidFill>
            <a:prstDash val="solid"/>
          </a:ln>
        </p:spPr>
        <p:txBody>
          <a:bodyPr/>
          <a:p/>
        </p:txBody>
      </p:sp>
      <p:sp>
        <p:nvSpPr>
          <p:cNvPr id="12" name="Text 10"/>
          <p:cNvSpPr/>
          <p:nvPr/>
        </p:nvSpPr>
        <p:spPr>
          <a:xfrm>
            <a:off x="7708392" y="146304"/>
            <a:ext cx="932688" cy="2194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720" dirty="0">
                <a:solidFill>
                  <a:srgbClr val="64748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5. Demo &amp; Tương lai</a:t>
            </a:r>
            <a:endParaRPr lang="en-US" sz="720" dirty="0"/>
          </a:p>
        </p:txBody>
      </p:sp>
      <p:sp>
        <p:nvSpPr>
          <p:cNvPr id="13" name="Text 11"/>
          <p:cNvSpPr/>
          <p:nvPr/>
        </p:nvSpPr>
        <p:spPr>
          <a:xfrm>
            <a:off x="502920" y="438912"/>
            <a:ext cx="813816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1E295C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End-to-End Leak-Free Machine Learning Pipeline</a:t>
            </a:r>
            <a:endParaRPr lang="en-US" sz="2000" dirty="0"/>
          </a:p>
        </p:txBody>
      </p:sp>
      <p:sp>
        <p:nvSpPr>
          <p:cNvPr id="14" name="Shape 12"/>
          <p:cNvSpPr/>
          <p:nvPr/>
        </p:nvSpPr>
        <p:spPr>
          <a:xfrm>
            <a:off x="502920" y="859536"/>
            <a:ext cx="8138160" cy="0"/>
          </a:xfrm>
          <a:prstGeom prst="line">
            <a:avLst/>
          </a:prstGeom>
          <a:noFill/>
          <a:ln w="9525">
            <a:solidFill>
              <a:srgbClr val="E2E8F0"/>
            </a:solidFill>
            <a:prstDash val="solid"/>
          </a:ln>
        </p:spPr>
        <p:txBody>
          <a:bodyPr/>
          <a:p/>
        </p:txBody>
      </p:sp>
      <p:sp>
        <p:nvSpPr>
          <p:cNvPr id="15" name="Text 13"/>
          <p:cNvSpPr/>
          <p:nvPr/>
        </p:nvSpPr>
        <p:spPr>
          <a:xfrm>
            <a:off x="502920" y="4823460"/>
            <a:ext cx="5669280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CS106: Trí tuệ Nhân tạo — Nhóm 09 — Báo cáo Đồ án: Phát hiện Gian lận Tài chính</a:t>
            </a:r>
            <a:endParaRPr lang="en-US" sz="850" dirty="0"/>
          </a:p>
        </p:txBody>
      </p:sp>
      <p:sp>
        <p:nvSpPr>
          <p:cNvPr id="16" name="Text 14"/>
          <p:cNvSpPr/>
          <p:nvPr/>
        </p:nvSpPr>
        <p:spPr>
          <a:xfrm>
            <a:off x="7269480" y="4823460"/>
            <a:ext cx="1371600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5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11 / 24</a:t>
            </a:r>
            <a:endParaRPr lang="en-US" sz="850" dirty="0"/>
          </a:p>
        </p:txBody>
      </p:sp>
      <p:sp>
        <p:nvSpPr>
          <p:cNvPr id="17" name="Shape 15"/>
          <p:cNvSpPr/>
          <p:nvPr/>
        </p:nvSpPr>
        <p:spPr>
          <a:xfrm>
            <a:off x="502920" y="1051560"/>
            <a:ext cx="1264920" cy="2103120"/>
          </a:xfrm>
          <a:prstGeom prst="roundRect">
            <a:avLst>
              <a:gd name="adj" fmla="val 4337"/>
            </a:avLst>
          </a:prstGeom>
          <a:solidFill>
            <a:srgbClr val="F8FAFC"/>
          </a:solidFill>
          <a:ln w="12700">
            <a:solidFill>
              <a:srgbClr val="2563EB"/>
            </a:solidFill>
            <a:prstDash val="solid"/>
          </a:ln>
        </p:spPr>
        <p:txBody>
          <a:bodyPr/>
          <a:p/>
        </p:txBody>
      </p:sp>
      <p:sp>
        <p:nvSpPr>
          <p:cNvPr id="18" name="Text 16"/>
          <p:cNvSpPr/>
          <p:nvPr/>
        </p:nvSpPr>
        <p:spPr>
          <a:xfrm>
            <a:off x="502920" y="1097280"/>
            <a:ext cx="126492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2563EB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1</a:t>
            </a:r>
            <a:endParaRPr lang="en-US" sz="1600" dirty="0"/>
          </a:p>
        </p:txBody>
      </p:sp>
      <p:sp>
        <p:nvSpPr>
          <p:cNvPr id="19" name="Text 17"/>
          <p:cNvSpPr/>
          <p:nvPr/>
        </p:nvSpPr>
        <p:spPr>
          <a:xfrm>
            <a:off x="539496" y="1444752"/>
            <a:ext cx="1191768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1E295C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Filtering</a:t>
            </a:r>
            <a:endParaRPr lang="en-US" sz="1050" dirty="0"/>
          </a:p>
        </p:txBody>
      </p:sp>
      <p:sp>
        <p:nvSpPr>
          <p:cNvPr id="20" name="Text 18"/>
          <p:cNvSpPr/>
          <p:nvPr/>
        </p:nvSpPr>
        <p:spPr>
          <a:xfrm>
            <a:off x="539496" y="1828800"/>
            <a:ext cx="1191768" cy="12344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4B556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Giữ lại TRANSFER &amp; CASH_OUT</a:t>
            </a:r>
            <a:endParaRPr lang="en-US" sz="900" dirty="0"/>
          </a:p>
        </p:txBody>
      </p:sp>
      <p:sp>
        <p:nvSpPr>
          <p:cNvPr id="21" name="Shape 19"/>
          <p:cNvSpPr/>
          <p:nvPr/>
        </p:nvSpPr>
        <p:spPr>
          <a:xfrm>
            <a:off x="1877568" y="1051560"/>
            <a:ext cx="1264920" cy="2103120"/>
          </a:xfrm>
          <a:prstGeom prst="roundRect">
            <a:avLst>
              <a:gd name="adj" fmla="val 4337"/>
            </a:avLst>
          </a:prstGeom>
          <a:solidFill>
            <a:srgbClr val="F8FAFC"/>
          </a:solidFill>
          <a:ln w="12700">
            <a:solidFill>
              <a:srgbClr val="2563EB"/>
            </a:solidFill>
            <a:prstDash val="solid"/>
          </a:ln>
        </p:spPr>
        <p:txBody>
          <a:bodyPr/>
          <a:p/>
        </p:txBody>
      </p:sp>
      <p:sp>
        <p:nvSpPr>
          <p:cNvPr id="22" name="Text 20"/>
          <p:cNvSpPr/>
          <p:nvPr/>
        </p:nvSpPr>
        <p:spPr>
          <a:xfrm>
            <a:off x="1877568" y="1097280"/>
            <a:ext cx="126492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2563EB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2</a:t>
            </a:r>
            <a:endParaRPr lang="en-US" sz="1600" dirty="0"/>
          </a:p>
        </p:txBody>
      </p:sp>
      <p:sp>
        <p:nvSpPr>
          <p:cNvPr id="23" name="Text 21"/>
          <p:cNvSpPr/>
          <p:nvPr/>
        </p:nvSpPr>
        <p:spPr>
          <a:xfrm>
            <a:off x="1914144" y="1444752"/>
            <a:ext cx="1191768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1E295C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Feature Eng.</a:t>
            </a:r>
            <a:endParaRPr lang="en-US" sz="1050" dirty="0"/>
          </a:p>
        </p:txBody>
      </p:sp>
      <p:sp>
        <p:nvSpPr>
          <p:cNvPr id="24" name="Text 22"/>
          <p:cNvSpPr/>
          <p:nvPr/>
        </p:nvSpPr>
        <p:spPr>
          <a:xfrm>
            <a:off x="1914144" y="1828800"/>
            <a:ext cx="1191768" cy="12344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4B556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Tính toán 14 mathematical features</a:t>
            </a:r>
            <a:endParaRPr lang="en-US" sz="900" dirty="0"/>
          </a:p>
        </p:txBody>
      </p:sp>
      <p:sp>
        <p:nvSpPr>
          <p:cNvPr id="25" name="Shape 23"/>
          <p:cNvSpPr/>
          <p:nvPr/>
        </p:nvSpPr>
        <p:spPr>
          <a:xfrm>
            <a:off x="3252216" y="1051560"/>
            <a:ext cx="1264920" cy="2103120"/>
          </a:xfrm>
          <a:prstGeom prst="roundRect">
            <a:avLst>
              <a:gd name="adj" fmla="val 4337"/>
            </a:avLst>
          </a:prstGeom>
          <a:solidFill>
            <a:srgbClr val="F8FAFC"/>
          </a:solidFill>
          <a:ln w="12700">
            <a:solidFill>
              <a:srgbClr val="2563EB"/>
            </a:solidFill>
            <a:prstDash val="solid"/>
          </a:ln>
        </p:spPr>
        <p:txBody>
          <a:bodyPr/>
          <a:p/>
        </p:txBody>
      </p:sp>
      <p:sp>
        <p:nvSpPr>
          <p:cNvPr id="26" name="Text 24"/>
          <p:cNvSpPr/>
          <p:nvPr/>
        </p:nvSpPr>
        <p:spPr>
          <a:xfrm>
            <a:off x="3252216" y="1097280"/>
            <a:ext cx="126492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2563EB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3</a:t>
            </a:r>
            <a:endParaRPr lang="en-US" sz="1600" dirty="0"/>
          </a:p>
        </p:txBody>
      </p:sp>
      <p:sp>
        <p:nvSpPr>
          <p:cNvPr id="27" name="Text 25"/>
          <p:cNvSpPr/>
          <p:nvPr/>
        </p:nvSpPr>
        <p:spPr>
          <a:xfrm>
            <a:off x="3288792" y="1444752"/>
            <a:ext cx="1191768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1E295C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Stratified Split</a:t>
            </a:r>
            <a:endParaRPr lang="en-US" sz="1050" dirty="0"/>
          </a:p>
        </p:txBody>
      </p:sp>
      <p:sp>
        <p:nvSpPr>
          <p:cNvPr id="28" name="Text 26"/>
          <p:cNvSpPr/>
          <p:nvPr/>
        </p:nvSpPr>
        <p:spPr>
          <a:xfrm>
            <a:off x="3288792" y="1828800"/>
            <a:ext cx="1191768" cy="12344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4B556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Tách 80/20 Train/Test phân tầng</a:t>
            </a:r>
            <a:endParaRPr lang="en-US" sz="900" dirty="0"/>
          </a:p>
        </p:txBody>
      </p:sp>
      <p:sp>
        <p:nvSpPr>
          <p:cNvPr id="29" name="Shape 27"/>
          <p:cNvSpPr/>
          <p:nvPr/>
        </p:nvSpPr>
        <p:spPr>
          <a:xfrm>
            <a:off x="4626864" y="1051560"/>
            <a:ext cx="1264920" cy="2103120"/>
          </a:xfrm>
          <a:prstGeom prst="roundRect">
            <a:avLst>
              <a:gd name="adj" fmla="val 4337"/>
            </a:avLst>
          </a:prstGeom>
          <a:solidFill>
            <a:srgbClr val="F8FAFC"/>
          </a:solidFill>
          <a:ln w="12700">
            <a:solidFill>
              <a:srgbClr val="2563EB"/>
            </a:solidFill>
            <a:prstDash val="solid"/>
          </a:ln>
        </p:spPr>
        <p:txBody>
          <a:bodyPr/>
          <a:p/>
        </p:txBody>
      </p:sp>
      <p:sp>
        <p:nvSpPr>
          <p:cNvPr id="30" name="Text 28"/>
          <p:cNvSpPr/>
          <p:nvPr/>
        </p:nvSpPr>
        <p:spPr>
          <a:xfrm>
            <a:off x="4626864" y="1097280"/>
            <a:ext cx="126492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2563EB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4</a:t>
            </a:r>
            <a:endParaRPr lang="en-US" sz="1600" dirty="0"/>
          </a:p>
        </p:txBody>
      </p:sp>
      <p:sp>
        <p:nvSpPr>
          <p:cNvPr id="31" name="Text 29"/>
          <p:cNvSpPr/>
          <p:nvPr/>
        </p:nvSpPr>
        <p:spPr>
          <a:xfrm>
            <a:off x="4663440" y="1444752"/>
            <a:ext cx="1191768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1E295C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Resampling</a:t>
            </a:r>
            <a:endParaRPr lang="en-US" sz="1050" dirty="0"/>
          </a:p>
        </p:txBody>
      </p:sp>
      <p:sp>
        <p:nvSpPr>
          <p:cNvPr id="32" name="Text 30"/>
          <p:cNvSpPr/>
          <p:nvPr/>
        </p:nvSpPr>
        <p:spPr>
          <a:xfrm>
            <a:off x="4663440" y="1828800"/>
            <a:ext cx="1191768" cy="12344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4B556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SMOTE / ADASYN CHỈ trên Train fold</a:t>
            </a:r>
            <a:endParaRPr lang="en-US" sz="900" dirty="0"/>
          </a:p>
        </p:txBody>
      </p:sp>
      <p:sp>
        <p:nvSpPr>
          <p:cNvPr id="33" name="Shape 31"/>
          <p:cNvSpPr/>
          <p:nvPr/>
        </p:nvSpPr>
        <p:spPr>
          <a:xfrm>
            <a:off x="6001512" y="1051560"/>
            <a:ext cx="1264920" cy="2103120"/>
          </a:xfrm>
          <a:prstGeom prst="roundRect">
            <a:avLst>
              <a:gd name="adj" fmla="val 4337"/>
            </a:avLst>
          </a:prstGeom>
          <a:solidFill>
            <a:srgbClr val="F8FAFC"/>
          </a:solidFill>
          <a:ln w="12700">
            <a:solidFill>
              <a:srgbClr val="2563EB"/>
            </a:solidFill>
            <a:prstDash val="solid"/>
          </a:ln>
        </p:spPr>
        <p:txBody>
          <a:bodyPr/>
          <a:p/>
        </p:txBody>
      </p:sp>
      <p:sp>
        <p:nvSpPr>
          <p:cNvPr id="34" name="Text 32"/>
          <p:cNvSpPr/>
          <p:nvPr/>
        </p:nvSpPr>
        <p:spPr>
          <a:xfrm>
            <a:off x="6001512" y="1097280"/>
            <a:ext cx="126492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2563EB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5</a:t>
            </a:r>
            <a:endParaRPr lang="en-US" sz="1600" dirty="0"/>
          </a:p>
        </p:txBody>
      </p:sp>
      <p:sp>
        <p:nvSpPr>
          <p:cNvPr id="35" name="Text 33"/>
          <p:cNvSpPr/>
          <p:nvPr/>
        </p:nvSpPr>
        <p:spPr>
          <a:xfrm>
            <a:off x="6038088" y="1444752"/>
            <a:ext cx="1191768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1E295C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Training</a:t>
            </a:r>
            <a:endParaRPr lang="en-US" sz="1050" dirty="0"/>
          </a:p>
        </p:txBody>
      </p:sp>
      <p:sp>
        <p:nvSpPr>
          <p:cNvPr id="36" name="Text 34"/>
          <p:cNvSpPr/>
          <p:nvPr/>
        </p:nvSpPr>
        <p:spPr>
          <a:xfrm>
            <a:off x="6038088" y="1828800"/>
            <a:ext cx="1191768" cy="12344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4B556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Fit RF, XGBoost &amp; Autoencoder</a:t>
            </a:r>
            <a:endParaRPr lang="en-US" sz="900" dirty="0"/>
          </a:p>
        </p:txBody>
      </p:sp>
      <p:sp>
        <p:nvSpPr>
          <p:cNvPr id="37" name="Shape 35"/>
          <p:cNvSpPr/>
          <p:nvPr/>
        </p:nvSpPr>
        <p:spPr>
          <a:xfrm>
            <a:off x="7376160" y="1051560"/>
            <a:ext cx="1264920" cy="2103120"/>
          </a:xfrm>
          <a:prstGeom prst="roundRect">
            <a:avLst>
              <a:gd name="adj" fmla="val 4337"/>
            </a:avLst>
          </a:prstGeom>
          <a:solidFill>
            <a:srgbClr val="F8FAFC"/>
          </a:solidFill>
          <a:ln w="12700">
            <a:solidFill>
              <a:srgbClr val="2563EB"/>
            </a:solidFill>
            <a:prstDash val="solid"/>
          </a:ln>
        </p:spPr>
        <p:txBody>
          <a:bodyPr/>
          <a:p/>
        </p:txBody>
      </p:sp>
      <p:sp>
        <p:nvSpPr>
          <p:cNvPr id="38" name="Text 36"/>
          <p:cNvSpPr/>
          <p:nvPr/>
        </p:nvSpPr>
        <p:spPr>
          <a:xfrm>
            <a:off x="7376160" y="1097280"/>
            <a:ext cx="126492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2563EB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6</a:t>
            </a:r>
            <a:endParaRPr lang="en-US" sz="1600" dirty="0"/>
          </a:p>
        </p:txBody>
      </p:sp>
      <p:sp>
        <p:nvSpPr>
          <p:cNvPr id="39" name="Text 37"/>
          <p:cNvSpPr/>
          <p:nvPr/>
        </p:nvSpPr>
        <p:spPr>
          <a:xfrm>
            <a:off x="7412736" y="1444752"/>
            <a:ext cx="1191768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1E295C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Evaluation</a:t>
            </a:r>
            <a:endParaRPr lang="en-US" sz="1050" dirty="0"/>
          </a:p>
        </p:txBody>
      </p:sp>
      <p:sp>
        <p:nvSpPr>
          <p:cNvPr id="40" name="Text 38"/>
          <p:cNvSpPr/>
          <p:nvPr/>
        </p:nvSpPr>
        <p:spPr>
          <a:xfrm>
            <a:off x="7412736" y="1828800"/>
            <a:ext cx="1191768" cy="12344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4B556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Inference trên tập Test độc lập (N=40,000)</a:t>
            </a:r>
            <a:endParaRPr lang="en-US" sz="900" dirty="0"/>
          </a:p>
        </p:txBody>
      </p:sp>
      <p:sp>
        <p:nvSpPr>
          <p:cNvPr id="41" name="Shape 39"/>
          <p:cNvSpPr/>
          <p:nvPr/>
        </p:nvSpPr>
        <p:spPr>
          <a:xfrm>
            <a:off x="502920" y="3291840"/>
            <a:ext cx="8138160" cy="1325880"/>
          </a:xfrm>
          <a:prstGeom prst="roundRect">
            <a:avLst>
              <a:gd name="adj" fmla="val 3448"/>
            </a:avLst>
          </a:prstGeom>
          <a:solidFill>
            <a:srgbClr val="F0F7FF"/>
          </a:solidFill>
          <a:ln w="12700">
            <a:solidFill>
              <a:srgbClr val="BAE6FD"/>
            </a:solidFill>
            <a:prstDash val="solid"/>
          </a:ln>
        </p:spPr>
        <p:txBody>
          <a:bodyPr/>
          <a:p/>
        </p:txBody>
      </p:sp>
      <p:sp>
        <p:nvSpPr>
          <p:cNvPr id="42" name="Text 40"/>
          <p:cNvSpPr/>
          <p:nvPr/>
        </p:nvSpPr>
        <p:spPr>
          <a:xfrm>
            <a:off x="640080" y="3383280"/>
            <a:ext cx="786384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1E295C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Quy chuẩn Khắt khe Chống Data Leakage</a:t>
            </a:r>
            <a:endParaRPr lang="en-US" sz="1150" dirty="0"/>
          </a:p>
        </p:txBody>
      </p:sp>
      <p:sp>
        <p:nvSpPr>
          <p:cNvPr id="43" name="Text 41"/>
          <p:cNvSpPr/>
          <p:nvPr/>
        </p:nvSpPr>
        <p:spPr>
          <a:xfrm>
            <a:off x="640080" y="3639312"/>
            <a:ext cx="7863840" cy="905256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marL="342900" indent="-342900">
              <a:buSzPct val="100000"/>
              <a:buChar char="•"/>
            </a:pPr>
            <a:r>
              <a:rPr lang="en-US" sz="105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Resampling (SMOTE/ADASYN) tuyệt đối CHỈ thực hiện SAU KHI phân chia Train/Test trên tập Train.</a:t>
            </a:r>
            <a:endParaRPr lang="en-US" sz="1050" dirty="0"/>
          </a:p>
          <a:p>
            <a:pPr marL="342900" indent="-342900">
              <a:buSzPct val="100000"/>
              <a:buChar char="•"/>
            </a:pPr>
            <a:r>
              <a:rPr lang="en-US" sz="105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StandardScaler normalization chỉ fit trên tập Train và transform mù trên tập Test.</a:t>
            </a:r>
            <a:endParaRPr lang="en-US" sz="1050" dirty="0"/>
          </a:p>
          <a:p>
            <a:pPr marL="342900" indent="-342900">
              <a:buSzPct val="100000"/>
              <a:buChar char="•"/>
            </a:pPr>
            <a:r>
              <a:rPr lang="en-US" sz="105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Tuyệt đối không để rò rỉ thông tin tập Test vào feature representation hay hyperparameter tuning.</a:t>
            </a:r>
            <a:endParaRPr lang="en-US" sz="105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 xmlns:mc="http://schemas.openxmlformats.org/markup-compatibility/2006" xmlns:a14="http://schemas.microsoft.com/office/drawing/2010/main">
  <p:cSld name="Slide 1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02920" y="164592"/>
            <a:ext cx="246888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850" b="1" dirty="0">
                <a:solidFill>
                  <a:srgbClr val="D97706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UIT • ĐHQG-HCM | CS106 (AI)</a:t>
            </a:r>
            <a:endParaRPr lang="en-US" sz="850" dirty="0"/>
          </a:p>
        </p:txBody>
      </p:sp>
      <p:sp>
        <p:nvSpPr>
          <p:cNvPr id="3" name="Shape 1"/>
          <p:cNvSpPr/>
          <p:nvPr/>
        </p:nvSpPr>
        <p:spPr>
          <a:xfrm>
            <a:off x="3758184" y="146304"/>
            <a:ext cx="932688" cy="219456"/>
          </a:xfrm>
          <a:prstGeom prst="roundRect">
            <a:avLst>
              <a:gd name="adj" fmla="val 20833"/>
            </a:avLst>
          </a:prstGeom>
          <a:solidFill>
            <a:srgbClr val="F1F5F9"/>
          </a:solidFill>
          <a:ln w="6350">
            <a:solidFill>
              <a:srgbClr val="E2E8F0"/>
            </a:solidFill>
            <a:prstDash val="solid"/>
          </a:ln>
        </p:spPr>
        <p:txBody>
          <a:bodyPr/>
          <a:p/>
        </p:txBody>
      </p:sp>
      <p:sp>
        <p:nvSpPr>
          <p:cNvPr id="4" name="Text 2"/>
          <p:cNvSpPr/>
          <p:nvPr/>
        </p:nvSpPr>
        <p:spPr>
          <a:xfrm>
            <a:off x="3758184" y="146304"/>
            <a:ext cx="932688" cy="2194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720" dirty="0">
                <a:solidFill>
                  <a:srgbClr val="64748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1. Giới thiệu</a:t>
            </a:r>
            <a:endParaRPr lang="en-US" sz="720" dirty="0"/>
          </a:p>
        </p:txBody>
      </p:sp>
      <p:sp>
        <p:nvSpPr>
          <p:cNvPr id="5" name="Shape 3"/>
          <p:cNvSpPr/>
          <p:nvPr/>
        </p:nvSpPr>
        <p:spPr>
          <a:xfrm>
            <a:off x="4745736" y="146304"/>
            <a:ext cx="932688" cy="219456"/>
          </a:xfrm>
          <a:prstGeom prst="roundRect">
            <a:avLst>
              <a:gd name="adj" fmla="val 20833"/>
            </a:avLst>
          </a:prstGeom>
          <a:solidFill>
            <a:srgbClr val="F1F5F9"/>
          </a:solidFill>
          <a:ln w="6350">
            <a:solidFill>
              <a:srgbClr val="E2E8F0"/>
            </a:solidFill>
            <a:prstDash val="solid"/>
          </a:ln>
        </p:spPr>
        <p:txBody>
          <a:bodyPr/>
          <a:p/>
        </p:txBody>
      </p:sp>
      <p:sp>
        <p:nvSpPr>
          <p:cNvPr id="6" name="Text 4"/>
          <p:cNvSpPr/>
          <p:nvPr/>
        </p:nvSpPr>
        <p:spPr>
          <a:xfrm>
            <a:off x="4745736" y="146304"/>
            <a:ext cx="932688" cy="2194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720" dirty="0">
                <a:solidFill>
                  <a:srgbClr val="64748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2. EDA &amp; Features</a:t>
            </a:r>
            <a:endParaRPr lang="en-US" sz="720" dirty="0"/>
          </a:p>
        </p:txBody>
      </p:sp>
      <p:sp>
        <p:nvSpPr>
          <p:cNvPr id="7" name="Shape 5"/>
          <p:cNvSpPr/>
          <p:nvPr/>
        </p:nvSpPr>
        <p:spPr>
          <a:xfrm>
            <a:off x="5733288" y="146304"/>
            <a:ext cx="932688" cy="219456"/>
          </a:xfrm>
          <a:prstGeom prst="roundRect">
            <a:avLst>
              <a:gd name="adj" fmla="val 20833"/>
            </a:avLst>
          </a:prstGeom>
          <a:solidFill>
            <a:srgbClr val="2563EB"/>
          </a:solidFill>
          <a:ln w="6350">
            <a:solidFill>
              <a:srgbClr val="1D4ED8"/>
            </a:solidFill>
            <a:prstDash val="solid"/>
          </a:ln>
        </p:spPr>
        <p:txBody>
          <a:bodyPr/>
          <a:p/>
        </p:txBody>
      </p:sp>
      <p:sp>
        <p:nvSpPr>
          <p:cNvPr id="8" name="Text 6"/>
          <p:cNvSpPr/>
          <p:nvPr/>
        </p:nvSpPr>
        <p:spPr>
          <a:xfrm>
            <a:off x="5733288" y="146304"/>
            <a:ext cx="932688" cy="2194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720" b="1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3. Phương pháp</a:t>
            </a:r>
            <a:endParaRPr lang="en-US" sz="720" dirty="0"/>
          </a:p>
        </p:txBody>
      </p:sp>
      <p:sp>
        <p:nvSpPr>
          <p:cNvPr id="9" name="Shape 7"/>
          <p:cNvSpPr/>
          <p:nvPr/>
        </p:nvSpPr>
        <p:spPr>
          <a:xfrm>
            <a:off x="6720840" y="146304"/>
            <a:ext cx="932688" cy="219456"/>
          </a:xfrm>
          <a:prstGeom prst="roundRect">
            <a:avLst>
              <a:gd name="adj" fmla="val 20833"/>
            </a:avLst>
          </a:prstGeom>
          <a:solidFill>
            <a:srgbClr val="F1F5F9"/>
          </a:solidFill>
          <a:ln w="6350">
            <a:solidFill>
              <a:srgbClr val="E2E8F0"/>
            </a:solidFill>
            <a:prstDash val="solid"/>
          </a:ln>
        </p:spPr>
        <p:txBody>
          <a:bodyPr/>
          <a:p/>
        </p:txBody>
      </p:sp>
      <p:sp>
        <p:nvSpPr>
          <p:cNvPr id="10" name="Text 8"/>
          <p:cNvSpPr/>
          <p:nvPr/>
        </p:nvSpPr>
        <p:spPr>
          <a:xfrm>
            <a:off x="6720840" y="146304"/>
            <a:ext cx="932688" cy="2194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720" dirty="0">
                <a:solidFill>
                  <a:srgbClr val="64748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4. Thực nghiệm</a:t>
            </a:r>
            <a:endParaRPr lang="en-US" sz="720" dirty="0"/>
          </a:p>
        </p:txBody>
      </p:sp>
      <p:sp>
        <p:nvSpPr>
          <p:cNvPr id="11" name="Shape 9"/>
          <p:cNvSpPr/>
          <p:nvPr/>
        </p:nvSpPr>
        <p:spPr>
          <a:xfrm>
            <a:off x="7708392" y="146304"/>
            <a:ext cx="932688" cy="219456"/>
          </a:xfrm>
          <a:prstGeom prst="roundRect">
            <a:avLst>
              <a:gd name="adj" fmla="val 20833"/>
            </a:avLst>
          </a:prstGeom>
          <a:solidFill>
            <a:srgbClr val="F1F5F9"/>
          </a:solidFill>
          <a:ln w="6350">
            <a:solidFill>
              <a:srgbClr val="E2E8F0"/>
            </a:solidFill>
            <a:prstDash val="solid"/>
          </a:ln>
        </p:spPr>
        <p:txBody>
          <a:bodyPr/>
          <a:p/>
        </p:txBody>
      </p:sp>
      <p:sp>
        <p:nvSpPr>
          <p:cNvPr id="12" name="Text 10"/>
          <p:cNvSpPr/>
          <p:nvPr/>
        </p:nvSpPr>
        <p:spPr>
          <a:xfrm>
            <a:off x="7708392" y="146304"/>
            <a:ext cx="932688" cy="2194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720" dirty="0">
                <a:solidFill>
                  <a:srgbClr val="64748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5. Demo &amp; Tương lai</a:t>
            </a:r>
            <a:endParaRPr lang="en-US" sz="720" dirty="0"/>
          </a:p>
        </p:txBody>
      </p:sp>
      <p:sp>
        <p:nvSpPr>
          <p:cNvPr id="13" name="Text 11"/>
          <p:cNvSpPr/>
          <p:nvPr/>
        </p:nvSpPr>
        <p:spPr>
          <a:xfrm>
            <a:off x="502920" y="438912"/>
            <a:ext cx="813816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1E295C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Supervised Architecture 1: Random Forest Ensemble</a:t>
            </a:r>
            <a:endParaRPr lang="en-US" sz="2000" dirty="0"/>
          </a:p>
        </p:txBody>
      </p:sp>
      <p:sp>
        <p:nvSpPr>
          <p:cNvPr id="14" name="Shape 12"/>
          <p:cNvSpPr/>
          <p:nvPr/>
        </p:nvSpPr>
        <p:spPr>
          <a:xfrm>
            <a:off x="502920" y="859536"/>
            <a:ext cx="8138160" cy="0"/>
          </a:xfrm>
          <a:prstGeom prst="line">
            <a:avLst/>
          </a:prstGeom>
          <a:noFill/>
          <a:ln w="9525">
            <a:solidFill>
              <a:srgbClr val="E2E8F0"/>
            </a:solidFill>
            <a:prstDash val="solid"/>
          </a:ln>
        </p:spPr>
        <p:txBody>
          <a:bodyPr/>
          <a:p/>
        </p:txBody>
      </p:sp>
      <p:sp>
        <p:nvSpPr>
          <p:cNvPr id="15" name="Text 13"/>
          <p:cNvSpPr/>
          <p:nvPr/>
        </p:nvSpPr>
        <p:spPr>
          <a:xfrm>
            <a:off x="502920" y="4823460"/>
            <a:ext cx="5669280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CS106: Trí tuệ Nhân tạo — Nhóm 09 — Báo cáo Đồ án: Phát hiện Gian lận Tài chính</a:t>
            </a:r>
            <a:endParaRPr lang="en-US" sz="850" dirty="0"/>
          </a:p>
        </p:txBody>
      </p:sp>
      <p:sp>
        <p:nvSpPr>
          <p:cNvPr id="16" name="Text 14"/>
          <p:cNvSpPr/>
          <p:nvPr/>
        </p:nvSpPr>
        <p:spPr>
          <a:xfrm>
            <a:off x="7269480" y="4823460"/>
            <a:ext cx="1371600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5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12 / 24</a:t>
            </a:r>
            <a:endParaRPr lang="en-US" sz="850" dirty="0"/>
          </a:p>
        </p:txBody>
      </p:sp>
      <p:sp>
        <p:nvSpPr>
          <p:cNvPr id="17" name="Text 15"/>
          <p:cNvSpPr/>
          <p:nvPr/>
        </p:nvSpPr>
        <p:spPr>
          <a:xfrm>
            <a:off x="502920" y="1024128"/>
            <a:ext cx="4480560" cy="22860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E295C"/>
                </a:solidFill>
              </a:rPr>
              <a:t>Ensemble Bagging Architecture:
• Xây dựng tập hợp B Decision Trees độc lập huấn luyện trên các bootstrap sub-samples.
• Lấy trung bình dự đoán giúp giảm mạnh variance mà không làm tăng bias, chống feature multicollinearity cực tốt.
• Cung cấp xếp hạng tầm quan trọng đặc trưng theo Mean Decrease in Impurity (Gini MDI).
Cấu hình Hyperparameter Tối ưu:
• n_estimators: 200 (SMOTE) / 500 (ADASYN)
• max_depth: 20 | min_samples_split: 2 | max_features: "sqrt" | class_weight: "balanced"</a:t>
            </a:r>
            <a:pPr indent="0" marL="0">
              <a:buNone/>
            </a:pPr>
            <a:r>
              <a:rPr lang="en-US" sz="1050" dirty="0">
                <a:solidFill>
                  <a:srgbClr val="1F2937"/>
                </a:solidFill>
              </a:rPr>
              <a:t/>
            </a:r>
            <a:pPr indent="0" marL="0">
              <a:buNone/>
            </a:pPr>
            <a:r>
              <a:rPr lang="en-US" sz="1050" dirty="0">
                <a:solidFill>
                  <a:srgbClr val="1F2937"/>
                </a:solidFill>
              </a:rPr>
              <a:t/>
            </a:r>
            <a:pPr indent="0" marL="0">
              <a:buNone/>
            </a:pPr>
            <a:r>
              <a:rPr lang="en-US" sz="1050" dirty="0">
                <a:solidFill>
                  <a:srgbClr val="1F2937"/>
                </a:solidFill>
              </a:rPr>
              <a:t/>
            </a:r>
            <a:pPr indent="0" marL="0">
              <a:buNone/>
            </a:pPr>
            <a:r>
              <a:rPr lang="en-US" sz="1200" b="1" dirty="0">
                <a:solidFill>
                  <a:srgbClr val="1E295C"/>
                </a:solidFill>
              </a:rPr>
              <a:t/>
            </a:r>
            <a:pPr indent="0" marL="0">
              <a:buNone/>
            </a:pPr>
            <a:r>
              <a:rPr lang="en-US" sz="1000" dirty="0">
                <a:solidFill>
                  <a:srgbClr val="1F2937"/>
                </a:solidFill>
              </a:rPr>
              <a:t/>
            </a:r>
            <a:pPr indent="0" marL="0">
              <a:buNone/>
            </a:pPr>
            <a:r>
              <a:rPr lang="en-US" sz="1000" dirty="0">
                <a:solidFill>
                  <a:srgbClr val="1F2937"/>
                </a:solidFill>
              </a:rPr>
              <a:t/>
            </a:r>
            <a:endParaRPr lang="en-US" sz="1200" dirty="0"/>
          </a:p>
        </p:txBody>
      </p:sp>
      <p:sp>
        <p:nvSpPr>
          <p:cNvPr id="18" name="Shape 16"/>
          <p:cNvSpPr/>
          <p:nvPr/>
        </p:nvSpPr>
        <p:spPr>
          <a:xfrm>
            <a:off x="502920" y="3383280"/>
            <a:ext cx="4480560" cy="1234440"/>
          </a:xfrm>
          <a:prstGeom prst="roundRect">
            <a:avLst>
              <a:gd name="adj" fmla="val 3704"/>
            </a:avLst>
          </a:prstGeom>
          <a:solidFill>
            <a:srgbClr val="F8FAFC"/>
          </a:solidFill>
          <a:ln w="12700">
            <a:solidFill>
              <a:srgbClr val="CBD5E1"/>
            </a:solidFill>
            <a:prstDash val="solid"/>
          </a:ln>
        </p:spPr>
        <p:txBody>
          <a:bodyPr/>
          <a:p/>
        </p:txBody>
      </p:sp>
      <p:sp>
        <p:nvSpPr>
          <p:cNvPr id="19" name="Text 17"/>
          <p:cNvSpPr/>
          <p:nvPr/>
        </p:nvSpPr>
        <p:spPr>
          <a:xfrm>
            <a:off x="640080" y="3456432"/>
            <a:ext cx="420624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1E295C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Gini Impurity &amp; MDI Split Criterion</a:t>
            </a:r>
            <a:endParaRPr lang="en-US" sz="1050" dirty="0"/>
          </a:p>
        </p:txBody>
      </p:sp>
      <p:sp>
        <p:nvSpPr>
          <p:cNvPr id="20" name="Text 18"/>
          <p:cNvSpPr/>
          <p:nvPr/>
        </p:nvSpPr>
        <p:spPr>
          <a:xfrm>
            <a:off x="640080" y="3712464"/>
            <a:ext cx="420624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  <a:defRPr sz="950" kern="1200"/>
            </a:pPr>
            <a14:m xmlns:a14="http://schemas.microsoft.com/office/drawing/2010/main">
              <m:oMath xmlns:m="http://schemas.openxmlformats.org/officeDocument/2006/math">
                <m:r>
                  <m:t>G</m:t>
                </m:r>
                <m:r>
                  <m:rPr>
                    <m:sty m:val="p"/>
                  </m:rPr>
                  <m:t>(</m:t>
                </m:r>
                <m:r>
                  <m:t>p</m:t>
                </m:r>
                <m:r>
                  <m:rPr>
                    <m:sty m:val="p"/>
                  </m:rPr>
                  <m:t>)</m:t>
                </m:r>
                <m:r>
                  <m:rPr>
                    <m:sty m:val="p"/>
                  </m:rPr>
                  <m:t>=</m:t>
                </m:r>
                <m:r>
                  <m:t>1</m:t>
                </m:r>
                <m:r>
                  <m:rPr>
                    <m:sty m:val="p"/>
                  </m:rPr>
                  <m:t>−</m:t>
                </m:r>
                <m:nary>
                  <m:naryPr>
                    <m:chr m:val="∑"/>
                    <m:limLoc m:val="undOvr"/>
                    <m:subHide m:val="off"/>
                    <m:supHide m:val="off"/>
                  </m:naryPr>
                  <m:sub>
                    <m:r>
                      <m:t>k</m:t>
                    </m:r>
                    <m:r>
                      <m:rPr>
                        <m:sty m:val="p"/>
                      </m:rPr>
                      <m:t>=</m:t>
                    </m:r>
                    <m:r>
                      <m:t>1</m:t>
                    </m:r>
                  </m:sub>
                  <m:sup>
                    <m:r>
                      <m:t>C</m:t>
                    </m:r>
                  </m:sup>
                  <m:e>
                    <m:sSubSup>
                      <m:e>
                        <m:r>
                          <m:t>p</m:t>
                        </m:r>
                      </m:e>
                      <m:sub>
                        <m:r>
                          <m:t>k</m:t>
                        </m:r>
                      </m:sub>
                      <m:sup>
                        <m:r>
                          <m:t>2</m:t>
                        </m:r>
                      </m:sup>
                    </m:sSubSup>
                  </m:e>
                </m:nary>
                <m:r>
                  <m:rPr>
                    <m:sty m:val="p"/>
                  </m:rPr>
                  <m:t>,</m:t>
                </m:r>
                <m:r>
                  <m:t> </m:t>
                </m:r>
                <m:r>
                  <m:rPr>
                    <m:sty m:val="p"/>
                  </m:rPr>
                  <m:t>Δ</m:t>
                </m:r>
                <m:r>
                  <m:t>G</m:t>
                </m:r>
                <m:r>
                  <m:rPr>
                    <m:sty m:val="p"/>
                  </m:rPr>
                  <m:t>=</m:t>
                </m:r>
                <m:sSub>
                  <m:e>
                    <m:r>
                      <m:t>G</m:t>
                    </m:r>
                  </m:e>
                  <m:sub>
                    <m:r>
                      <m:rPr>
                        <m:nor/>
                        <m:sty m:val="p"/>
                      </m:rPr>
                      <m:t>parent</m:t>
                    </m:r>
                  </m:sub>
                </m:sSub>
                <m:r>
                  <m:rPr>
                    <m:sty m:val="p"/>
                  </m:rPr>
                  <m:t>−</m:t>
                </m:r>
                <m:nary>
                  <m:naryPr>
                    <m:chr m:val="∑"/>
                    <m:limLoc m:val="undOvr"/>
                    <m:subHide m:val="off"/>
                    <m:supHide m:val="on"/>
                  </m:naryPr>
                  <m:sub>
                    <m:r>
                      <m:t>c</m:t>
                    </m:r>
                  </m:sub>
                  <m:sup>
                    <m:r>
                      <m:t>​</m:t>
                    </m:r>
                  </m:sup>
                  <m:e>
                    <m:f>
                      <m:fPr>
                        <m:type m:val="bar"/>
                      </m:fPr>
                      <m:num>
                        <m:sSub>
                          <m:e>
                            <m:r>
                              <m:t>N</m:t>
                            </m:r>
                          </m:e>
                          <m:sub>
                            <m:r>
                              <m:t>c</m:t>
                            </m:r>
                          </m:sub>
                        </m:sSub>
                      </m:num>
                      <m:den>
                        <m:r>
                          <m:t>N</m:t>
                        </m:r>
                      </m:den>
                    </m:f>
                  </m:e>
                </m:nary>
                <m:sSub>
                  <m:e>
                    <m:r>
                      <m:t>G</m:t>
                    </m:r>
                  </m:e>
                  <m:sub>
                    <m:r>
                      <m:t>c</m:t>
                    </m:r>
                  </m:sub>
                </m:sSub>
              </m:oMath>
            </a14:m>
            <a:endParaRPr lang="en-US" sz="950" dirty="0"/>
          </a:p>
        </p:txBody>
      </p:sp>
      <p:sp>
        <p:nvSpPr>
          <p:cNvPr id="21" name="Text 19"/>
          <p:cNvSpPr/>
          <p:nvPr/>
        </p:nvSpPr>
        <p:spPr>
          <a:xfrm>
            <a:off x="640080" y="4133088"/>
            <a:ext cx="4206240" cy="429768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indent="0" marL="0">
              <a:buNone/>
            </a:pPr>
            <a:r>
              <a:rPr lang="en-US" sz="880" dirty="0">
                <a:solidFill>
                  <a:srgbClr val="4B556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Mỗi phân nhánh tối ưu hóa mức giảm Gini Impurity trên các feature subspace được chọn ngẫu nhiên.</a:t>
            </a:r>
            <a:endParaRPr lang="en-US" sz="880" dirty="0"/>
          </a:p>
        </p:txBody>
      </p:sp>
      <p:graphicFrame>
        <p:nvGraphicFramePr>
          <p:cNvPr id="13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166360" y="1024128"/>
          <a:ext cx="3474720" cy="914400"/>
        </p:xfrm>
        <a:graphic>
          <a:graphicData uri="http://schemas.openxmlformats.org/drawingml/2006/table">
            <a:tbl>
              <a:tblPr/>
              <a:tblGrid>
                <a:gridCol w="1111910"/>
                <a:gridCol w="833933"/>
                <a:gridCol w="1528877"/>
              </a:tblGrid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1E295C"/>
                          </a:solidFill>
                        </a:rPr>
                        <a:t>Ensemble Size</a:t>
                      </a:r>
                      <a:endParaRPr lang="en-US" sz="900" dirty="0"/>
                    </a:p>
                  </a:txBody>
                  <a:tcPr marL="38100" marR="38100" marT="25400" marB="2540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2E8F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2563EB"/>
                          </a:solidFill>
                        </a:rPr>
                        <a:t>B = 200 / 500</a:t>
                      </a:r>
                      <a:endParaRPr lang="en-US" sz="900" dirty="0"/>
                    </a:p>
                  </a:txBody>
                  <a:tcPr marL="38100" marR="38100" marT="25400" marB="2540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FF6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FFFFFF"/>
                          </a:solidFill>
                        </a:rPr>
                        <a:t>Tổng số cây bagged trong rừng</a:t>
                      </a:r>
                      <a:endParaRPr lang="en-US" sz="850" dirty="0"/>
                    </a:p>
                  </a:txBody>
                  <a:tcPr marL="38100" marR="38100" marT="25400" marB="2540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95C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1E295C"/>
                          </a:solidFill>
                        </a:rPr>
                        <a:t>Depth Limit</a:t>
                      </a:r>
                      <a:endParaRPr lang="en-US" sz="900" dirty="0"/>
                    </a:p>
                  </a:txBody>
                  <a:tcPr marL="38100" marR="38100" marT="25400" marB="2540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2E8F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2563EB"/>
                          </a:solidFill>
                        </a:rPr>
                        <a:t>d_max = 20</a:t>
                      </a:r>
                      <a:endParaRPr lang="en-US" sz="900" dirty="0"/>
                    </a:p>
                  </a:txBody>
                  <a:tcPr marL="38100" marR="38100" marT="25400" marB="2540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FF6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FFFFFF"/>
                          </a:solidFill>
                        </a:rPr>
                        <a:t>Giới hạn độ sâu (chống Overfitting)</a:t>
                      </a:r>
                      <a:endParaRPr lang="en-US" sz="850" dirty="0"/>
                    </a:p>
                  </a:txBody>
                  <a:tcPr marL="38100" marR="38100" marT="25400" marB="2540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95C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1E295C"/>
                          </a:solidFill>
                        </a:rPr>
                        <a:t>Split Metric</a:t>
                      </a:r>
                      <a:endParaRPr lang="en-US" sz="900" dirty="0"/>
                    </a:p>
                  </a:txBody>
                  <a:tcPr marL="38100" marR="38100" marT="25400" marB="2540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2E8F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2563EB"/>
                          </a:solidFill>
                        </a:rPr>
                        <a:t>Gini Impurity</a:t>
                      </a:r>
                      <a:endParaRPr lang="en-US" sz="900" dirty="0"/>
                    </a:p>
                  </a:txBody>
                  <a:tcPr marL="38100" marR="38100" marT="25400" marB="2540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FF6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FFFFFF"/>
                          </a:solidFill>
                        </a:rPr>
                        <a:t>Tiêu chuẩn đo impurity thông tin</a:t>
                      </a:r>
                      <a:endParaRPr lang="en-US" sz="850" dirty="0"/>
                    </a:p>
                  </a:txBody>
                  <a:tcPr marL="38100" marR="38100" marT="25400" marB="2540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95C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1E295C"/>
                          </a:solidFill>
                        </a:rPr>
                        <a:t>Feature Subset</a:t>
                      </a:r>
                      <a:endParaRPr lang="en-US" sz="900" dirty="0"/>
                    </a:p>
                  </a:txBody>
                  <a:tcPr marL="38100" marR="38100" marT="25400" marB="2540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2E8F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2563EB"/>
                          </a:solidFill>
                        </a:rPr>
                        <a:t>m = sqrt(d) ~ 4</a:t>
                      </a:r>
                      <a:endParaRPr lang="en-US" sz="900" dirty="0"/>
                    </a:p>
                  </a:txBody>
                  <a:tcPr marL="38100" marR="38100" marT="25400" marB="2540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FF6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FFFFFF"/>
                          </a:solidFill>
                        </a:rPr>
                        <a:t>Kích thước feature subspace ngẫu nhiên</a:t>
                      </a:r>
                      <a:endParaRPr lang="en-US" sz="850" dirty="0"/>
                    </a:p>
                  </a:txBody>
                  <a:tcPr marL="38100" marR="38100" marT="25400" marB="2540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95C"/>
                    </a:solidFill>
                  </a:tcPr>
                </a:tc>
              </a:tr>
            </a:tbl>
          </a:graphicData>
        </a:graphic>
      </p:graphicFrame>
      <p:sp>
        <p:nvSpPr>
          <p:cNvPr id="23" name="Shape 20"/>
          <p:cNvSpPr/>
          <p:nvPr/>
        </p:nvSpPr>
        <p:spPr>
          <a:xfrm>
            <a:off x="5166360" y="2606040"/>
            <a:ext cx="3474720" cy="2011680"/>
          </a:xfrm>
          <a:prstGeom prst="roundRect">
            <a:avLst>
              <a:gd name="adj" fmla="val 2273"/>
            </a:avLst>
          </a:prstGeom>
          <a:solidFill>
            <a:srgbClr val="F0F7FF"/>
          </a:solidFill>
          <a:ln w="12700">
            <a:solidFill>
              <a:srgbClr val="BAE6FD"/>
            </a:solidFill>
            <a:prstDash val="solid"/>
          </a:ln>
        </p:spPr>
        <p:txBody>
          <a:bodyPr/>
          <a:p/>
        </p:txBody>
      </p:sp>
      <p:sp>
        <p:nvSpPr>
          <p:cNvPr id="24" name="Text 21"/>
          <p:cNvSpPr/>
          <p:nvPr/>
        </p:nvSpPr>
        <p:spPr>
          <a:xfrm>
            <a:off x="5303520" y="2697480"/>
            <a:ext cx="32004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1E295C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Thế mạnh Kiến trúc</a:t>
            </a:r>
            <a:endParaRPr lang="en-US" sz="1150" dirty="0"/>
          </a:p>
        </p:txBody>
      </p:sp>
      <p:sp>
        <p:nvSpPr>
          <p:cNvPr id="25" name="Text 22"/>
          <p:cNvSpPr/>
          <p:nvPr/>
        </p:nvSpPr>
        <p:spPr>
          <a:xfrm>
            <a:off x="5303520" y="2953512"/>
            <a:ext cx="3200400" cy="1591056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marL="342900" indent="-342900">
              <a:buSzPct val="100000"/>
              <a:buChar char="•"/>
            </a:pPr>
            <a:r>
              <a:rPr lang="en-US" sz="105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Peak Precision: Chỉ sinh duy nhất 1 False Positive trên 38,357 test samples.</a:t>
            </a:r>
            <a:endParaRPr lang="en-US" sz="1050" dirty="0"/>
          </a:p>
          <a:p>
            <a:pPr marL="342900" indent="-342900">
              <a:buSzPct val="100000"/>
              <a:buChar char="•"/>
            </a:pPr>
            <a:r>
              <a:rPr lang="en-US" sz="105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High Interpretability: Decision path minh bạch và feature importance rõ ràng.</a:t>
            </a:r>
            <a:endParaRPr lang="en-US" sz="1050" dirty="0"/>
          </a:p>
          <a:p>
            <a:pPr marL="342900" indent="-342900">
              <a:buSzPct val="100000"/>
              <a:buChar char="•"/>
            </a:pPr>
            <a:r>
              <a:rPr lang="en-US" sz="105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Hạn chế: Thời gian training tương đối lâu (~1187s).</a:t>
            </a:r>
            <a:endParaRPr lang="en-US" sz="105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 xmlns:mc="http://schemas.openxmlformats.org/markup-compatibility/2006" xmlns:a14="http://schemas.microsoft.com/office/drawing/2010/main">
  <p:cSld name="Slide 1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02920" y="164592"/>
            <a:ext cx="246888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850" b="1" dirty="0">
                <a:solidFill>
                  <a:srgbClr val="D97706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UIT • ĐHQG-HCM | CS106 (AI)</a:t>
            </a:r>
            <a:endParaRPr lang="en-US" sz="850" dirty="0"/>
          </a:p>
        </p:txBody>
      </p:sp>
      <p:sp>
        <p:nvSpPr>
          <p:cNvPr id="3" name="Shape 1"/>
          <p:cNvSpPr/>
          <p:nvPr/>
        </p:nvSpPr>
        <p:spPr>
          <a:xfrm>
            <a:off x="3758184" y="146304"/>
            <a:ext cx="932688" cy="219456"/>
          </a:xfrm>
          <a:prstGeom prst="roundRect">
            <a:avLst>
              <a:gd name="adj" fmla="val 20833"/>
            </a:avLst>
          </a:prstGeom>
          <a:solidFill>
            <a:srgbClr val="F1F5F9"/>
          </a:solidFill>
          <a:ln w="6350">
            <a:solidFill>
              <a:srgbClr val="E2E8F0"/>
            </a:solidFill>
            <a:prstDash val="solid"/>
          </a:ln>
        </p:spPr>
        <p:txBody>
          <a:bodyPr/>
          <a:p/>
        </p:txBody>
      </p:sp>
      <p:sp>
        <p:nvSpPr>
          <p:cNvPr id="4" name="Text 2"/>
          <p:cNvSpPr/>
          <p:nvPr/>
        </p:nvSpPr>
        <p:spPr>
          <a:xfrm>
            <a:off x="3758184" y="146304"/>
            <a:ext cx="932688" cy="2194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720" dirty="0">
                <a:solidFill>
                  <a:srgbClr val="64748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1. Giới thiệu</a:t>
            </a:r>
            <a:endParaRPr lang="en-US" sz="720" dirty="0"/>
          </a:p>
        </p:txBody>
      </p:sp>
      <p:sp>
        <p:nvSpPr>
          <p:cNvPr id="5" name="Shape 3"/>
          <p:cNvSpPr/>
          <p:nvPr/>
        </p:nvSpPr>
        <p:spPr>
          <a:xfrm>
            <a:off x="4745736" y="146304"/>
            <a:ext cx="932688" cy="219456"/>
          </a:xfrm>
          <a:prstGeom prst="roundRect">
            <a:avLst>
              <a:gd name="adj" fmla="val 20833"/>
            </a:avLst>
          </a:prstGeom>
          <a:solidFill>
            <a:srgbClr val="F1F5F9"/>
          </a:solidFill>
          <a:ln w="6350">
            <a:solidFill>
              <a:srgbClr val="E2E8F0"/>
            </a:solidFill>
            <a:prstDash val="solid"/>
          </a:ln>
        </p:spPr>
        <p:txBody>
          <a:bodyPr/>
          <a:p/>
        </p:txBody>
      </p:sp>
      <p:sp>
        <p:nvSpPr>
          <p:cNvPr id="6" name="Text 4"/>
          <p:cNvSpPr/>
          <p:nvPr/>
        </p:nvSpPr>
        <p:spPr>
          <a:xfrm>
            <a:off x="4745736" y="146304"/>
            <a:ext cx="932688" cy="2194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720" dirty="0">
                <a:solidFill>
                  <a:srgbClr val="64748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2. EDA &amp; Features</a:t>
            </a:r>
            <a:endParaRPr lang="en-US" sz="720" dirty="0"/>
          </a:p>
        </p:txBody>
      </p:sp>
      <p:sp>
        <p:nvSpPr>
          <p:cNvPr id="7" name="Shape 5"/>
          <p:cNvSpPr/>
          <p:nvPr/>
        </p:nvSpPr>
        <p:spPr>
          <a:xfrm>
            <a:off x="5733288" y="146304"/>
            <a:ext cx="932688" cy="219456"/>
          </a:xfrm>
          <a:prstGeom prst="roundRect">
            <a:avLst>
              <a:gd name="adj" fmla="val 20833"/>
            </a:avLst>
          </a:prstGeom>
          <a:solidFill>
            <a:srgbClr val="2563EB"/>
          </a:solidFill>
          <a:ln w="6350">
            <a:solidFill>
              <a:srgbClr val="1D4ED8"/>
            </a:solidFill>
            <a:prstDash val="solid"/>
          </a:ln>
        </p:spPr>
        <p:txBody>
          <a:bodyPr/>
          <a:p/>
        </p:txBody>
      </p:sp>
      <p:sp>
        <p:nvSpPr>
          <p:cNvPr id="8" name="Text 6"/>
          <p:cNvSpPr/>
          <p:nvPr/>
        </p:nvSpPr>
        <p:spPr>
          <a:xfrm>
            <a:off x="5733288" y="146304"/>
            <a:ext cx="932688" cy="2194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720" b="1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3. Phương pháp</a:t>
            </a:r>
            <a:endParaRPr lang="en-US" sz="720" dirty="0"/>
          </a:p>
        </p:txBody>
      </p:sp>
      <p:sp>
        <p:nvSpPr>
          <p:cNvPr id="9" name="Shape 7"/>
          <p:cNvSpPr/>
          <p:nvPr/>
        </p:nvSpPr>
        <p:spPr>
          <a:xfrm>
            <a:off x="6720840" y="146304"/>
            <a:ext cx="932688" cy="219456"/>
          </a:xfrm>
          <a:prstGeom prst="roundRect">
            <a:avLst>
              <a:gd name="adj" fmla="val 20833"/>
            </a:avLst>
          </a:prstGeom>
          <a:solidFill>
            <a:srgbClr val="F1F5F9"/>
          </a:solidFill>
          <a:ln w="6350">
            <a:solidFill>
              <a:srgbClr val="E2E8F0"/>
            </a:solidFill>
            <a:prstDash val="solid"/>
          </a:ln>
        </p:spPr>
        <p:txBody>
          <a:bodyPr/>
          <a:p/>
        </p:txBody>
      </p:sp>
      <p:sp>
        <p:nvSpPr>
          <p:cNvPr id="10" name="Text 8"/>
          <p:cNvSpPr/>
          <p:nvPr/>
        </p:nvSpPr>
        <p:spPr>
          <a:xfrm>
            <a:off x="6720840" y="146304"/>
            <a:ext cx="932688" cy="2194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720" dirty="0">
                <a:solidFill>
                  <a:srgbClr val="64748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4. Thực nghiệm</a:t>
            </a:r>
            <a:endParaRPr lang="en-US" sz="720" dirty="0"/>
          </a:p>
        </p:txBody>
      </p:sp>
      <p:sp>
        <p:nvSpPr>
          <p:cNvPr id="11" name="Shape 9"/>
          <p:cNvSpPr/>
          <p:nvPr/>
        </p:nvSpPr>
        <p:spPr>
          <a:xfrm>
            <a:off x="7708392" y="146304"/>
            <a:ext cx="932688" cy="219456"/>
          </a:xfrm>
          <a:prstGeom prst="roundRect">
            <a:avLst>
              <a:gd name="adj" fmla="val 20833"/>
            </a:avLst>
          </a:prstGeom>
          <a:solidFill>
            <a:srgbClr val="F1F5F9"/>
          </a:solidFill>
          <a:ln w="6350">
            <a:solidFill>
              <a:srgbClr val="E2E8F0"/>
            </a:solidFill>
            <a:prstDash val="solid"/>
          </a:ln>
        </p:spPr>
        <p:txBody>
          <a:bodyPr/>
          <a:p/>
        </p:txBody>
      </p:sp>
      <p:sp>
        <p:nvSpPr>
          <p:cNvPr id="12" name="Text 10"/>
          <p:cNvSpPr/>
          <p:nvPr/>
        </p:nvSpPr>
        <p:spPr>
          <a:xfrm>
            <a:off x="7708392" y="146304"/>
            <a:ext cx="932688" cy="2194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720" dirty="0">
                <a:solidFill>
                  <a:srgbClr val="64748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5. Demo &amp; Tương lai</a:t>
            </a:r>
            <a:endParaRPr lang="en-US" sz="720" dirty="0"/>
          </a:p>
        </p:txBody>
      </p:sp>
      <p:sp>
        <p:nvSpPr>
          <p:cNvPr id="13" name="Text 11"/>
          <p:cNvSpPr/>
          <p:nvPr/>
        </p:nvSpPr>
        <p:spPr>
          <a:xfrm>
            <a:off x="502920" y="438912"/>
            <a:ext cx="813816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1E295C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Supervised Architecture 2: XGBoost Classifier</a:t>
            </a:r>
            <a:endParaRPr lang="en-US" sz="2000" dirty="0"/>
          </a:p>
        </p:txBody>
      </p:sp>
      <p:sp>
        <p:nvSpPr>
          <p:cNvPr id="14" name="Shape 12"/>
          <p:cNvSpPr/>
          <p:nvPr/>
        </p:nvSpPr>
        <p:spPr>
          <a:xfrm>
            <a:off x="502920" y="859536"/>
            <a:ext cx="8138160" cy="0"/>
          </a:xfrm>
          <a:prstGeom prst="line">
            <a:avLst/>
          </a:prstGeom>
          <a:noFill/>
          <a:ln w="9525">
            <a:solidFill>
              <a:srgbClr val="E2E8F0"/>
            </a:solidFill>
            <a:prstDash val="solid"/>
          </a:ln>
        </p:spPr>
        <p:txBody>
          <a:bodyPr/>
          <a:p/>
        </p:txBody>
      </p:sp>
      <p:sp>
        <p:nvSpPr>
          <p:cNvPr id="15" name="Text 13"/>
          <p:cNvSpPr/>
          <p:nvPr/>
        </p:nvSpPr>
        <p:spPr>
          <a:xfrm>
            <a:off x="502920" y="4823460"/>
            <a:ext cx="5669280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CS106: Trí tuệ Nhân tạo — Nhóm 09 — Báo cáo Đồ án: Phát hiện Gian lận Tài chính</a:t>
            </a:r>
            <a:endParaRPr lang="en-US" sz="850" dirty="0"/>
          </a:p>
        </p:txBody>
      </p:sp>
      <p:sp>
        <p:nvSpPr>
          <p:cNvPr id="16" name="Text 14"/>
          <p:cNvSpPr/>
          <p:nvPr/>
        </p:nvSpPr>
        <p:spPr>
          <a:xfrm>
            <a:off x="7269480" y="4823460"/>
            <a:ext cx="1371600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5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13 / 24</a:t>
            </a:r>
            <a:endParaRPr lang="en-US" sz="850" dirty="0"/>
          </a:p>
        </p:txBody>
      </p:sp>
      <p:sp>
        <p:nvSpPr>
          <p:cNvPr id="17" name="Text 15"/>
          <p:cNvSpPr/>
          <p:nvPr/>
        </p:nvSpPr>
        <p:spPr>
          <a:xfrm>
            <a:off x="502920" y="1024128"/>
            <a:ext cx="4480560" cy="22860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E295C"/>
                </a:solidFill>
              </a:rPr>
              <a:t>Gradient Boosted Decision Trees (GBDT):
• Tối thiểu hóa hàm mục tiêu có regularization bằng khai triển Taylor bậc 2.
• Tích hợp explicit L1/L2 regularization trên lá để kiểm soát độ phức tạp của cây.
• High Throughput: Training chỉ mất ~41.6s (nhanh hơn 28.5 lần so với Random Forest ~1187s).
Tuned Hyperparameter Setup:
• learning_rate (eta): 0.2 | n_estimators: 300 | max_depth: 8
• subsample: 0.85 | colsample_bytree: 1.0 | eval_metric: "logloss"</a:t>
            </a:r>
            <a:pPr indent="0" marL="0">
              <a:buNone/>
            </a:pPr>
            <a:r>
              <a:rPr lang="en-US" sz="1050" dirty="0">
                <a:solidFill>
                  <a:srgbClr val="1F2937"/>
                </a:solidFill>
              </a:rPr>
              <a:t/>
            </a:r>
            <a:pPr indent="0" marL="0">
              <a:buNone/>
            </a:pPr>
            <a:r>
              <a:rPr lang="en-US" sz="1050" dirty="0">
                <a:solidFill>
                  <a:srgbClr val="1F2937"/>
                </a:solidFill>
              </a:rPr>
              <a:t/>
            </a:r>
            <a:pPr indent="0" marL="0">
              <a:buNone/>
            </a:pPr>
            <a:r>
              <a:rPr lang="en-US" sz="1050" dirty="0">
                <a:solidFill>
                  <a:srgbClr val="1F2937"/>
                </a:solidFill>
              </a:rPr>
              <a:t/>
            </a:r>
            <a:pPr indent="0" marL="0">
              <a:buNone/>
            </a:pPr>
            <a:r>
              <a:rPr lang="en-US" sz="1200" b="1" dirty="0">
                <a:solidFill>
                  <a:srgbClr val="1E295C"/>
                </a:solidFill>
              </a:rPr>
              <a:t/>
            </a:r>
            <a:pPr indent="0" marL="0">
              <a:buNone/>
            </a:pPr>
            <a:r>
              <a:rPr lang="en-US" sz="1000" dirty="0">
                <a:solidFill>
                  <a:srgbClr val="1F2937"/>
                </a:solidFill>
              </a:rPr>
              <a:t/>
            </a:r>
            <a:pPr indent="0" marL="0">
              <a:buNone/>
            </a:pPr>
            <a:r>
              <a:rPr lang="en-US" sz="1000" dirty="0">
                <a:solidFill>
                  <a:srgbClr val="1F2937"/>
                </a:solidFill>
              </a:rPr>
              <a:t/>
            </a:r>
            <a:endParaRPr lang="en-US" sz="1200" dirty="0"/>
          </a:p>
        </p:txBody>
      </p:sp>
      <p:sp>
        <p:nvSpPr>
          <p:cNvPr id="18" name="Shape 16"/>
          <p:cNvSpPr/>
          <p:nvPr/>
        </p:nvSpPr>
        <p:spPr>
          <a:xfrm>
            <a:off x="502920" y="3383280"/>
            <a:ext cx="4480560" cy="1234440"/>
          </a:xfrm>
          <a:prstGeom prst="roundRect">
            <a:avLst>
              <a:gd name="adj" fmla="val 3704"/>
            </a:avLst>
          </a:prstGeom>
          <a:solidFill>
            <a:srgbClr val="F8FAFC"/>
          </a:solidFill>
          <a:ln w="12700">
            <a:solidFill>
              <a:srgbClr val="CBD5E1"/>
            </a:solidFill>
            <a:prstDash val="solid"/>
          </a:ln>
        </p:spPr>
        <p:txBody>
          <a:bodyPr/>
          <a:p/>
        </p:txBody>
      </p:sp>
      <p:sp>
        <p:nvSpPr>
          <p:cNvPr id="19" name="Text 17"/>
          <p:cNvSpPr/>
          <p:nvPr/>
        </p:nvSpPr>
        <p:spPr>
          <a:xfrm>
            <a:off x="640080" y="3456432"/>
            <a:ext cx="420624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1E295C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Regularized Objective Function (Taylor Bậc 2)</a:t>
            </a:r>
            <a:endParaRPr lang="en-US" sz="1050" dirty="0"/>
          </a:p>
        </p:txBody>
      </p:sp>
      <p:sp>
        <p:nvSpPr>
          <p:cNvPr id="20" name="Text 18"/>
          <p:cNvSpPr/>
          <p:nvPr/>
        </p:nvSpPr>
        <p:spPr>
          <a:xfrm>
            <a:off x="640080" y="3712464"/>
            <a:ext cx="420624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  <a:defRPr sz="950" kern="1200"/>
            </a:pPr>
            <a14:m xmlns:a14="http://schemas.microsoft.com/office/drawing/2010/main">
              <m:oMath xmlns:m="http://schemas.openxmlformats.org/officeDocument/2006/math">
                <m:sSup>
                  <m:e>
                    <m:r>
                      <m:rPr>
                        <m:scr m:val="script"/>
                        <m:sty m:val="p"/>
                      </m:rPr>
                      <m:t>L</m:t>
                    </m:r>
                  </m:e>
                  <m:sup>
                    <m:r>
                      <m:rPr>
                        <m:sty m:val="p"/>
                      </m:rPr>
                      <m:t>(</m:t>
                    </m:r>
                    <m:r>
                      <m:t>t</m:t>
                    </m:r>
                    <m:r>
                      <m:rPr>
                        <m:sty m:val="p"/>
                      </m:rPr>
                      <m:t>)</m:t>
                    </m:r>
                  </m:sup>
                </m:sSup>
                <m:r>
                  <m:rPr>
                    <m:sty m:val="p"/>
                  </m:rPr>
                  <m:t>≈</m:t>
                </m:r>
                <m:nary>
                  <m:naryPr>
                    <m:chr m:val="∑"/>
                    <m:limLoc m:val="undOvr"/>
                    <m:subHide m:val="off"/>
                    <m:supHide m:val="off"/>
                  </m:naryPr>
                  <m:sub>
                    <m:r>
                      <m:t>i</m:t>
                    </m:r>
                    <m:r>
                      <m:rPr>
                        <m:sty m:val="p"/>
                      </m:rPr>
                      <m:t>=</m:t>
                    </m:r>
                    <m:r>
                      <m:t>1</m:t>
                    </m:r>
                  </m:sub>
                  <m:sup>
                    <m:r>
                      <m:t>n</m:t>
                    </m:r>
                  </m:sup>
                  <m:e>
                    <m:r>
                      <m:rPr>
                        <m:sty m:val="p"/>
                      </m:rPr>
                      <m:t>[</m:t>
                    </m:r>
                  </m:e>
                </m:nary>
                <m:sSub>
                  <m:e>
                    <m:r>
                      <m:t>g</m:t>
                    </m:r>
                  </m:e>
                  <m:sub>
                    <m:r>
                      <m:t>i</m:t>
                    </m:r>
                  </m:sub>
                </m:sSub>
                <m:sSub>
                  <m:e>
                    <m:r>
                      <m:t>f</m:t>
                    </m:r>
                  </m:e>
                  <m:sub>
                    <m:r>
                      <m:t>t</m:t>
                    </m:r>
                  </m:sub>
                </m:sSub>
                <m:r>
                  <m:rPr>
                    <m:sty m:val="p"/>
                  </m:rPr>
                  <m:t>(</m:t>
                </m:r>
                <m:sSub>
                  <m:e>
                    <m:r>
                      <m:t>x</m:t>
                    </m:r>
                  </m:e>
                  <m:sub>
                    <m:r>
                      <m:t>i</m:t>
                    </m:r>
                  </m:sub>
                </m:sSub>
                <m:r>
                  <m:rPr>
                    <m:sty m:val="p"/>
                  </m:rPr>
                  <m:t>)</m:t>
                </m:r>
                <m:r>
                  <m:rPr>
                    <m:sty m:val="p"/>
                  </m:rPr>
                  <m:t>+</m:t>
                </m:r>
                <m:f>
                  <m:fPr>
                    <m:type m:val="bar"/>
                  </m:fPr>
                  <m:num>
                    <m:r>
                      <m:t>1</m:t>
                    </m:r>
                  </m:num>
                  <m:den>
                    <m:r>
                      <m:t>2</m:t>
                    </m:r>
                  </m:den>
                </m:f>
                <m:sSub>
                  <m:e>
                    <m:r>
                      <m:t>h</m:t>
                    </m:r>
                  </m:e>
                  <m:sub>
                    <m:r>
                      <m:t>i</m:t>
                    </m:r>
                  </m:sub>
                </m:sSub>
                <m:sSubSup>
                  <m:e>
                    <m:r>
                      <m:t>f</m:t>
                    </m:r>
                  </m:e>
                  <m:sub>
                    <m:r>
                      <m:t>t</m:t>
                    </m:r>
                  </m:sub>
                  <m:sup>
                    <m:r>
                      <m:t>2</m:t>
                    </m:r>
                  </m:sup>
                </m:sSubSup>
                <m:r>
                  <m:rPr>
                    <m:sty m:val="p"/>
                  </m:rPr>
                  <m:t>(</m:t>
                </m:r>
                <m:sSub>
                  <m:e>
                    <m:r>
                      <m:t>x</m:t>
                    </m:r>
                  </m:e>
                  <m:sub>
                    <m:r>
                      <m:t>i</m:t>
                    </m:r>
                  </m:sub>
                </m:sSub>
                <m:r>
                  <m:rPr>
                    <m:sty m:val="p"/>
                  </m:rPr>
                  <m:t>)</m:t>
                </m:r>
                <m:r>
                  <m:rPr>
                    <m:sty m:val="p"/>
                  </m:rPr>
                  <m:t>]</m:t>
                </m:r>
                <m:r>
                  <m:rPr>
                    <m:sty m:val="p"/>
                  </m:rPr>
                  <m:t>+</m:t>
                </m:r>
                <m:r>
                  <m:t>γ</m:t>
                </m:r>
                <m:r>
                  <m:t>T</m:t>
                </m:r>
                <m:r>
                  <m:rPr>
                    <m:sty m:val="p"/>
                  </m:rPr>
                  <m:t>+</m:t>
                </m:r>
                <m:f>
                  <m:fPr>
                    <m:type m:val="bar"/>
                  </m:fPr>
                  <m:num>
                    <m:r>
                      <m:t>1</m:t>
                    </m:r>
                  </m:num>
                  <m:den>
                    <m:r>
                      <m:t>2</m:t>
                    </m:r>
                  </m:den>
                </m:f>
                <m:r>
                  <m:t>λ</m:t>
                </m:r>
                <m:nary>
                  <m:naryPr>
                    <m:chr m:val="∑"/>
                    <m:limLoc m:val="undOvr"/>
                    <m:subHide m:val="off"/>
                    <m:supHide m:val="off"/>
                  </m:naryPr>
                  <m:sub>
                    <m:r>
                      <m:t>j</m:t>
                    </m:r>
                    <m:r>
                      <m:rPr>
                        <m:sty m:val="p"/>
                      </m:rPr>
                      <m:t>=</m:t>
                    </m:r>
                    <m:r>
                      <m:t>1</m:t>
                    </m:r>
                  </m:sub>
                  <m:sup>
                    <m:r>
                      <m:t>T</m:t>
                    </m:r>
                  </m:sup>
                  <m:e>
                    <m:sSubSup>
                      <m:e>
                        <m:r>
                          <m:t>w</m:t>
                        </m:r>
                      </m:e>
                      <m:sub>
                        <m:r>
                          <m:t>j</m:t>
                        </m:r>
                      </m:sub>
                      <m:sup>
                        <m:r>
                          <m:t>2</m:t>
                        </m:r>
                      </m:sup>
                    </m:sSubSup>
                  </m:e>
                </m:nary>
              </m:oMath>
            </a14:m>
            <a:endParaRPr lang="en-US" sz="950" dirty="0"/>
          </a:p>
        </p:txBody>
      </p:sp>
      <p:sp>
        <p:nvSpPr>
          <p:cNvPr id="21" name="Text 19"/>
          <p:cNvSpPr/>
          <p:nvPr/>
        </p:nvSpPr>
        <p:spPr>
          <a:xfrm>
            <a:off x="640080" y="4133088"/>
            <a:ext cx="4206240" cy="429768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indent="0" marL="0">
              <a:buNone/>
            </a:pPr>
            <a:r>
              <a:rPr lang="en-US" sz="880" dirty="0">
                <a:solidFill>
                  <a:srgbClr val="4B556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trong đó g_i và h_i là 1st và 2nd order gradients của loss function theo dự đoán trước.</a:t>
            </a:r>
            <a:endParaRPr lang="en-US" sz="880" dirty="0"/>
          </a:p>
        </p:txBody>
      </p:sp>
      <p:graphicFrame>
        <p:nvGraphicFramePr>
          <p:cNvPr id="14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166360" y="1024128"/>
          <a:ext cx="3474720" cy="914400"/>
        </p:xfrm>
        <a:graphic>
          <a:graphicData uri="http://schemas.openxmlformats.org/drawingml/2006/table">
            <a:tbl>
              <a:tblPr/>
              <a:tblGrid>
                <a:gridCol w="1111910"/>
                <a:gridCol w="833933"/>
                <a:gridCol w="1528877"/>
              </a:tblGrid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1E295C"/>
                          </a:solidFill>
                        </a:rPr>
                        <a:t>Objective</a:t>
                      </a:r>
                      <a:endParaRPr lang="en-US" sz="900" dirty="0"/>
                    </a:p>
                  </a:txBody>
                  <a:tcPr marL="38100" marR="38100" marT="25400" marB="2540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2E8F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2563EB"/>
                          </a:solidFill>
                        </a:rPr>
                        <a:t>Loss + Omega(f)</a:t>
                      </a:r>
                      <a:endParaRPr lang="en-US" sz="900" dirty="0"/>
                    </a:p>
                  </a:txBody>
                  <a:tcPr marL="38100" marR="38100" marT="25400" marB="2540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FF6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FFFFFF"/>
                          </a:solidFill>
                        </a:rPr>
                        <a:t>Hàm mục tiêu có regularization</a:t>
                      </a:r>
                      <a:endParaRPr lang="en-US" sz="850" dirty="0"/>
                    </a:p>
                  </a:txBody>
                  <a:tcPr marL="38100" marR="38100" marT="25400" marB="2540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95C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1E295C"/>
                          </a:solidFill>
                        </a:rPr>
                        <a:t>Learning Rate</a:t>
                      </a:r>
                      <a:endParaRPr lang="en-US" sz="900" dirty="0"/>
                    </a:p>
                  </a:txBody>
                  <a:tcPr marL="38100" marR="38100" marT="25400" marB="2540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2E8F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2563EB"/>
                          </a:solidFill>
                        </a:rPr>
                        <a:t>eta = 0.2</a:t>
                      </a:r>
                      <a:endParaRPr lang="en-US" sz="900" dirty="0"/>
                    </a:p>
                  </a:txBody>
                  <a:tcPr marL="38100" marR="38100" marT="25400" marB="2540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FF6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FFFFFF"/>
                          </a:solidFill>
                        </a:rPr>
                        <a:t>Hệ số co ngót bước học (eta = 0.2)</a:t>
                      </a:r>
                      <a:endParaRPr lang="en-US" sz="850" dirty="0"/>
                    </a:p>
                  </a:txBody>
                  <a:tcPr marL="38100" marR="38100" marT="25400" marB="2540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95C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1E295C"/>
                          </a:solidFill>
                        </a:rPr>
                        <a:t>Max Depth</a:t>
                      </a:r>
                      <a:endParaRPr lang="en-US" sz="900" dirty="0"/>
                    </a:p>
                  </a:txBody>
                  <a:tcPr marL="38100" marR="38100" marT="25400" marB="2540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2E8F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2563EB"/>
                          </a:solidFill>
                        </a:rPr>
                        <a:t>d = 8</a:t>
                      </a:r>
                      <a:endParaRPr lang="en-US" sz="900" dirty="0"/>
                    </a:p>
                  </a:txBody>
                  <a:tcPr marL="38100" marR="38100" marT="25400" marB="2540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FF6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FFFFFF"/>
                          </a:solidFill>
                        </a:rPr>
                        <a:t>Độ sâu cây tối đa mỗi boosting round</a:t>
                      </a:r>
                      <a:endParaRPr lang="en-US" sz="850" dirty="0"/>
                    </a:p>
                  </a:txBody>
                  <a:tcPr marL="38100" marR="38100" marT="25400" marB="2540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95C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1E295C"/>
                          </a:solidFill>
                        </a:rPr>
                        <a:t>Subsample</a:t>
                      </a:r>
                      <a:endParaRPr lang="en-US" sz="900" dirty="0"/>
                    </a:p>
                  </a:txBody>
                  <a:tcPr marL="38100" marR="38100" marT="25400" marB="2540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2E8F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2563EB"/>
                          </a:solidFill>
                        </a:rPr>
                        <a:t>rho = 0.85</a:t>
                      </a:r>
                      <a:endParaRPr lang="en-US" sz="900" dirty="0"/>
                    </a:p>
                  </a:txBody>
                  <a:tcPr marL="38100" marR="38100" marT="25400" marB="2540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FF6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FFFFFF"/>
                          </a:solidFill>
                        </a:rPr>
                        <a:t>Tỷ lệ lấy mẫu hàng ngẫu nhiên (rho = 0.85)</a:t>
                      </a:r>
                      <a:endParaRPr lang="en-US" sz="850" dirty="0"/>
                    </a:p>
                  </a:txBody>
                  <a:tcPr marL="38100" marR="38100" marT="25400" marB="2540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95C"/>
                    </a:solidFill>
                  </a:tcPr>
                </a:tc>
              </a:tr>
            </a:tbl>
          </a:graphicData>
        </a:graphic>
      </p:graphicFrame>
      <p:sp>
        <p:nvSpPr>
          <p:cNvPr id="23" name="Shape 20"/>
          <p:cNvSpPr/>
          <p:nvPr/>
        </p:nvSpPr>
        <p:spPr>
          <a:xfrm>
            <a:off x="5166360" y="2606040"/>
            <a:ext cx="3474720" cy="2011680"/>
          </a:xfrm>
          <a:prstGeom prst="roundRect">
            <a:avLst>
              <a:gd name="adj" fmla="val 2273"/>
            </a:avLst>
          </a:prstGeom>
          <a:solidFill>
            <a:srgbClr val="F0FDF4"/>
          </a:solidFill>
          <a:ln w="12700">
            <a:solidFill>
              <a:srgbClr val="BBF7D0"/>
            </a:solidFill>
            <a:prstDash val="solid"/>
          </a:ln>
        </p:spPr>
        <p:txBody>
          <a:bodyPr/>
          <a:p/>
        </p:txBody>
      </p:sp>
      <p:sp>
        <p:nvSpPr>
          <p:cNvPr id="24" name="Text 21"/>
          <p:cNvSpPr/>
          <p:nvPr/>
        </p:nvSpPr>
        <p:spPr>
          <a:xfrm>
            <a:off x="5303520" y="2697480"/>
            <a:ext cx="32004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16A34A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Ưu thế trong Môi trường Production</a:t>
            </a:r>
            <a:endParaRPr lang="en-US" sz="1150" dirty="0"/>
          </a:p>
        </p:txBody>
      </p:sp>
      <p:sp>
        <p:nvSpPr>
          <p:cNvPr id="25" name="Text 22"/>
          <p:cNvSpPr/>
          <p:nvPr/>
        </p:nvSpPr>
        <p:spPr>
          <a:xfrm>
            <a:off x="5303520" y="2953512"/>
            <a:ext cx="3200400" cy="1591056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marL="342900" indent="-342900">
              <a:buSzPct val="100000"/>
              <a:buChar char="•"/>
            </a:pPr>
            <a:r>
              <a:rPr lang="en-US" sz="105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F1-score đạt 99.63%, gần như tương đương tuyệt đối với Random Forest (99.73%).</a:t>
            </a:r>
            <a:endParaRPr lang="en-US" sz="1050" dirty="0"/>
          </a:p>
          <a:p>
            <a:pPr marL="342900" indent="-342900">
              <a:buSzPct val="100000"/>
              <a:buChar char="•"/>
            </a:pPr>
            <a:r>
              <a:rPr lang="en-US" sz="105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Single-sample inference latency cực thấp: &lt; 0.5ms.</a:t>
            </a:r>
            <a:endParaRPr lang="en-US" sz="1050" dirty="0"/>
          </a:p>
          <a:p>
            <a:pPr marL="342900" indent="-342900">
              <a:buSzPct val="100000"/>
              <a:buChar char="•"/>
            </a:pPr>
            <a:r>
              <a:rPr lang="en-US" sz="105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Lý tưởng để triển khai kiểm duyệt giao dịch real-time tại payment gateway.</a:t>
            </a:r>
            <a:endParaRPr lang="en-US" sz="1050" dirty="0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 xmlns:mc="http://schemas.openxmlformats.org/markup-compatibility/2006" xmlns:a14="http://schemas.microsoft.com/office/drawing/2010/main">
  <p:cSld name="Slide 1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02920" y="164592"/>
            <a:ext cx="246888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850" b="1" dirty="0">
                <a:solidFill>
                  <a:srgbClr val="D97706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UIT • ĐHQG-HCM | CS106 (AI)</a:t>
            </a:r>
            <a:endParaRPr lang="en-US" sz="850" dirty="0"/>
          </a:p>
        </p:txBody>
      </p:sp>
      <p:sp>
        <p:nvSpPr>
          <p:cNvPr id="3" name="Shape 1"/>
          <p:cNvSpPr/>
          <p:nvPr/>
        </p:nvSpPr>
        <p:spPr>
          <a:xfrm>
            <a:off x="3758184" y="146304"/>
            <a:ext cx="932688" cy="219456"/>
          </a:xfrm>
          <a:prstGeom prst="roundRect">
            <a:avLst>
              <a:gd name="adj" fmla="val 20833"/>
            </a:avLst>
          </a:prstGeom>
          <a:solidFill>
            <a:srgbClr val="F1F5F9"/>
          </a:solidFill>
          <a:ln w="6350">
            <a:solidFill>
              <a:srgbClr val="E2E8F0"/>
            </a:solidFill>
            <a:prstDash val="solid"/>
          </a:ln>
        </p:spPr>
        <p:txBody>
          <a:bodyPr/>
          <a:p/>
        </p:txBody>
      </p:sp>
      <p:sp>
        <p:nvSpPr>
          <p:cNvPr id="4" name="Text 2"/>
          <p:cNvSpPr/>
          <p:nvPr/>
        </p:nvSpPr>
        <p:spPr>
          <a:xfrm>
            <a:off x="3758184" y="146304"/>
            <a:ext cx="932688" cy="2194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720" dirty="0">
                <a:solidFill>
                  <a:srgbClr val="64748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1. Giới thiệu</a:t>
            </a:r>
            <a:endParaRPr lang="en-US" sz="720" dirty="0"/>
          </a:p>
        </p:txBody>
      </p:sp>
      <p:sp>
        <p:nvSpPr>
          <p:cNvPr id="5" name="Shape 3"/>
          <p:cNvSpPr/>
          <p:nvPr/>
        </p:nvSpPr>
        <p:spPr>
          <a:xfrm>
            <a:off x="4745736" y="146304"/>
            <a:ext cx="932688" cy="219456"/>
          </a:xfrm>
          <a:prstGeom prst="roundRect">
            <a:avLst>
              <a:gd name="adj" fmla="val 20833"/>
            </a:avLst>
          </a:prstGeom>
          <a:solidFill>
            <a:srgbClr val="F1F5F9"/>
          </a:solidFill>
          <a:ln w="6350">
            <a:solidFill>
              <a:srgbClr val="E2E8F0"/>
            </a:solidFill>
            <a:prstDash val="solid"/>
          </a:ln>
        </p:spPr>
        <p:txBody>
          <a:bodyPr/>
          <a:p/>
        </p:txBody>
      </p:sp>
      <p:sp>
        <p:nvSpPr>
          <p:cNvPr id="6" name="Text 4"/>
          <p:cNvSpPr/>
          <p:nvPr/>
        </p:nvSpPr>
        <p:spPr>
          <a:xfrm>
            <a:off x="4745736" y="146304"/>
            <a:ext cx="932688" cy="2194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720" dirty="0">
                <a:solidFill>
                  <a:srgbClr val="64748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2. EDA &amp; Features</a:t>
            </a:r>
            <a:endParaRPr lang="en-US" sz="720" dirty="0"/>
          </a:p>
        </p:txBody>
      </p:sp>
      <p:sp>
        <p:nvSpPr>
          <p:cNvPr id="7" name="Shape 5"/>
          <p:cNvSpPr/>
          <p:nvPr/>
        </p:nvSpPr>
        <p:spPr>
          <a:xfrm>
            <a:off x="5733288" y="146304"/>
            <a:ext cx="932688" cy="219456"/>
          </a:xfrm>
          <a:prstGeom prst="roundRect">
            <a:avLst>
              <a:gd name="adj" fmla="val 20833"/>
            </a:avLst>
          </a:prstGeom>
          <a:solidFill>
            <a:srgbClr val="2563EB"/>
          </a:solidFill>
          <a:ln w="6350">
            <a:solidFill>
              <a:srgbClr val="1D4ED8"/>
            </a:solidFill>
            <a:prstDash val="solid"/>
          </a:ln>
        </p:spPr>
        <p:txBody>
          <a:bodyPr/>
          <a:p/>
        </p:txBody>
      </p:sp>
      <p:sp>
        <p:nvSpPr>
          <p:cNvPr id="8" name="Text 6"/>
          <p:cNvSpPr/>
          <p:nvPr/>
        </p:nvSpPr>
        <p:spPr>
          <a:xfrm>
            <a:off x="5733288" y="146304"/>
            <a:ext cx="932688" cy="2194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720" b="1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3. Phương pháp</a:t>
            </a:r>
            <a:endParaRPr lang="en-US" sz="720" dirty="0"/>
          </a:p>
        </p:txBody>
      </p:sp>
      <p:sp>
        <p:nvSpPr>
          <p:cNvPr id="9" name="Shape 7"/>
          <p:cNvSpPr/>
          <p:nvPr/>
        </p:nvSpPr>
        <p:spPr>
          <a:xfrm>
            <a:off x="6720840" y="146304"/>
            <a:ext cx="932688" cy="219456"/>
          </a:xfrm>
          <a:prstGeom prst="roundRect">
            <a:avLst>
              <a:gd name="adj" fmla="val 20833"/>
            </a:avLst>
          </a:prstGeom>
          <a:solidFill>
            <a:srgbClr val="F1F5F9"/>
          </a:solidFill>
          <a:ln w="6350">
            <a:solidFill>
              <a:srgbClr val="E2E8F0"/>
            </a:solidFill>
            <a:prstDash val="solid"/>
          </a:ln>
        </p:spPr>
        <p:txBody>
          <a:bodyPr/>
          <a:p/>
        </p:txBody>
      </p:sp>
      <p:sp>
        <p:nvSpPr>
          <p:cNvPr id="10" name="Text 8"/>
          <p:cNvSpPr/>
          <p:nvPr/>
        </p:nvSpPr>
        <p:spPr>
          <a:xfrm>
            <a:off x="6720840" y="146304"/>
            <a:ext cx="932688" cy="2194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720" dirty="0">
                <a:solidFill>
                  <a:srgbClr val="64748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4. Thực nghiệm</a:t>
            </a:r>
            <a:endParaRPr lang="en-US" sz="720" dirty="0"/>
          </a:p>
        </p:txBody>
      </p:sp>
      <p:sp>
        <p:nvSpPr>
          <p:cNvPr id="11" name="Shape 9"/>
          <p:cNvSpPr/>
          <p:nvPr/>
        </p:nvSpPr>
        <p:spPr>
          <a:xfrm>
            <a:off x="7708392" y="146304"/>
            <a:ext cx="932688" cy="219456"/>
          </a:xfrm>
          <a:prstGeom prst="roundRect">
            <a:avLst>
              <a:gd name="adj" fmla="val 20833"/>
            </a:avLst>
          </a:prstGeom>
          <a:solidFill>
            <a:srgbClr val="F1F5F9"/>
          </a:solidFill>
          <a:ln w="6350">
            <a:solidFill>
              <a:srgbClr val="E2E8F0"/>
            </a:solidFill>
            <a:prstDash val="solid"/>
          </a:ln>
        </p:spPr>
        <p:txBody>
          <a:bodyPr/>
          <a:p/>
        </p:txBody>
      </p:sp>
      <p:sp>
        <p:nvSpPr>
          <p:cNvPr id="12" name="Text 10"/>
          <p:cNvSpPr/>
          <p:nvPr/>
        </p:nvSpPr>
        <p:spPr>
          <a:xfrm>
            <a:off x="7708392" y="146304"/>
            <a:ext cx="932688" cy="2194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720" dirty="0">
                <a:solidFill>
                  <a:srgbClr val="64748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5. Demo &amp; Tương lai</a:t>
            </a:r>
            <a:endParaRPr lang="en-US" sz="720" dirty="0"/>
          </a:p>
        </p:txBody>
      </p:sp>
      <p:sp>
        <p:nvSpPr>
          <p:cNvPr id="13" name="Text 11"/>
          <p:cNvSpPr/>
          <p:nvPr/>
        </p:nvSpPr>
        <p:spPr>
          <a:xfrm>
            <a:off x="502920" y="438912"/>
            <a:ext cx="813816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1E295C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Unsupervised Architecture 3: Deep Autoencoder</a:t>
            </a:r>
            <a:endParaRPr lang="en-US" sz="2000" dirty="0"/>
          </a:p>
        </p:txBody>
      </p:sp>
      <p:sp>
        <p:nvSpPr>
          <p:cNvPr id="14" name="Shape 12"/>
          <p:cNvSpPr/>
          <p:nvPr/>
        </p:nvSpPr>
        <p:spPr>
          <a:xfrm>
            <a:off x="502920" y="859536"/>
            <a:ext cx="8138160" cy="0"/>
          </a:xfrm>
          <a:prstGeom prst="line">
            <a:avLst/>
          </a:prstGeom>
          <a:noFill/>
          <a:ln w="9525">
            <a:solidFill>
              <a:srgbClr val="E2E8F0"/>
            </a:solidFill>
            <a:prstDash val="solid"/>
          </a:ln>
        </p:spPr>
        <p:txBody>
          <a:bodyPr/>
          <a:p/>
        </p:txBody>
      </p:sp>
      <p:sp>
        <p:nvSpPr>
          <p:cNvPr id="15" name="Text 13"/>
          <p:cNvSpPr/>
          <p:nvPr/>
        </p:nvSpPr>
        <p:spPr>
          <a:xfrm>
            <a:off x="502920" y="4823460"/>
            <a:ext cx="5669280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CS106: Trí tuệ Nhân tạo — Nhóm 09 — Báo cáo Đồ án: Phát hiện Gian lận Tài chính</a:t>
            </a:r>
            <a:endParaRPr lang="en-US" sz="850" dirty="0"/>
          </a:p>
        </p:txBody>
      </p:sp>
      <p:sp>
        <p:nvSpPr>
          <p:cNvPr id="16" name="Text 14"/>
          <p:cNvSpPr/>
          <p:nvPr/>
        </p:nvSpPr>
        <p:spPr>
          <a:xfrm>
            <a:off x="7269480" y="4823460"/>
            <a:ext cx="1371600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5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14 / 24</a:t>
            </a:r>
            <a:endParaRPr lang="en-US" sz="850" dirty="0"/>
          </a:p>
        </p:txBody>
      </p:sp>
      <p:sp>
        <p:nvSpPr>
          <p:cNvPr id="17" name="Text 15"/>
          <p:cNvSpPr/>
          <p:nvPr/>
        </p:nvSpPr>
        <p:spPr>
          <a:xfrm>
            <a:off x="502920" y="1024128"/>
            <a:ext cx="4480560" cy="22860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E295C"/>
                </a:solidFill>
              </a:rPr>
              <a:t>One-Class Semi-Supervised Anomaly Detection:
• Mạng được huấn luyện HOÀN TOÀN trên legitimate transactions (N = 122,744 normal samples).
• Học low-dimensional manifold biểu diễn hành vi giao dịch bình thường.
• Anomaly Scoring: Giao dịch gian lận không thể tái tạo chuẩn -&gt; Reconstruction Error (MSE) tăng vọt.
Cấu hình Kiến trúc Mạng:
• Symmetric Topology: 16 -&gt; 8 -&gt; 4 (Bottleneck) -&gt; 8 -&gt; 16
• Optimizer: Adam (lr=1e-3) | Loss: MSE | Threshold: tau = 0.045456 (95th percentile)</a:t>
            </a:r>
            <a:pPr indent="0" marL="0">
              <a:buNone/>
            </a:pPr>
            <a:r>
              <a:rPr lang="en-US" sz="1050" dirty="0">
                <a:solidFill>
                  <a:srgbClr val="1F2937"/>
                </a:solidFill>
              </a:rPr>
              <a:t/>
            </a:r>
            <a:pPr indent="0" marL="0">
              <a:buNone/>
            </a:pPr>
            <a:r>
              <a:rPr lang="en-US" sz="1050" dirty="0">
                <a:solidFill>
                  <a:srgbClr val="1F2937"/>
                </a:solidFill>
              </a:rPr>
              <a:t/>
            </a:r>
            <a:pPr indent="0" marL="0">
              <a:buNone/>
            </a:pPr>
            <a:r>
              <a:rPr lang="en-US" sz="1050" dirty="0">
                <a:solidFill>
                  <a:srgbClr val="1F2937"/>
                </a:solidFill>
              </a:rPr>
              <a:t/>
            </a:r>
            <a:pPr indent="0" marL="0">
              <a:buNone/>
            </a:pPr>
            <a:r>
              <a:rPr lang="en-US" sz="1200" b="1" dirty="0">
                <a:solidFill>
                  <a:srgbClr val="1E295C"/>
                </a:solidFill>
              </a:rPr>
              <a:t/>
            </a:r>
            <a:pPr indent="0" marL="0">
              <a:buNone/>
            </a:pPr>
            <a:r>
              <a:rPr lang="en-US" sz="1000" dirty="0">
                <a:solidFill>
                  <a:srgbClr val="1F2937"/>
                </a:solidFill>
              </a:rPr>
              <a:t/>
            </a:r>
            <a:pPr indent="0" marL="0">
              <a:buNone/>
            </a:pPr>
            <a:r>
              <a:rPr lang="en-US" sz="1000" dirty="0">
                <a:solidFill>
                  <a:srgbClr val="1F2937"/>
                </a:solidFill>
              </a:rPr>
              <a:t/>
            </a:r>
            <a:endParaRPr lang="en-US" sz="1200" dirty="0"/>
          </a:p>
        </p:txBody>
      </p:sp>
      <p:sp>
        <p:nvSpPr>
          <p:cNvPr id="18" name="Shape 16"/>
          <p:cNvSpPr/>
          <p:nvPr/>
        </p:nvSpPr>
        <p:spPr>
          <a:xfrm>
            <a:off x="502920" y="3383280"/>
            <a:ext cx="4480560" cy="1234440"/>
          </a:xfrm>
          <a:prstGeom prst="roundRect">
            <a:avLst>
              <a:gd name="adj" fmla="val 3704"/>
            </a:avLst>
          </a:prstGeom>
          <a:solidFill>
            <a:srgbClr val="F8FAFC"/>
          </a:solidFill>
          <a:ln w="12700">
            <a:solidFill>
              <a:srgbClr val="CBD5E1"/>
            </a:solidFill>
            <a:prstDash val="solid"/>
          </a:ln>
        </p:spPr>
        <p:txBody>
          <a:bodyPr/>
          <a:p/>
        </p:txBody>
      </p:sp>
      <p:sp>
        <p:nvSpPr>
          <p:cNvPr id="19" name="Text 17"/>
          <p:cNvSpPr/>
          <p:nvPr/>
        </p:nvSpPr>
        <p:spPr>
          <a:xfrm>
            <a:off x="640080" y="3456432"/>
            <a:ext cx="420624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1E295C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Reconstruction Loss &amp; Decision Cutoff</a:t>
            </a:r>
            <a:endParaRPr lang="en-US" sz="1050" dirty="0"/>
          </a:p>
        </p:txBody>
      </p:sp>
      <p:sp>
        <p:nvSpPr>
          <p:cNvPr id="20" name="Text 18"/>
          <p:cNvSpPr/>
          <p:nvPr/>
        </p:nvSpPr>
        <p:spPr>
          <a:xfrm>
            <a:off x="640080" y="3712464"/>
            <a:ext cx="420624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  <a:defRPr sz="950" kern="1200"/>
            </a:pPr>
            <a14:m xmlns:a14="http://schemas.microsoft.com/office/drawing/2010/main">
              <m:oMath xmlns:m="http://schemas.openxmlformats.org/officeDocument/2006/math">
                <m:sSub>
                  <m:e>
                    <m:r>
                      <m:rPr>
                        <m:scr m:val="script"/>
                        <m:sty m:val="p"/>
                      </m:rPr>
                      <m:t>L</m:t>
                    </m:r>
                  </m:e>
                  <m:sub>
                    <m:r>
                      <m:rPr>
                        <m:nor/>
                        <m:sty m:val="p"/>
                      </m:rPr>
                      <m:t>MSE</m:t>
                    </m:r>
                  </m:sub>
                </m:sSub>
                <m:r>
                  <m:rPr>
                    <m:sty m:val="p"/>
                  </m:rPr>
                  <m:t>(</m:t>
                </m:r>
                <m:r>
                  <m:t>x</m:t>
                </m:r>
                <m:r>
                  <m:rPr>
                    <m:sty m:val="p"/>
                  </m:rPr>
                  <m:t>,</m:t>
                </m:r>
                <m:acc>
                  <m:accPr>
                    <m:chr m:val="̂"/>
                  </m:accPr>
                  <m:e>
                    <m:r>
                      <m:t>x</m:t>
                    </m:r>
                  </m:e>
                </m:acc>
                <m:r>
                  <m:rPr>
                    <m:sty m:val="p"/>
                  </m:rPr>
                  <m:t>)</m:t>
                </m:r>
                <m:r>
                  <m:rPr>
                    <m:sty m:val="p"/>
                  </m:rPr>
                  <m:t>=</m:t>
                </m:r>
                <m:f>
                  <m:fPr>
                    <m:type m:val="bar"/>
                  </m:fPr>
                  <m:num>
                    <m:r>
                      <m:t>1</m:t>
                    </m:r>
                  </m:num>
                  <m:den>
                    <m:r>
                      <m:t>d</m:t>
                    </m:r>
                  </m:den>
                </m:f>
                <m:nary>
                  <m:naryPr>
                    <m:chr m:val="∑"/>
                    <m:limLoc m:val="undOvr"/>
                    <m:subHide m:val="off"/>
                    <m:supHide m:val="off"/>
                  </m:naryPr>
                  <m:sub>
                    <m:r>
                      <m:t>j</m:t>
                    </m:r>
                    <m:r>
                      <m:rPr>
                        <m:sty m:val="p"/>
                      </m:rPr>
                      <m:t>=</m:t>
                    </m:r>
                    <m:r>
                      <m:t>1</m:t>
                    </m:r>
                  </m:sub>
                  <m:sup>
                    <m:r>
                      <m:t>d</m:t>
                    </m:r>
                  </m:sup>
                  <m:e>
                    <m:r>
                      <m:rPr>
                        <m:sty m:val="p"/>
                      </m:rPr>
                      <m:t>(</m:t>
                    </m:r>
                  </m:e>
                </m:nary>
                <m:sSub>
                  <m:e>
                    <m:r>
                      <m:t>x</m:t>
                    </m:r>
                  </m:e>
                  <m:sub>
                    <m:r>
                      <m:t>j</m:t>
                    </m:r>
                  </m:sub>
                </m:sSub>
                <m:r>
                  <m:rPr>
                    <m:sty m:val="p"/>
                  </m:rPr>
                  <m:t>−</m:t>
                </m:r>
                <m:sSub>
                  <m:e>
                    <m:acc>
                      <m:accPr>
                        <m:chr m:val="̂"/>
                      </m:accPr>
                      <m:e>
                        <m:r>
                          <m:t>x</m:t>
                        </m:r>
                      </m:e>
                    </m:acc>
                  </m:e>
                  <m:sub>
                    <m:r>
                      <m:t>j</m:t>
                    </m:r>
                  </m:sub>
                </m:sSub>
                <m:sSup>
                  <m:e>
                    <m:r>
                      <m:rPr>
                        <m:sty m:val="p"/>
                      </m:rPr>
                      <m:t>)</m:t>
                    </m:r>
                  </m:e>
                  <m:sup>
                    <m:r>
                      <m:t>2</m:t>
                    </m:r>
                  </m:sup>
                </m:sSup>
                <m:r>
                  <m:rPr>
                    <m:sty m:val="p"/>
                  </m:rPr>
                  <m:t>,</m:t>
                </m:r>
                <m:r>
                  <m:t> </m:t>
                </m:r>
                <m:acc>
                  <m:accPr>
                    <m:chr m:val="̂"/>
                  </m:accPr>
                  <m:e>
                    <m:r>
                      <m:t>y</m:t>
                    </m:r>
                  </m:e>
                </m:acc>
                <m:r>
                  <m:rPr>
                    <m:sty m:val="p"/>
                  </m:rPr>
                  <m:t>=</m:t>
                </m:r>
                <m:r>
                  <m:rPr>
                    <m:scr m:val="double-struck"/>
                    <m:sty m:val="p"/>
                  </m:rPr>
                  <m:t>I</m:t>
                </m:r>
                <m:r>
                  <m:rPr>
                    <m:sty m:val="p"/>
                  </m:rPr>
                  <m:t>(</m:t>
                </m:r>
                <m:sSub>
                  <m:e>
                    <m:r>
                      <m:rPr>
                        <m:scr m:val="script"/>
                        <m:sty m:val="p"/>
                      </m:rPr>
                      <m:t>L</m:t>
                    </m:r>
                  </m:e>
                  <m:sub>
                    <m:r>
                      <m:rPr>
                        <m:nor/>
                        <m:sty m:val="p"/>
                      </m:rPr>
                      <m:t>MSE</m:t>
                    </m:r>
                  </m:sub>
                </m:sSub>
                <m:r>
                  <m:rPr>
                    <m:sty m:val="p"/>
                  </m:rPr>
                  <m:t>&gt;</m:t>
                </m:r>
                <m:r>
                  <m:t>τ</m:t>
                </m:r>
                <m:r>
                  <m:rPr>
                    <m:sty m:val="p"/>
                  </m:rPr>
                  <m:t>)</m:t>
                </m:r>
              </m:oMath>
            </a14:m>
            <a:endParaRPr lang="en-US" sz="950" dirty="0"/>
          </a:p>
        </p:txBody>
      </p:sp>
      <p:sp>
        <p:nvSpPr>
          <p:cNvPr id="21" name="Text 19"/>
          <p:cNvSpPr/>
          <p:nvPr/>
        </p:nvSpPr>
        <p:spPr>
          <a:xfrm>
            <a:off x="640080" y="4133088"/>
            <a:ext cx="4206240" cy="429768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indent="0" marL="0">
              <a:buNone/>
            </a:pPr>
            <a:r>
              <a:rPr lang="en-US" sz="880" dirty="0">
                <a:solidFill>
                  <a:srgbClr val="4B556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Các mẫu có MSE vượt quá ngưỡng validation 95th percentile (tau) được phân loại là Anomalous (Gian lận).</a:t>
            </a:r>
            <a:endParaRPr lang="en-US" sz="880" dirty="0"/>
          </a:p>
        </p:txBody>
      </p:sp>
      <p:graphicFrame>
        <p:nvGraphicFramePr>
          <p:cNvPr id="15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166360" y="1024128"/>
          <a:ext cx="3474720" cy="914400"/>
        </p:xfrm>
        <a:graphic>
          <a:graphicData uri="http://schemas.openxmlformats.org/drawingml/2006/table">
            <a:tbl>
              <a:tblPr/>
              <a:tblGrid>
                <a:gridCol w="1111910"/>
                <a:gridCol w="833933"/>
                <a:gridCol w="1528877"/>
              </a:tblGrid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1E295C"/>
                          </a:solidFill>
                        </a:rPr>
                        <a:t>Bottleneck</a:t>
                      </a:r>
                      <a:endParaRPr lang="en-US" sz="900" dirty="0"/>
                    </a:p>
                  </a:txBody>
                  <a:tcPr marL="38100" marR="38100" marT="25400" marB="2540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2E8F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2563EB"/>
                          </a:solidFill>
                        </a:rPr>
                        <a:t>z in R^4</a:t>
                      </a:r>
                      <a:endParaRPr lang="en-US" sz="900" dirty="0"/>
                    </a:p>
                  </a:txBody>
                  <a:tcPr marL="38100" marR="38100" marT="25400" marB="2540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FF6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FFFFFF"/>
                          </a:solidFill>
                        </a:rPr>
                        <a:t>Không gian biểu diễn ẩn nén (z in R^4)</a:t>
                      </a:r>
                      <a:endParaRPr lang="en-US" sz="850" dirty="0"/>
                    </a:p>
                  </a:txBody>
                  <a:tcPr marL="38100" marR="38100" marT="25400" marB="2540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95C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1E295C"/>
                          </a:solidFill>
                        </a:rPr>
                        <a:t>Loss Function</a:t>
                      </a:r>
                      <a:endParaRPr lang="en-US" sz="900" dirty="0"/>
                    </a:p>
                  </a:txBody>
                  <a:tcPr marL="38100" marR="38100" marT="25400" marB="2540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2E8F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2563EB"/>
                          </a:solidFill>
                        </a:rPr>
                        <a:t>MSE(x, x_hat)</a:t>
                      </a:r>
                      <a:endParaRPr lang="en-US" sz="900" dirty="0"/>
                    </a:p>
                  </a:txBody>
                  <a:tcPr marL="38100" marR="38100" marT="25400" marB="2540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FF6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FFFFFF"/>
                          </a:solidFill>
                        </a:rPr>
                        <a:t>Mean Squared Reconstruction Error (MSE)</a:t>
                      </a:r>
                      <a:endParaRPr lang="en-US" sz="850" dirty="0"/>
                    </a:p>
                  </a:txBody>
                  <a:tcPr marL="38100" marR="38100" marT="25400" marB="2540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95C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1E295C"/>
                          </a:solidFill>
                        </a:rPr>
                        <a:t>Activation</a:t>
                      </a:r>
                      <a:endParaRPr lang="en-US" sz="900" dirty="0"/>
                    </a:p>
                  </a:txBody>
                  <a:tcPr marL="38100" marR="38100" marT="25400" marB="2540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2E8F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2563EB"/>
                          </a:solidFill>
                        </a:rPr>
                        <a:t>ReLU / Linear</a:t>
                      </a:r>
                      <a:endParaRPr lang="en-US" sz="900" dirty="0"/>
                    </a:p>
                  </a:txBody>
                  <a:tcPr marL="38100" marR="38100" marT="25400" marB="2540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FF6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FFFFFF"/>
                          </a:solidFill>
                        </a:rPr>
                        <a:t>Non-linear hidden layer mappings (ReLU)</a:t>
                      </a:r>
                      <a:endParaRPr lang="en-US" sz="850" dirty="0"/>
                    </a:p>
                  </a:txBody>
                  <a:tcPr marL="38100" marR="38100" marT="25400" marB="2540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95C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1E295C"/>
                          </a:solidFill>
                        </a:rPr>
                        <a:t>Decision Threshold</a:t>
                      </a:r>
                      <a:endParaRPr lang="en-US" sz="900" dirty="0"/>
                    </a:p>
                  </a:txBody>
                  <a:tcPr marL="38100" marR="38100" marT="25400" marB="2540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2E8F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2563EB"/>
                          </a:solidFill>
                        </a:rPr>
                        <a:t>tau = 0.0455</a:t>
                      </a:r>
                      <a:endParaRPr lang="en-US" sz="900" dirty="0"/>
                    </a:p>
                  </a:txBody>
                  <a:tcPr marL="38100" marR="38100" marT="25400" marB="2540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FF6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FFFFFF"/>
                          </a:solidFill>
                        </a:rPr>
                        <a:t>Ngưỡng quyết định 95th percentile (tau = 0.0455)</a:t>
                      </a:r>
                      <a:endParaRPr lang="en-US" sz="850" dirty="0"/>
                    </a:p>
                  </a:txBody>
                  <a:tcPr marL="38100" marR="38100" marT="25400" marB="2540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95C"/>
                    </a:solidFill>
                  </a:tcPr>
                </a:tc>
              </a:tr>
            </a:tbl>
          </a:graphicData>
        </a:graphic>
      </p:graphicFrame>
      <p:sp>
        <p:nvSpPr>
          <p:cNvPr id="23" name="Shape 20"/>
          <p:cNvSpPr/>
          <p:nvPr/>
        </p:nvSpPr>
        <p:spPr>
          <a:xfrm>
            <a:off x="5166360" y="2606040"/>
            <a:ext cx="3474720" cy="2011680"/>
          </a:xfrm>
          <a:prstGeom prst="roundRect">
            <a:avLst>
              <a:gd name="adj" fmla="val 2273"/>
            </a:avLst>
          </a:prstGeom>
          <a:solidFill>
            <a:srgbClr val="F0F7FF"/>
          </a:solidFill>
          <a:ln w="12700">
            <a:solidFill>
              <a:srgbClr val="BAE6FD"/>
            </a:solidFill>
            <a:prstDash val="solid"/>
          </a:ln>
        </p:spPr>
        <p:txBody>
          <a:bodyPr/>
          <a:p/>
        </p:txBody>
      </p:sp>
      <p:sp>
        <p:nvSpPr>
          <p:cNvPr id="24" name="Text 21"/>
          <p:cNvSpPr/>
          <p:nvPr/>
        </p:nvSpPr>
        <p:spPr>
          <a:xfrm>
            <a:off x="5303520" y="2697480"/>
            <a:ext cx="32004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1E295C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Vai trò Phát hiện Tấn công Zero-Day</a:t>
            </a:r>
            <a:endParaRPr lang="en-US" sz="1150" dirty="0"/>
          </a:p>
        </p:txBody>
      </p:sp>
      <p:sp>
        <p:nvSpPr>
          <p:cNvPr id="25" name="Text 22"/>
          <p:cNvSpPr/>
          <p:nvPr/>
        </p:nvSpPr>
        <p:spPr>
          <a:xfrm>
            <a:off x="5303520" y="2953512"/>
            <a:ext cx="3200400" cy="1591056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marL="342900" indent="-342900">
              <a:buSzPct val="100000"/>
              <a:buChar char="•"/>
            </a:pPr>
            <a:r>
              <a:rPr lang="en-US" sz="105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Đạt 75.23% Recall dù hoàn toàn không quan sát fraud labels khi training.</a:t>
            </a:r>
            <a:endParaRPr lang="en-US" sz="1050" dirty="0"/>
          </a:p>
          <a:p>
            <a:pPr marL="342900" indent="-342900">
              <a:buSzPct val="100000"/>
              <a:buChar char="•"/>
            </a:pPr>
            <a:r>
              <a:rPr lang="en-US" sz="105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Đóng vai trò lớp phòng thủ bổ trợ đắc lực cho các attack signatures mới chưa từng xuất hiện.</a:t>
            </a:r>
            <a:endParaRPr lang="en-US" sz="1050" dirty="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solidFill>
          <a:srgbClr val="161F4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02920" y="457200"/>
            <a:ext cx="813816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3C5FD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TRƯỜNG ĐẠI HỌC CÔNG NGHỆ THÔNG TIN, ĐHQG-HCM  •  BÁO CÁO ĐỒ ÁN CS106</a:t>
            </a:r>
            <a:endParaRPr lang="en-US" sz="900" dirty="0"/>
          </a:p>
        </p:txBody>
      </p:sp>
      <p:sp>
        <p:nvSpPr>
          <p:cNvPr id="3" name="Shape 1"/>
          <p:cNvSpPr/>
          <p:nvPr/>
        </p:nvSpPr>
        <p:spPr>
          <a:xfrm>
            <a:off x="3886200" y="1188720"/>
            <a:ext cx="1371600" cy="384048"/>
          </a:xfrm>
          <a:prstGeom prst="roundRect">
            <a:avLst>
              <a:gd name="adj" fmla="val 19048"/>
            </a:avLst>
          </a:prstGeom>
          <a:solidFill>
            <a:srgbClr val="2563EB"/>
          </a:solidFill>
          <a:ln w="12700">
            <a:solidFill>
              <a:srgbClr val="60A5FA"/>
            </a:solidFill>
            <a:prstDash val="solid"/>
          </a:ln>
        </p:spPr>
        <p:txBody>
          <a:bodyPr/>
          <a:p/>
        </p:txBody>
      </p:sp>
      <p:sp>
        <p:nvSpPr>
          <p:cNvPr id="4" name="Text 2"/>
          <p:cNvSpPr/>
          <p:nvPr/>
        </p:nvSpPr>
        <p:spPr>
          <a:xfrm>
            <a:off x="3886200" y="1188720"/>
            <a:ext cx="137160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50" b="1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PHẦN 04</a:t>
            </a:r>
            <a:endParaRPr lang="en-US" sz="1250" dirty="0"/>
          </a:p>
        </p:txBody>
      </p:sp>
      <p:sp>
        <p:nvSpPr>
          <p:cNvPr id="5" name="Text 3"/>
          <p:cNvSpPr/>
          <p:nvPr/>
        </p:nvSpPr>
        <p:spPr>
          <a:xfrm>
            <a:off x="502920" y="1783080"/>
            <a:ext cx="8138160" cy="6858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500" b="1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KẾT QUẢ THỰC NGHIỆM &amp; ĐÁNH GIÁ SO SÁNH</a:t>
            </a:r>
            <a:endParaRPr lang="en-US" sz="2500" dirty="0"/>
          </a:p>
        </p:txBody>
      </p:sp>
      <p:sp>
        <p:nvSpPr>
          <p:cNvPr id="6" name="Shape 4"/>
          <p:cNvSpPr/>
          <p:nvPr/>
        </p:nvSpPr>
        <p:spPr>
          <a:xfrm>
            <a:off x="3200400" y="2578608"/>
            <a:ext cx="2743200" cy="0"/>
          </a:xfrm>
          <a:prstGeom prst="line">
            <a:avLst/>
          </a:prstGeom>
          <a:noFill/>
          <a:ln w="25400">
            <a:solidFill>
              <a:srgbClr val="F59E0B"/>
            </a:solidFill>
            <a:prstDash val="solid"/>
          </a:ln>
        </p:spPr>
        <p:txBody>
          <a:bodyPr/>
          <a:p/>
        </p:txBody>
      </p:sp>
      <p:sp>
        <p:nvSpPr>
          <p:cNvPr id="7" name="Shape 5"/>
          <p:cNvSpPr/>
          <p:nvPr/>
        </p:nvSpPr>
        <p:spPr>
          <a:xfrm>
            <a:off x="2011680" y="2852928"/>
            <a:ext cx="5120640" cy="1508760"/>
          </a:xfrm>
          <a:prstGeom prst="roundRect">
            <a:avLst>
              <a:gd name="adj" fmla="val 3636"/>
            </a:avLst>
          </a:prstGeom>
          <a:solidFill>
            <a:srgbClr val="1E295C"/>
          </a:solidFill>
          <a:ln w="9525">
            <a:solidFill>
              <a:srgbClr val="3B82F6"/>
            </a:solidFill>
            <a:prstDash val="solid"/>
          </a:ln>
        </p:spPr>
        <p:txBody>
          <a:bodyPr/>
          <a:p/>
        </p:txBody>
      </p:sp>
      <p:sp>
        <p:nvSpPr>
          <p:cNvPr id="8" name="Text 6"/>
          <p:cNvSpPr/>
          <p:nvPr/>
        </p:nvSpPr>
        <p:spPr>
          <a:xfrm>
            <a:off x="2286000" y="2971800"/>
            <a:ext cx="4572000" cy="12801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342900" indent="-342900">
              <a:buSzPct val="100000"/>
              <a:buChar char="•"/>
            </a:pPr>
            <a:r>
              <a:rPr lang="en-US" sz="1100" dirty="0">
                <a:solidFill>
                  <a:srgbClr val="E2E8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Comprehensive Performance Benchmark (Precision, Recall, F1, ROC-AUC)</a:t>
            </a:r>
            <a:endParaRPr lang="en-US" sz="1100" dirty="0"/>
          </a:p>
          <a:p>
            <a:pPr marL="342900" indent="-342900">
              <a:buSzPct val="100000"/>
              <a:buChar char="•"/>
            </a:pPr>
            <a:r>
              <a:rPr lang="en-US" sz="1100" dirty="0">
                <a:solidFill>
                  <a:srgbClr val="E2E8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Confusion Matrix &amp; Đánh đổi False Alarm vs. Missed Fraud</a:t>
            </a:r>
            <a:endParaRPr lang="en-US" sz="1100" dirty="0"/>
          </a:p>
          <a:p>
            <a:pPr marL="342900" indent="-342900">
              <a:buSzPct val="100000"/>
              <a:buChar char="•"/>
            </a:pPr>
            <a:r>
              <a:rPr lang="en-US" sz="1100" dirty="0">
                <a:solidFill>
                  <a:srgbClr val="E2E8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Feature Importance Attribution &amp; Split Gain Contributions</a:t>
            </a:r>
            <a:endParaRPr lang="en-US" sz="1100" dirty="0"/>
          </a:p>
          <a:p>
            <a:pPr marL="342900" indent="-342900">
              <a:buSzPct val="100000"/>
              <a:buChar char="•"/>
            </a:pPr>
            <a:r>
              <a:rPr lang="en-US" sz="1100" dirty="0">
                <a:solidFill>
                  <a:srgbClr val="E2E8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Autoencoder Anomaly Thresholding &amp; Reconstruction Dynamics</a:t>
            </a:r>
            <a:endParaRPr lang="en-US" sz="1100" dirty="0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02920" y="164592"/>
            <a:ext cx="246888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850" b="1" dirty="0">
                <a:solidFill>
                  <a:srgbClr val="D97706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UIT • ĐHQG-HCM | CS106 (AI)</a:t>
            </a:r>
            <a:endParaRPr lang="en-US" sz="850" dirty="0"/>
          </a:p>
        </p:txBody>
      </p:sp>
      <p:sp>
        <p:nvSpPr>
          <p:cNvPr id="3" name="Shape 1"/>
          <p:cNvSpPr/>
          <p:nvPr/>
        </p:nvSpPr>
        <p:spPr>
          <a:xfrm>
            <a:off x="3758184" y="146304"/>
            <a:ext cx="932688" cy="219456"/>
          </a:xfrm>
          <a:prstGeom prst="roundRect">
            <a:avLst>
              <a:gd name="adj" fmla="val 20833"/>
            </a:avLst>
          </a:prstGeom>
          <a:solidFill>
            <a:srgbClr val="F1F5F9"/>
          </a:solidFill>
          <a:ln w="6350">
            <a:solidFill>
              <a:srgbClr val="E2E8F0"/>
            </a:solidFill>
            <a:prstDash val="solid"/>
          </a:ln>
        </p:spPr>
        <p:txBody>
          <a:bodyPr/>
          <a:p/>
        </p:txBody>
      </p:sp>
      <p:sp>
        <p:nvSpPr>
          <p:cNvPr id="4" name="Text 2"/>
          <p:cNvSpPr/>
          <p:nvPr/>
        </p:nvSpPr>
        <p:spPr>
          <a:xfrm>
            <a:off x="3758184" y="146304"/>
            <a:ext cx="932688" cy="2194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720" dirty="0">
                <a:solidFill>
                  <a:srgbClr val="64748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1. Giới thiệu</a:t>
            </a:r>
            <a:endParaRPr lang="en-US" sz="720" dirty="0"/>
          </a:p>
        </p:txBody>
      </p:sp>
      <p:sp>
        <p:nvSpPr>
          <p:cNvPr id="5" name="Shape 3"/>
          <p:cNvSpPr/>
          <p:nvPr/>
        </p:nvSpPr>
        <p:spPr>
          <a:xfrm>
            <a:off x="4745736" y="146304"/>
            <a:ext cx="932688" cy="219456"/>
          </a:xfrm>
          <a:prstGeom prst="roundRect">
            <a:avLst>
              <a:gd name="adj" fmla="val 20833"/>
            </a:avLst>
          </a:prstGeom>
          <a:solidFill>
            <a:srgbClr val="F1F5F9"/>
          </a:solidFill>
          <a:ln w="6350">
            <a:solidFill>
              <a:srgbClr val="E2E8F0"/>
            </a:solidFill>
            <a:prstDash val="solid"/>
          </a:ln>
        </p:spPr>
        <p:txBody>
          <a:bodyPr/>
          <a:p/>
        </p:txBody>
      </p:sp>
      <p:sp>
        <p:nvSpPr>
          <p:cNvPr id="6" name="Text 4"/>
          <p:cNvSpPr/>
          <p:nvPr/>
        </p:nvSpPr>
        <p:spPr>
          <a:xfrm>
            <a:off x="4745736" y="146304"/>
            <a:ext cx="932688" cy="2194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720" dirty="0">
                <a:solidFill>
                  <a:srgbClr val="64748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2. EDA &amp; Features</a:t>
            </a:r>
            <a:endParaRPr lang="en-US" sz="720" dirty="0"/>
          </a:p>
        </p:txBody>
      </p:sp>
      <p:sp>
        <p:nvSpPr>
          <p:cNvPr id="7" name="Shape 5"/>
          <p:cNvSpPr/>
          <p:nvPr/>
        </p:nvSpPr>
        <p:spPr>
          <a:xfrm>
            <a:off x="5733288" y="146304"/>
            <a:ext cx="932688" cy="219456"/>
          </a:xfrm>
          <a:prstGeom prst="roundRect">
            <a:avLst>
              <a:gd name="adj" fmla="val 20833"/>
            </a:avLst>
          </a:prstGeom>
          <a:solidFill>
            <a:srgbClr val="F1F5F9"/>
          </a:solidFill>
          <a:ln w="6350">
            <a:solidFill>
              <a:srgbClr val="E2E8F0"/>
            </a:solidFill>
            <a:prstDash val="solid"/>
          </a:ln>
        </p:spPr>
        <p:txBody>
          <a:bodyPr/>
          <a:p/>
        </p:txBody>
      </p:sp>
      <p:sp>
        <p:nvSpPr>
          <p:cNvPr id="8" name="Text 6"/>
          <p:cNvSpPr/>
          <p:nvPr/>
        </p:nvSpPr>
        <p:spPr>
          <a:xfrm>
            <a:off x="5733288" y="146304"/>
            <a:ext cx="932688" cy="2194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720" dirty="0">
                <a:solidFill>
                  <a:srgbClr val="64748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3. Phương pháp</a:t>
            </a:r>
            <a:endParaRPr lang="en-US" sz="720" dirty="0"/>
          </a:p>
        </p:txBody>
      </p:sp>
      <p:sp>
        <p:nvSpPr>
          <p:cNvPr id="9" name="Shape 7"/>
          <p:cNvSpPr/>
          <p:nvPr/>
        </p:nvSpPr>
        <p:spPr>
          <a:xfrm>
            <a:off x="6720840" y="146304"/>
            <a:ext cx="932688" cy="219456"/>
          </a:xfrm>
          <a:prstGeom prst="roundRect">
            <a:avLst>
              <a:gd name="adj" fmla="val 20833"/>
            </a:avLst>
          </a:prstGeom>
          <a:solidFill>
            <a:srgbClr val="2563EB"/>
          </a:solidFill>
          <a:ln w="6350">
            <a:solidFill>
              <a:srgbClr val="1D4ED8"/>
            </a:solidFill>
            <a:prstDash val="solid"/>
          </a:ln>
        </p:spPr>
        <p:txBody>
          <a:bodyPr/>
          <a:p/>
        </p:txBody>
      </p:sp>
      <p:sp>
        <p:nvSpPr>
          <p:cNvPr id="10" name="Text 8"/>
          <p:cNvSpPr/>
          <p:nvPr/>
        </p:nvSpPr>
        <p:spPr>
          <a:xfrm>
            <a:off x="6720840" y="146304"/>
            <a:ext cx="932688" cy="2194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720" b="1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4. Thực nghiệm</a:t>
            </a:r>
            <a:endParaRPr lang="en-US" sz="720" dirty="0"/>
          </a:p>
        </p:txBody>
      </p:sp>
      <p:sp>
        <p:nvSpPr>
          <p:cNvPr id="11" name="Shape 9"/>
          <p:cNvSpPr/>
          <p:nvPr/>
        </p:nvSpPr>
        <p:spPr>
          <a:xfrm>
            <a:off x="7708392" y="146304"/>
            <a:ext cx="932688" cy="219456"/>
          </a:xfrm>
          <a:prstGeom prst="roundRect">
            <a:avLst>
              <a:gd name="adj" fmla="val 20833"/>
            </a:avLst>
          </a:prstGeom>
          <a:solidFill>
            <a:srgbClr val="F1F5F9"/>
          </a:solidFill>
          <a:ln w="6350">
            <a:solidFill>
              <a:srgbClr val="E2E8F0"/>
            </a:solidFill>
            <a:prstDash val="solid"/>
          </a:ln>
        </p:spPr>
        <p:txBody>
          <a:bodyPr/>
          <a:p/>
        </p:txBody>
      </p:sp>
      <p:sp>
        <p:nvSpPr>
          <p:cNvPr id="12" name="Text 10"/>
          <p:cNvSpPr/>
          <p:nvPr/>
        </p:nvSpPr>
        <p:spPr>
          <a:xfrm>
            <a:off x="7708392" y="146304"/>
            <a:ext cx="932688" cy="2194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720" dirty="0">
                <a:solidFill>
                  <a:srgbClr val="64748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5. Demo &amp; Tương lai</a:t>
            </a:r>
            <a:endParaRPr lang="en-US" sz="720" dirty="0"/>
          </a:p>
        </p:txBody>
      </p:sp>
      <p:sp>
        <p:nvSpPr>
          <p:cNvPr id="13" name="Text 11"/>
          <p:cNvSpPr/>
          <p:nvPr/>
        </p:nvSpPr>
        <p:spPr>
          <a:xfrm>
            <a:off x="502920" y="438912"/>
            <a:ext cx="813816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1E295C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Kết quả Thực nghiệm: So sánh Đối chuẩn (N = 40,000)</a:t>
            </a:r>
            <a:endParaRPr lang="en-US" sz="2000" dirty="0"/>
          </a:p>
        </p:txBody>
      </p:sp>
      <p:sp>
        <p:nvSpPr>
          <p:cNvPr id="14" name="Shape 12"/>
          <p:cNvSpPr/>
          <p:nvPr/>
        </p:nvSpPr>
        <p:spPr>
          <a:xfrm>
            <a:off x="502920" y="859536"/>
            <a:ext cx="8138160" cy="0"/>
          </a:xfrm>
          <a:prstGeom prst="line">
            <a:avLst/>
          </a:prstGeom>
          <a:noFill/>
          <a:ln w="9525">
            <a:solidFill>
              <a:srgbClr val="E2E8F0"/>
            </a:solidFill>
            <a:prstDash val="solid"/>
          </a:ln>
        </p:spPr>
        <p:txBody>
          <a:bodyPr/>
          <a:p/>
        </p:txBody>
      </p:sp>
      <p:sp>
        <p:nvSpPr>
          <p:cNvPr id="15" name="Text 13"/>
          <p:cNvSpPr/>
          <p:nvPr/>
        </p:nvSpPr>
        <p:spPr>
          <a:xfrm>
            <a:off x="502920" y="4823460"/>
            <a:ext cx="5669280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CS106: Trí tuệ Nhân tạo — Nhóm 09 — Báo cáo Đồ án: Phát hiện Gian lận Tài chính</a:t>
            </a:r>
            <a:endParaRPr lang="en-US" sz="850" dirty="0"/>
          </a:p>
        </p:txBody>
      </p:sp>
      <p:sp>
        <p:nvSpPr>
          <p:cNvPr id="16" name="Text 14"/>
          <p:cNvSpPr/>
          <p:nvPr/>
        </p:nvSpPr>
        <p:spPr>
          <a:xfrm>
            <a:off x="7269480" y="4823460"/>
            <a:ext cx="1371600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5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16 / 24</a:t>
            </a:r>
            <a:endParaRPr lang="en-US" sz="850" dirty="0"/>
          </a:p>
        </p:txBody>
      </p:sp>
      <p:graphicFrame>
        <p:nvGraphicFramePr>
          <p:cNvPr id="17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02920" y="1024128"/>
          <a:ext cx="8138160" cy="2148840"/>
        </p:xfrm>
        <a:graphic>
          <a:graphicData uri="http://schemas.openxmlformats.org/drawingml/2006/table">
            <a:tbl>
              <a:tblPr/>
              <a:tblGrid>
                <a:gridCol w="1162594"/>
                <a:gridCol w="1162594"/>
                <a:gridCol w="1162594"/>
                <a:gridCol w="1162594"/>
                <a:gridCol w="1162594"/>
                <a:gridCol w="1162594"/>
                <a:gridCol w="1162594"/>
              </a:tblGrid>
              <a:tr h="35814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</a:rPr>
                        <a:t>Model Architecture</a:t>
                      </a:r>
                      <a:endParaRPr lang="en-US" sz="1200" dirty="0"/>
                    </a:p>
                  </a:txBody>
                  <a:tcPr marL="38100" marR="38100" marT="38100" marB="3810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95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</a:rPr>
                        <a:t>Resampling</a:t>
                      </a:r>
                      <a:endParaRPr lang="en-US" sz="1200" dirty="0"/>
                    </a:p>
                  </a:txBody>
                  <a:tcPr marL="38100" marR="38100" marT="38100" marB="3810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95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</a:rPr>
                        <a:t>Precision</a:t>
                      </a:r>
                      <a:endParaRPr lang="en-US" sz="1200" dirty="0"/>
                    </a:p>
                  </a:txBody>
                  <a:tcPr marL="38100" marR="38100" marT="38100" marB="3810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95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</a:rPr>
                        <a:t>Recall</a:t>
                      </a:r>
                      <a:endParaRPr lang="en-US" sz="1200" dirty="0"/>
                    </a:p>
                  </a:txBody>
                  <a:tcPr marL="38100" marR="38100" marT="38100" marB="3810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95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FDE047"/>
                          </a:solidFill>
                        </a:rPr>
                        <a:t>F1-Score</a:t>
                      </a:r>
                      <a:endParaRPr lang="en-US" sz="1200" dirty="0"/>
                    </a:p>
                  </a:txBody>
                  <a:tcPr marL="38100" marR="38100" marT="38100" marB="3810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95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</a:rPr>
                        <a:t>ROC-AUC</a:t>
                      </a:r>
                      <a:endParaRPr lang="en-US" sz="1200" dirty="0"/>
                    </a:p>
                  </a:txBody>
                  <a:tcPr marL="38100" marR="38100" marT="38100" marB="3810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95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CBD5E1"/>
                          </a:solidFill>
                        </a:rPr>
                        <a:t>Train Time</a:t>
                      </a:r>
                      <a:endParaRPr lang="en-US" sz="1200" dirty="0"/>
                    </a:p>
                  </a:txBody>
                  <a:tcPr marL="38100" marR="38100" marT="38100" marB="3810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95C"/>
                    </a:solidFill>
                  </a:tcPr>
                </a:tc>
              </a:tr>
              <a:tr h="35814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b="1" dirty="0">
                          <a:solidFill>
                            <a:srgbClr val="1E295C"/>
                          </a:solidFill>
                        </a:rPr>
                        <a:t>Random Forest</a:t>
                      </a:r>
                      <a:endParaRPr lang="en-US" sz="950" dirty="0"/>
                    </a:p>
                  </a:txBody>
                  <a:tcPr marL="38100" marR="38100" marT="38100" marB="3810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BEAFE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b="1" dirty="0">
                          <a:solidFill>
                            <a:srgbClr val="1E295C"/>
                          </a:solidFill>
                        </a:rPr>
                        <a:t>SMOTE</a:t>
                      </a:r>
                      <a:endParaRPr lang="en-US" sz="950" dirty="0"/>
                    </a:p>
                  </a:txBody>
                  <a:tcPr marL="38100" marR="38100" marT="38100" marB="3810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BEAFE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b="1" dirty="0">
                          <a:solidFill>
                            <a:srgbClr val="1E295C"/>
                          </a:solidFill>
                        </a:rPr>
                        <a:t>0.9994</a:t>
                      </a:r>
                      <a:endParaRPr lang="en-US" sz="950" dirty="0"/>
                    </a:p>
                  </a:txBody>
                  <a:tcPr marL="38100" marR="38100" marT="38100" marB="3810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BEAFE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b="1" dirty="0">
                          <a:solidFill>
                            <a:srgbClr val="1E295C"/>
                          </a:solidFill>
                        </a:rPr>
                        <a:t>0.9951</a:t>
                      </a:r>
                      <a:endParaRPr lang="en-US" sz="950" dirty="0"/>
                    </a:p>
                  </a:txBody>
                  <a:tcPr marL="38100" marR="38100" marT="38100" marB="3810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BEAFE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b="1" dirty="0">
                          <a:solidFill>
                            <a:srgbClr val="1E295C"/>
                          </a:solidFill>
                        </a:rPr>
                        <a:t>0.9973 (Best)</a:t>
                      </a:r>
                      <a:endParaRPr lang="en-US" sz="950" dirty="0"/>
                    </a:p>
                  </a:txBody>
                  <a:tcPr marL="38100" marR="38100" marT="38100" marB="3810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BEAFE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b="1" dirty="0">
                          <a:solidFill>
                            <a:srgbClr val="1E295C"/>
                          </a:solidFill>
                        </a:rPr>
                        <a:t>0.9994</a:t>
                      </a:r>
                      <a:endParaRPr lang="en-US" sz="950" dirty="0"/>
                    </a:p>
                  </a:txBody>
                  <a:tcPr marL="38100" marR="38100" marT="38100" marB="3810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BEAFE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b="1" dirty="0">
                          <a:solidFill>
                            <a:srgbClr val="1E295C"/>
                          </a:solidFill>
                        </a:rPr>
                        <a:t>1187.7s</a:t>
                      </a:r>
                      <a:endParaRPr lang="en-US" sz="950" dirty="0"/>
                    </a:p>
                  </a:txBody>
                  <a:tcPr marL="38100" marR="38100" marT="38100" marB="3810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BEAFE"/>
                    </a:solidFill>
                  </a:tcPr>
                </a:tc>
              </a:tr>
              <a:tr h="35814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dirty="0">
                          <a:solidFill>
                            <a:srgbClr val="1F2937"/>
                          </a:solidFill>
                        </a:rPr>
                        <a:t>Random Forest</a:t>
                      </a:r>
                      <a:endParaRPr lang="en-US" sz="950" dirty="0"/>
                    </a:p>
                  </a:txBody>
                  <a:tcPr marL="38100" marR="38100" marT="38100" marB="3810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dirty="0">
                          <a:solidFill>
                            <a:srgbClr val="1F2937"/>
                          </a:solidFill>
                        </a:rPr>
                        <a:t>ADASYN</a:t>
                      </a:r>
                      <a:endParaRPr lang="en-US" sz="950" dirty="0"/>
                    </a:p>
                  </a:txBody>
                  <a:tcPr marL="38100" marR="38100" marT="38100" marB="3810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dirty="0">
                          <a:solidFill>
                            <a:srgbClr val="1F2937"/>
                          </a:solidFill>
                        </a:rPr>
                        <a:t>0.9982</a:t>
                      </a:r>
                      <a:endParaRPr lang="en-US" sz="950" dirty="0"/>
                    </a:p>
                  </a:txBody>
                  <a:tcPr marL="38100" marR="38100" marT="38100" marB="3810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dirty="0">
                          <a:solidFill>
                            <a:srgbClr val="1F2937"/>
                          </a:solidFill>
                        </a:rPr>
                        <a:t>0.9951</a:t>
                      </a:r>
                      <a:endParaRPr lang="en-US" sz="950" dirty="0"/>
                    </a:p>
                  </a:txBody>
                  <a:tcPr marL="38100" marR="38100" marT="38100" marB="3810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b="1" dirty="0">
                          <a:solidFill>
                            <a:srgbClr val="2563EB"/>
                          </a:solidFill>
                        </a:rPr>
                        <a:t>0.9966</a:t>
                      </a:r>
                      <a:endParaRPr lang="en-US" sz="950" dirty="0"/>
                    </a:p>
                  </a:txBody>
                  <a:tcPr marL="38100" marR="38100" marT="38100" marB="3810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dirty="0">
                          <a:solidFill>
                            <a:srgbClr val="1F2937"/>
                          </a:solidFill>
                        </a:rPr>
                        <a:t>0.9992</a:t>
                      </a:r>
                      <a:endParaRPr lang="en-US" sz="950" dirty="0"/>
                    </a:p>
                  </a:txBody>
                  <a:tcPr marL="38100" marR="38100" marT="38100" marB="3810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dirty="0">
                          <a:solidFill>
                            <a:srgbClr val="1F2937"/>
                          </a:solidFill>
                        </a:rPr>
                        <a:t>1167.5s</a:t>
                      </a:r>
                      <a:endParaRPr lang="en-US" sz="950" dirty="0"/>
                    </a:p>
                  </a:txBody>
                  <a:tcPr marL="38100" marR="38100" marT="38100" marB="3810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5814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dirty="0">
                          <a:solidFill>
                            <a:srgbClr val="1F2937"/>
                          </a:solidFill>
                        </a:rPr>
                        <a:t>XGBoost</a:t>
                      </a:r>
                      <a:endParaRPr lang="en-US" sz="950" dirty="0"/>
                    </a:p>
                  </a:txBody>
                  <a:tcPr marL="38100" marR="38100" marT="38100" marB="3810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dirty="0">
                          <a:solidFill>
                            <a:srgbClr val="1F2937"/>
                          </a:solidFill>
                        </a:rPr>
                        <a:t>SMOTE</a:t>
                      </a:r>
                      <a:endParaRPr lang="en-US" sz="950" dirty="0"/>
                    </a:p>
                  </a:txBody>
                  <a:tcPr marL="38100" marR="38100" marT="38100" marB="3810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dirty="0">
                          <a:solidFill>
                            <a:srgbClr val="1F2937"/>
                          </a:solidFill>
                        </a:rPr>
                        <a:t>0.9976</a:t>
                      </a:r>
                      <a:endParaRPr lang="en-US" sz="950" dirty="0"/>
                    </a:p>
                  </a:txBody>
                  <a:tcPr marL="38100" marR="38100" marT="38100" marB="3810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dirty="0">
                          <a:solidFill>
                            <a:srgbClr val="1F2937"/>
                          </a:solidFill>
                        </a:rPr>
                        <a:t>0.9951</a:t>
                      </a:r>
                      <a:endParaRPr lang="en-US" sz="950" dirty="0"/>
                    </a:p>
                  </a:txBody>
                  <a:tcPr marL="38100" marR="38100" marT="38100" marB="3810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b="1" dirty="0">
                          <a:solidFill>
                            <a:srgbClr val="2563EB"/>
                          </a:solidFill>
                        </a:rPr>
                        <a:t>0.9963</a:t>
                      </a:r>
                      <a:endParaRPr lang="en-US" sz="950" dirty="0"/>
                    </a:p>
                  </a:txBody>
                  <a:tcPr marL="38100" marR="38100" marT="38100" marB="3810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dirty="0">
                          <a:solidFill>
                            <a:srgbClr val="1F2937"/>
                          </a:solidFill>
                        </a:rPr>
                        <a:t>0.9993</a:t>
                      </a:r>
                      <a:endParaRPr lang="en-US" sz="950" dirty="0"/>
                    </a:p>
                  </a:txBody>
                  <a:tcPr marL="38100" marR="38100" marT="38100" marB="3810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dirty="0">
                          <a:solidFill>
                            <a:srgbClr val="1F2937"/>
                          </a:solidFill>
                        </a:rPr>
                        <a:t>41.6s</a:t>
                      </a:r>
                      <a:endParaRPr lang="en-US" sz="950" dirty="0"/>
                    </a:p>
                  </a:txBody>
                  <a:tcPr marL="38100" marR="38100" marT="38100" marB="3810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5F9"/>
                    </a:solidFill>
                  </a:tcPr>
                </a:tc>
              </a:tr>
              <a:tr h="35814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dirty="0">
                          <a:solidFill>
                            <a:srgbClr val="1F2937"/>
                          </a:solidFill>
                        </a:rPr>
                        <a:t>XGBoost</a:t>
                      </a:r>
                      <a:endParaRPr lang="en-US" sz="950" dirty="0"/>
                    </a:p>
                  </a:txBody>
                  <a:tcPr marL="38100" marR="38100" marT="38100" marB="3810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dirty="0">
                          <a:solidFill>
                            <a:srgbClr val="1F2937"/>
                          </a:solidFill>
                        </a:rPr>
                        <a:t>ADASYN</a:t>
                      </a:r>
                      <a:endParaRPr lang="en-US" sz="950" dirty="0"/>
                    </a:p>
                  </a:txBody>
                  <a:tcPr marL="38100" marR="38100" marT="38100" marB="3810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dirty="0">
                          <a:solidFill>
                            <a:srgbClr val="1F2937"/>
                          </a:solidFill>
                        </a:rPr>
                        <a:t>0.9957</a:t>
                      </a:r>
                      <a:endParaRPr lang="en-US" sz="950" dirty="0"/>
                    </a:p>
                  </a:txBody>
                  <a:tcPr marL="38100" marR="38100" marT="38100" marB="3810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dirty="0">
                          <a:solidFill>
                            <a:srgbClr val="1F2937"/>
                          </a:solidFill>
                        </a:rPr>
                        <a:t>0.9951</a:t>
                      </a:r>
                      <a:endParaRPr lang="en-US" sz="950" dirty="0"/>
                    </a:p>
                  </a:txBody>
                  <a:tcPr marL="38100" marR="38100" marT="38100" marB="3810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b="1" dirty="0">
                          <a:solidFill>
                            <a:srgbClr val="2563EB"/>
                          </a:solidFill>
                        </a:rPr>
                        <a:t>0.9954</a:t>
                      </a:r>
                      <a:endParaRPr lang="en-US" sz="950" dirty="0"/>
                    </a:p>
                  </a:txBody>
                  <a:tcPr marL="38100" marR="38100" marT="38100" marB="3810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dirty="0">
                          <a:solidFill>
                            <a:srgbClr val="1F2937"/>
                          </a:solidFill>
                        </a:rPr>
                        <a:t>0.9994</a:t>
                      </a:r>
                      <a:endParaRPr lang="en-US" sz="950" dirty="0"/>
                    </a:p>
                  </a:txBody>
                  <a:tcPr marL="38100" marR="38100" marT="38100" marB="3810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dirty="0">
                          <a:solidFill>
                            <a:srgbClr val="1F2937"/>
                          </a:solidFill>
                        </a:rPr>
                        <a:t>41.5s</a:t>
                      </a:r>
                      <a:endParaRPr lang="en-US" sz="950" dirty="0"/>
                    </a:p>
                  </a:txBody>
                  <a:tcPr marL="38100" marR="38100" marT="38100" marB="3810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5814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dirty="0">
                          <a:solidFill>
                            <a:srgbClr val="1F2937"/>
                          </a:solidFill>
                        </a:rPr>
                        <a:t>Autoencoder</a:t>
                      </a:r>
                      <a:endParaRPr lang="en-US" sz="950" dirty="0"/>
                    </a:p>
                  </a:txBody>
                  <a:tcPr marL="38100" marR="38100" marT="38100" marB="3810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dirty="0">
                          <a:solidFill>
                            <a:srgbClr val="1F2937"/>
                          </a:solidFill>
                        </a:rPr>
                        <a:t>None (One-Class)</a:t>
                      </a:r>
                      <a:endParaRPr lang="en-US" sz="950" dirty="0"/>
                    </a:p>
                  </a:txBody>
                  <a:tcPr marL="38100" marR="38100" marT="38100" marB="3810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dirty="0">
                          <a:solidFill>
                            <a:srgbClr val="1F2937"/>
                          </a:solidFill>
                        </a:rPr>
                        <a:t>0.3822</a:t>
                      </a:r>
                      <a:endParaRPr lang="en-US" sz="950" dirty="0"/>
                    </a:p>
                  </a:txBody>
                  <a:tcPr marL="38100" marR="38100" marT="38100" marB="3810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dirty="0">
                          <a:solidFill>
                            <a:srgbClr val="1F2937"/>
                          </a:solidFill>
                        </a:rPr>
                        <a:t>0.7523</a:t>
                      </a:r>
                      <a:endParaRPr lang="en-US" sz="950" dirty="0"/>
                    </a:p>
                  </a:txBody>
                  <a:tcPr marL="38100" marR="38100" marT="38100" marB="3810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b="1" dirty="0">
                          <a:solidFill>
                            <a:srgbClr val="2563EB"/>
                          </a:solidFill>
                        </a:rPr>
                        <a:t>0.5069</a:t>
                      </a:r>
                      <a:endParaRPr lang="en-US" sz="950" dirty="0"/>
                    </a:p>
                  </a:txBody>
                  <a:tcPr marL="38100" marR="38100" marT="38100" marB="3810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dirty="0">
                          <a:solidFill>
                            <a:srgbClr val="1F2937"/>
                          </a:solidFill>
                        </a:rPr>
                        <a:t>0.9318</a:t>
                      </a:r>
                      <a:endParaRPr lang="en-US" sz="950" dirty="0"/>
                    </a:p>
                  </a:txBody>
                  <a:tcPr marL="38100" marR="38100" marT="38100" marB="3810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dirty="0">
                          <a:solidFill>
                            <a:srgbClr val="1F2937"/>
                          </a:solidFill>
                        </a:rPr>
                        <a:t>215.3s</a:t>
                      </a:r>
                      <a:endParaRPr lang="en-US" sz="950" dirty="0"/>
                    </a:p>
                  </a:txBody>
                  <a:tcPr marL="38100" marR="38100" marT="38100" marB="3810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5F9"/>
                    </a:solidFill>
                  </a:tcPr>
                </a:tc>
              </a:tr>
            </a:tbl>
          </a:graphicData>
        </a:graphic>
      </p:graphicFrame>
      <p:sp>
        <p:nvSpPr>
          <p:cNvPr id="18" name="Shape 15"/>
          <p:cNvSpPr/>
          <p:nvPr/>
        </p:nvSpPr>
        <p:spPr>
          <a:xfrm>
            <a:off x="502920" y="3291840"/>
            <a:ext cx="8138160" cy="1325880"/>
          </a:xfrm>
          <a:prstGeom prst="roundRect">
            <a:avLst>
              <a:gd name="adj" fmla="val 3448"/>
            </a:avLst>
          </a:prstGeom>
          <a:solidFill>
            <a:srgbClr val="F0F7FF"/>
          </a:solidFill>
          <a:ln w="12700">
            <a:solidFill>
              <a:srgbClr val="BAE6FD"/>
            </a:solidFill>
            <a:prstDash val="solid"/>
          </a:ln>
        </p:spPr>
        <p:txBody>
          <a:bodyPr/>
          <a:p/>
        </p:txBody>
      </p:sp>
      <p:sp>
        <p:nvSpPr>
          <p:cNvPr id="19" name="Text 16"/>
          <p:cNvSpPr/>
          <p:nvPr/>
        </p:nvSpPr>
        <p:spPr>
          <a:xfrm>
            <a:off x="640080" y="3383280"/>
            <a:ext cx="786384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1E295C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Đúc kết Thực nghiệm Cốt lõi</a:t>
            </a:r>
            <a:endParaRPr lang="en-US" sz="1150" dirty="0"/>
          </a:p>
        </p:txBody>
      </p:sp>
      <p:sp>
        <p:nvSpPr>
          <p:cNvPr id="20" name="Text 17"/>
          <p:cNvSpPr/>
          <p:nvPr/>
        </p:nvSpPr>
        <p:spPr>
          <a:xfrm>
            <a:off x="640080" y="3639312"/>
            <a:ext cx="7863840" cy="905256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marL="342900" indent="-342900">
              <a:buSzPct val="100000"/>
              <a:buChar char="•"/>
            </a:pPr>
            <a:r>
              <a:rPr lang="en-US" sz="105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RF + SMOTE đạt đỉnh F1-Score (99.73%) với chỉ duy nhất 1 False Positive trên 38,357 legitimate test samples.</a:t>
            </a:r>
            <a:endParaRPr lang="en-US" sz="1050" dirty="0"/>
          </a:p>
          <a:p>
            <a:pPr marL="342900" indent="-342900">
              <a:buSzPct val="100000"/>
              <a:buChar char="•"/>
            </a:pPr>
            <a:r>
              <a:rPr lang="en-US" sz="105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XGBoost đạt classification performance gần như tương đương (F1 99.63%) nhưng training time nhanh hơn 28.5 lần.</a:t>
            </a:r>
            <a:endParaRPr lang="en-US" sz="1050" dirty="0"/>
          </a:p>
          <a:p>
            <a:pPr marL="342900" indent="-342900">
              <a:buSzPct val="100000"/>
              <a:buChar char="•"/>
            </a:pPr>
            <a:r>
              <a:rPr lang="en-US" sz="105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Autoencoder phát hiện được 75.23% ca gian lận trong bối cảnh hoàn toàn unsupervised, không cần fraud labels.</a:t>
            </a:r>
            <a:endParaRPr lang="en-US" sz="1050" dirty="0"/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02920" y="164592"/>
            <a:ext cx="246888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850" b="1" dirty="0">
                <a:solidFill>
                  <a:srgbClr val="D97706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UIT • ĐHQG-HCM | CS106 (AI)</a:t>
            </a:r>
            <a:endParaRPr lang="en-US" sz="850" dirty="0"/>
          </a:p>
        </p:txBody>
      </p:sp>
      <p:sp>
        <p:nvSpPr>
          <p:cNvPr id="3" name="Shape 1"/>
          <p:cNvSpPr/>
          <p:nvPr/>
        </p:nvSpPr>
        <p:spPr>
          <a:xfrm>
            <a:off x="3758184" y="146304"/>
            <a:ext cx="932688" cy="219456"/>
          </a:xfrm>
          <a:prstGeom prst="roundRect">
            <a:avLst>
              <a:gd name="adj" fmla="val 20833"/>
            </a:avLst>
          </a:prstGeom>
          <a:solidFill>
            <a:srgbClr val="F1F5F9"/>
          </a:solidFill>
          <a:ln w="6350">
            <a:solidFill>
              <a:srgbClr val="E2E8F0"/>
            </a:solidFill>
            <a:prstDash val="solid"/>
          </a:ln>
        </p:spPr>
        <p:txBody>
          <a:bodyPr/>
          <a:p/>
        </p:txBody>
      </p:sp>
      <p:sp>
        <p:nvSpPr>
          <p:cNvPr id="4" name="Text 2"/>
          <p:cNvSpPr/>
          <p:nvPr/>
        </p:nvSpPr>
        <p:spPr>
          <a:xfrm>
            <a:off x="3758184" y="146304"/>
            <a:ext cx="932688" cy="2194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720" dirty="0">
                <a:solidFill>
                  <a:srgbClr val="64748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1. Giới thiệu</a:t>
            </a:r>
            <a:endParaRPr lang="en-US" sz="720" dirty="0"/>
          </a:p>
        </p:txBody>
      </p:sp>
      <p:sp>
        <p:nvSpPr>
          <p:cNvPr id="5" name="Shape 3"/>
          <p:cNvSpPr/>
          <p:nvPr/>
        </p:nvSpPr>
        <p:spPr>
          <a:xfrm>
            <a:off x="4745736" y="146304"/>
            <a:ext cx="932688" cy="219456"/>
          </a:xfrm>
          <a:prstGeom prst="roundRect">
            <a:avLst>
              <a:gd name="adj" fmla="val 20833"/>
            </a:avLst>
          </a:prstGeom>
          <a:solidFill>
            <a:srgbClr val="F1F5F9"/>
          </a:solidFill>
          <a:ln w="6350">
            <a:solidFill>
              <a:srgbClr val="E2E8F0"/>
            </a:solidFill>
            <a:prstDash val="solid"/>
          </a:ln>
        </p:spPr>
        <p:txBody>
          <a:bodyPr/>
          <a:p/>
        </p:txBody>
      </p:sp>
      <p:sp>
        <p:nvSpPr>
          <p:cNvPr id="6" name="Text 4"/>
          <p:cNvSpPr/>
          <p:nvPr/>
        </p:nvSpPr>
        <p:spPr>
          <a:xfrm>
            <a:off x="4745736" y="146304"/>
            <a:ext cx="932688" cy="2194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720" dirty="0">
                <a:solidFill>
                  <a:srgbClr val="64748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2. EDA &amp; Features</a:t>
            </a:r>
            <a:endParaRPr lang="en-US" sz="720" dirty="0"/>
          </a:p>
        </p:txBody>
      </p:sp>
      <p:sp>
        <p:nvSpPr>
          <p:cNvPr id="7" name="Shape 5"/>
          <p:cNvSpPr/>
          <p:nvPr/>
        </p:nvSpPr>
        <p:spPr>
          <a:xfrm>
            <a:off x="5733288" y="146304"/>
            <a:ext cx="932688" cy="219456"/>
          </a:xfrm>
          <a:prstGeom prst="roundRect">
            <a:avLst>
              <a:gd name="adj" fmla="val 20833"/>
            </a:avLst>
          </a:prstGeom>
          <a:solidFill>
            <a:srgbClr val="F1F5F9"/>
          </a:solidFill>
          <a:ln w="6350">
            <a:solidFill>
              <a:srgbClr val="E2E8F0"/>
            </a:solidFill>
            <a:prstDash val="solid"/>
          </a:ln>
        </p:spPr>
        <p:txBody>
          <a:bodyPr/>
          <a:p/>
        </p:txBody>
      </p:sp>
      <p:sp>
        <p:nvSpPr>
          <p:cNvPr id="8" name="Text 6"/>
          <p:cNvSpPr/>
          <p:nvPr/>
        </p:nvSpPr>
        <p:spPr>
          <a:xfrm>
            <a:off x="5733288" y="146304"/>
            <a:ext cx="932688" cy="2194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720" dirty="0">
                <a:solidFill>
                  <a:srgbClr val="64748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3. Phương pháp</a:t>
            </a:r>
            <a:endParaRPr lang="en-US" sz="720" dirty="0"/>
          </a:p>
        </p:txBody>
      </p:sp>
      <p:sp>
        <p:nvSpPr>
          <p:cNvPr id="9" name="Shape 7"/>
          <p:cNvSpPr/>
          <p:nvPr/>
        </p:nvSpPr>
        <p:spPr>
          <a:xfrm>
            <a:off x="6720840" y="146304"/>
            <a:ext cx="932688" cy="219456"/>
          </a:xfrm>
          <a:prstGeom prst="roundRect">
            <a:avLst>
              <a:gd name="adj" fmla="val 20833"/>
            </a:avLst>
          </a:prstGeom>
          <a:solidFill>
            <a:srgbClr val="2563EB"/>
          </a:solidFill>
          <a:ln w="6350">
            <a:solidFill>
              <a:srgbClr val="1D4ED8"/>
            </a:solidFill>
            <a:prstDash val="solid"/>
          </a:ln>
        </p:spPr>
        <p:txBody>
          <a:bodyPr/>
          <a:p/>
        </p:txBody>
      </p:sp>
      <p:sp>
        <p:nvSpPr>
          <p:cNvPr id="10" name="Text 8"/>
          <p:cNvSpPr/>
          <p:nvPr/>
        </p:nvSpPr>
        <p:spPr>
          <a:xfrm>
            <a:off x="6720840" y="146304"/>
            <a:ext cx="932688" cy="2194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720" b="1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4. Thực nghiệm</a:t>
            </a:r>
            <a:endParaRPr lang="en-US" sz="720" dirty="0"/>
          </a:p>
        </p:txBody>
      </p:sp>
      <p:sp>
        <p:nvSpPr>
          <p:cNvPr id="11" name="Shape 9"/>
          <p:cNvSpPr/>
          <p:nvPr/>
        </p:nvSpPr>
        <p:spPr>
          <a:xfrm>
            <a:off x="7708392" y="146304"/>
            <a:ext cx="932688" cy="219456"/>
          </a:xfrm>
          <a:prstGeom prst="roundRect">
            <a:avLst>
              <a:gd name="adj" fmla="val 20833"/>
            </a:avLst>
          </a:prstGeom>
          <a:solidFill>
            <a:srgbClr val="F1F5F9"/>
          </a:solidFill>
          <a:ln w="6350">
            <a:solidFill>
              <a:srgbClr val="E2E8F0"/>
            </a:solidFill>
            <a:prstDash val="solid"/>
          </a:ln>
        </p:spPr>
        <p:txBody>
          <a:bodyPr/>
          <a:p/>
        </p:txBody>
      </p:sp>
      <p:sp>
        <p:nvSpPr>
          <p:cNvPr id="12" name="Text 10"/>
          <p:cNvSpPr/>
          <p:nvPr/>
        </p:nvSpPr>
        <p:spPr>
          <a:xfrm>
            <a:off x="7708392" y="146304"/>
            <a:ext cx="932688" cy="2194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720" dirty="0">
                <a:solidFill>
                  <a:srgbClr val="64748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5. Demo &amp; Tương lai</a:t>
            </a:r>
            <a:endParaRPr lang="en-US" sz="720" dirty="0"/>
          </a:p>
        </p:txBody>
      </p:sp>
      <p:sp>
        <p:nvSpPr>
          <p:cNvPr id="13" name="Text 11"/>
          <p:cNvSpPr/>
          <p:nvPr/>
        </p:nvSpPr>
        <p:spPr>
          <a:xfrm>
            <a:off x="502920" y="438912"/>
            <a:ext cx="813816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1E295C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Confusion Matrix &amp; Phân tích Phân phối Sai số</a:t>
            </a:r>
            <a:endParaRPr lang="en-US" sz="2000" dirty="0"/>
          </a:p>
        </p:txBody>
      </p:sp>
      <p:sp>
        <p:nvSpPr>
          <p:cNvPr id="14" name="Shape 12"/>
          <p:cNvSpPr/>
          <p:nvPr/>
        </p:nvSpPr>
        <p:spPr>
          <a:xfrm>
            <a:off x="502920" y="859536"/>
            <a:ext cx="8138160" cy="0"/>
          </a:xfrm>
          <a:prstGeom prst="line">
            <a:avLst/>
          </a:prstGeom>
          <a:noFill/>
          <a:ln w="9525">
            <a:solidFill>
              <a:srgbClr val="E2E8F0"/>
            </a:solidFill>
            <a:prstDash val="solid"/>
          </a:ln>
        </p:spPr>
        <p:txBody>
          <a:bodyPr/>
          <a:p/>
        </p:txBody>
      </p:sp>
      <p:sp>
        <p:nvSpPr>
          <p:cNvPr id="15" name="Text 13"/>
          <p:cNvSpPr/>
          <p:nvPr/>
        </p:nvSpPr>
        <p:spPr>
          <a:xfrm>
            <a:off x="502920" y="4823460"/>
            <a:ext cx="5669280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CS106: Trí tuệ Nhân tạo — Nhóm 09 — Báo cáo Đồ án: Phát hiện Gian lận Tài chính</a:t>
            </a:r>
            <a:endParaRPr lang="en-US" sz="850" dirty="0"/>
          </a:p>
        </p:txBody>
      </p:sp>
      <p:sp>
        <p:nvSpPr>
          <p:cNvPr id="16" name="Text 14"/>
          <p:cNvSpPr/>
          <p:nvPr/>
        </p:nvSpPr>
        <p:spPr>
          <a:xfrm>
            <a:off x="7269480" y="4823460"/>
            <a:ext cx="1371600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5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17 / 24</a:t>
            </a:r>
            <a:endParaRPr lang="en-US" sz="850" dirty="0"/>
          </a:p>
        </p:txBody>
      </p:sp>
      <p:pic>
        <p:nvPicPr>
          <p:cNvPr id="17" name="Image 0" descr="/Users/tcdtist/dev/uit/cs106/assignments/Final/draft/fraud-detection/reports/slide_assets/academic_confusion_matrices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02920" y="1024128"/>
            <a:ext cx="8138160" cy="2286000"/>
          </a:xfrm>
          <a:prstGeom prst="rect">
            <a:avLst/>
          </a:prstGeom>
        </p:spPr>
      </p:pic>
      <p:sp>
        <p:nvSpPr>
          <p:cNvPr id="18" name="Shape 15"/>
          <p:cNvSpPr/>
          <p:nvPr/>
        </p:nvSpPr>
        <p:spPr>
          <a:xfrm>
            <a:off x="502920" y="3429000"/>
            <a:ext cx="8138160" cy="1188720"/>
          </a:xfrm>
          <a:prstGeom prst="roundRect">
            <a:avLst>
              <a:gd name="adj" fmla="val 3846"/>
            </a:avLst>
          </a:prstGeom>
          <a:solidFill>
            <a:srgbClr val="F0F7FF"/>
          </a:solidFill>
          <a:ln w="12700">
            <a:solidFill>
              <a:srgbClr val="BAE6FD"/>
            </a:solidFill>
            <a:prstDash val="solid"/>
          </a:ln>
        </p:spPr>
        <p:txBody>
          <a:bodyPr/>
          <a:p/>
        </p:txBody>
      </p:sp>
      <p:sp>
        <p:nvSpPr>
          <p:cNvPr id="19" name="Text 16"/>
          <p:cNvSpPr/>
          <p:nvPr/>
        </p:nvSpPr>
        <p:spPr>
          <a:xfrm>
            <a:off x="640080" y="3520440"/>
            <a:ext cx="786384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1E295C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Phân tích Đánh đổi giữa False Negative và False Positive</a:t>
            </a:r>
            <a:endParaRPr lang="en-US" sz="1150" dirty="0"/>
          </a:p>
        </p:txBody>
      </p:sp>
      <p:sp>
        <p:nvSpPr>
          <p:cNvPr id="20" name="Text 17"/>
          <p:cNvSpPr/>
          <p:nvPr/>
        </p:nvSpPr>
        <p:spPr>
          <a:xfrm>
            <a:off x="640080" y="3776472"/>
            <a:ext cx="7863840" cy="768096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marL="342900" indent="-342900">
              <a:buSzPct val="100000"/>
              <a:buChar char="•"/>
            </a:pPr>
            <a:r>
              <a:rPr lang="en-US" sz="105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Cả Random Forest và XGBoost chỉ bỏ sót 8 ca gian lận trên tổng số 1,643 true fraud cases (Recall = 99.51%).</a:t>
            </a:r>
            <a:endParaRPr lang="en-US" sz="1050" dirty="0"/>
          </a:p>
          <a:p>
            <a:pPr marL="342900" indent="-342900">
              <a:buSzPct val="100000"/>
              <a:buChar char="•"/>
            </a:pPr>
            <a:r>
              <a:rPr lang="en-US" sz="105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RF-SMOTE chỉ sinh đúng 1 False Alarm (FP=1), trong khi Autoencoder sinh 1,998 FP do đặc thù cắt ngưỡng 95% cutoff.</a:t>
            </a:r>
            <a:endParaRPr lang="en-US" sz="1050" dirty="0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02920" y="164592"/>
            <a:ext cx="246888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850" b="1" dirty="0">
                <a:solidFill>
                  <a:srgbClr val="D97706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UIT • ĐHQG-HCM | CS106 (AI)</a:t>
            </a:r>
            <a:endParaRPr lang="en-US" sz="850" dirty="0"/>
          </a:p>
        </p:txBody>
      </p:sp>
      <p:sp>
        <p:nvSpPr>
          <p:cNvPr id="3" name="Shape 1"/>
          <p:cNvSpPr/>
          <p:nvPr/>
        </p:nvSpPr>
        <p:spPr>
          <a:xfrm>
            <a:off x="3758184" y="146304"/>
            <a:ext cx="932688" cy="219456"/>
          </a:xfrm>
          <a:prstGeom prst="roundRect">
            <a:avLst>
              <a:gd name="adj" fmla="val 20833"/>
            </a:avLst>
          </a:prstGeom>
          <a:solidFill>
            <a:srgbClr val="F1F5F9"/>
          </a:solidFill>
          <a:ln w="6350">
            <a:solidFill>
              <a:srgbClr val="E2E8F0"/>
            </a:solidFill>
            <a:prstDash val="solid"/>
          </a:ln>
        </p:spPr>
        <p:txBody>
          <a:bodyPr/>
          <a:p/>
        </p:txBody>
      </p:sp>
      <p:sp>
        <p:nvSpPr>
          <p:cNvPr id="4" name="Text 2"/>
          <p:cNvSpPr/>
          <p:nvPr/>
        </p:nvSpPr>
        <p:spPr>
          <a:xfrm>
            <a:off x="3758184" y="146304"/>
            <a:ext cx="932688" cy="2194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720" dirty="0">
                <a:solidFill>
                  <a:srgbClr val="64748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1. Giới thiệu</a:t>
            </a:r>
            <a:endParaRPr lang="en-US" sz="720" dirty="0"/>
          </a:p>
        </p:txBody>
      </p:sp>
      <p:sp>
        <p:nvSpPr>
          <p:cNvPr id="5" name="Shape 3"/>
          <p:cNvSpPr/>
          <p:nvPr/>
        </p:nvSpPr>
        <p:spPr>
          <a:xfrm>
            <a:off x="4745736" y="146304"/>
            <a:ext cx="932688" cy="219456"/>
          </a:xfrm>
          <a:prstGeom prst="roundRect">
            <a:avLst>
              <a:gd name="adj" fmla="val 20833"/>
            </a:avLst>
          </a:prstGeom>
          <a:solidFill>
            <a:srgbClr val="F1F5F9"/>
          </a:solidFill>
          <a:ln w="6350">
            <a:solidFill>
              <a:srgbClr val="E2E8F0"/>
            </a:solidFill>
            <a:prstDash val="solid"/>
          </a:ln>
        </p:spPr>
        <p:txBody>
          <a:bodyPr/>
          <a:p/>
        </p:txBody>
      </p:sp>
      <p:sp>
        <p:nvSpPr>
          <p:cNvPr id="6" name="Text 4"/>
          <p:cNvSpPr/>
          <p:nvPr/>
        </p:nvSpPr>
        <p:spPr>
          <a:xfrm>
            <a:off x="4745736" y="146304"/>
            <a:ext cx="932688" cy="2194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720" dirty="0">
                <a:solidFill>
                  <a:srgbClr val="64748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2. EDA &amp; Features</a:t>
            </a:r>
            <a:endParaRPr lang="en-US" sz="720" dirty="0"/>
          </a:p>
        </p:txBody>
      </p:sp>
      <p:sp>
        <p:nvSpPr>
          <p:cNvPr id="7" name="Shape 5"/>
          <p:cNvSpPr/>
          <p:nvPr/>
        </p:nvSpPr>
        <p:spPr>
          <a:xfrm>
            <a:off x="5733288" y="146304"/>
            <a:ext cx="932688" cy="219456"/>
          </a:xfrm>
          <a:prstGeom prst="roundRect">
            <a:avLst>
              <a:gd name="adj" fmla="val 20833"/>
            </a:avLst>
          </a:prstGeom>
          <a:solidFill>
            <a:srgbClr val="F1F5F9"/>
          </a:solidFill>
          <a:ln w="6350">
            <a:solidFill>
              <a:srgbClr val="E2E8F0"/>
            </a:solidFill>
            <a:prstDash val="solid"/>
          </a:ln>
        </p:spPr>
        <p:txBody>
          <a:bodyPr/>
          <a:p/>
        </p:txBody>
      </p:sp>
      <p:sp>
        <p:nvSpPr>
          <p:cNvPr id="8" name="Text 6"/>
          <p:cNvSpPr/>
          <p:nvPr/>
        </p:nvSpPr>
        <p:spPr>
          <a:xfrm>
            <a:off x="5733288" y="146304"/>
            <a:ext cx="932688" cy="2194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720" dirty="0">
                <a:solidFill>
                  <a:srgbClr val="64748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3. Phương pháp</a:t>
            </a:r>
            <a:endParaRPr lang="en-US" sz="720" dirty="0"/>
          </a:p>
        </p:txBody>
      </p:sp>
      <p:sp>
        <p:nvSpPr>
          <p:cNvPr id="9" name="Shape 7"/>
          <p:cNvSpPr/>
          <p:nvPr/>
        </p:nvSpPr>
        <p:spPr>
          <a:xfrm>
            <a:off x="6720840" y="146304"/>
            <a:ext cx="932688" cy="219456"/>
          </a:xfrm>
          <a:prstGeom prst="roundRect">
            <a:avLst>
              <a:gd name="adj" fmla="val 20833"/>
            </a:avLst>
          </a:prstGeom>
          <a:solidFill>
            <a:srgbClr val="2563EB"/>
          </a:solidFill>
          <a:ln w="6350">
            <a:solidFill>
              <a:srgbClr val="1D4ED8"/>
            </a:solidFill>
            <a:prstDash val="solid"/>
          </a:ln>
        </p:spPr>
        <p:txBody>
          <a:bodyPr/>
          <a:p/>
        </p:txBody>
      </p:sp>
      <p:sp>
        <p:nvSpPr>
          <p:cNvPr id="10" name="Text 8"/>
          <p:cNvSpPr/>
          <p:nvPr/>
        </p:nvSpPr>
        <p:spPr>
          <a:xfrm>
            <a:off x="6720840" y="146304"/>
            <a:ext cx="932688" cy="2194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720" b="1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4. Thực nghiệm</a:t>
            </a:r>
            <a:endParaRPr lang="en-US" sz="720" dirty="0"/>
          </a:p>
        </p:txBody>
      </p:sp>
      <p:sp>
        <p:nvSpPr>
          <p:cNvPr id="11" name="Shape 9"/>
          <p:cNvSpPr/>
          <p:nvPr/>
        </p:nvSpPr>
        <p:spPr>
          <a:xfrm>
            <a:off x="7708392" y="146304"/>
            <a:ext cx="932688" cy="219456"/>
          </a:xfrm>
          <a:prstGeom prst="roundRect">
            <a:avLst>
              <a:gd name="adj" fmla="val 20833"/>
            </a:avLst>
          </a:prstGeom>
          <a:solidFill>
            <a:srgbClr val="F1F5F9"/>
          </a:solidFill>
          <a:ln w="6350">
            <a:solidFill>
              <a:srgbClr val="E2E8F0"/>
            </a:solidFill>
            <a:prstDash val="solid"/>
          </a:ln>
        </p:spPr>
        <p:txBody>
          <a:bodyPr/>
          <a:p/>
        </p:txBody>
      </p:sp>
      <p:sp>
        <p:nvSpPr>
          <p:cNvPr id="12" name="Text 10"/>
          <p:cNvSpPr/>
          <p:nvPr/>
        </p:nvSpPr>
        <p:spPr>
          <a:xfrm>
            <a:off x="7708392" y="146304"/>
            <a:ext cx="932688" cy="2194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720" dirty="0">
                <a:solidFill>
                  <a:srgbClr val="64748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5. Demo &amp; Tương lai</a:t>
            </a:r>
            <a:endParaRPr lang="en-US" sz="720" dirty="0"/>
          </a:p>
        </p:txBody>
      </p:sp>
      <p:sp>
        <p:nvSpPr>
          <p:cNvPr id="13" name="Text 11"/>
          <p:cNvSpPr/>
          <p:nvPr/>
        </p:nvSpPr>
        <p:spPr>
          <a:xfrm>
            <a:off x="502920" y="438912"/>
            <a:ext cx="813816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1E295C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Feature Importance: XGBoost Decision Split Gains</a:t>
            </a:r>
            <a:endParaRPr lang="en-US" sz="2000" dirty="0"/>
          </a:p>
        </p:txBody>
      </p:sp>
      <p:sp>
        <p:nvSpPr>
          <p:cNvPr id="14" name="Shape 12"/>
          <p:cNvSpPr/>
          <p:nvPr/>
        </p:nvSpPr>
        <p:spPr>
          <a:xfrm>
            <a:off x="502920" y="859536"/>
            <a:ext cx="8138160" cy="0"/>
          </a:xfrm>
          <a:prstGeom prst="line">
            <a:avLst/>
          </a:prstGeom>
          <a:noFill/>
          <a:ln w="9525">
            <a:solidFill>
              <a:srgbClr val="E2E8F0"/>
            </a:solidFill>
            <a:prstDash val="solid"/>
          </a:ln>
        </p:spPr>
        <p:txBody>
          <a:bodyPr/>
          <a:p/>
        </p:txBody>
      </p:sp>
      <p:sp>
        <p:nvSpPr>
          <p:cNvPr id="15" name="Text 13"/>
          <p:cNvSpPr/>
          <p:nvPr/>
        </p:nvSpPr>
        <p:spPr>
          <a:xfrm>
            <a:off x="502920" y="4823460"/>
            <a:ext cx="5669280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CS106: Trí tuệ Nhân tạo — Nhóm 09 — Báo cáo Đồ án: Phát hiện Gian lận Tài chính</a:t>
            </a:r>
            <a:endParaRPr lang="en-US" sz="850" dirty="0"/>
          </a:p>
        </p:txBody>
      </p:sp>
      <p:sp>
        <p:nvSpPr>
          <p:cNvPr id="16" name="Text 14"/>
          <p:cNvSpPr/>
          <p:nvPr/>
        </p:nvSpPr>
        <p:spPr>
          <a:xfrm>
            <a:off x="7269480" y="4823460"/>
            <a:ext cx="1371600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5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18 / 24</a:t>
            </a:r>
            <a:endParaRPr lang="en-US" sz="850" dirty="0"/>
          </a:p>
        </p:txBody>
      </p:sp>
      <p:pic>
        <p:nvPicPr>
          <p:cNvPr id="17" name="Image 0" descr="/Users/tcdtist/dev/uit/cs106/assignments/Final/draft/fraud-detection/reports/slide_assets/academic_feature_importance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02920" y="1051560"/>
            <a:ext cx="4389120" cy="2387987"/>
          </a:xfrm>
          <a:prstGeom prst="rect">
            <a:avLst/>
          </a:prstGeom>
        </p:spPr>
      </p:pic>
      <p:sp>
        <p:nvSpPr>
          <p:cNvPr id="18" name="Shape 15"/>
          <p:cNvSpPr/>
          <p:nvPr/>
        </p:nvSpPr>
        <p:spPr>
          <a:xfrm>
            <a:off x="502920" y="3549275"/>
            <a:ext cx="4389120" cy="1051560"/>
          </a:xfrm>
          <a:prstGeom prst="roundRect">
            <a:avLst>
              <a:gd name="adj" fmla="val 4348"/>
            </a:avLst>
          </a:prstGeom>
          <a:solidFill>
            <a:srgbClr val="F0F7FF"/>
          </a:solidFill>
          <a:ln w="12700">
            <a:solidFill>
              <a:srgbClr val="BAE6FD"/>
            </a:solidFill>
            <a:prstDash val="solid"/>
          </a:ln>
        </p:spPr>
        <p:txBody>
          <a:bodyPr/>
          <a:p/>
        </p:txBody>
      </p:sp>
      <p:sp>
        <p:nvSpPr>
          <p:cNvPr id="19" name="Text 16"/>
          <p:cNvSpPr/>
          <p:nvPr/>
        </p:nvSpPr>
        <p:spPr>
          <a:xfrm>
            <a:off x="640080" y="3640715"/>
            <a:ext cx="41148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1E295C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Đúc kết Đặc trưng Quan trọng</a:t>
            </a:r>
            <a:endParaRPr lang="en-US" sz="1150" dirty="0"/>
          </a:p>
        </p:txBody>
      </p:sp>
      <p:sp>
        <p:nvSpPr>
          <p:cNvPr id="20" name="Text 17"/>
          <p:cNvSpPr/>
          <p:nvPr/>
        </p:nvSpPr>
        <p:spPr>
          <a:xfrm>
            <a:off x="640080" y="3896747"/>
            <a:ext cx="4114800" cy="630936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marL="342900" indent="-342900">
              <a:buSzPct val="100000"/>
              <a:buChar char="•"/>
            </a:pPr>
            <a:r>
              <a:rPr lang="en-US" sz="105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Top 2 features đóng góp &gt; 97% vào tổng quyết định phân nhánh cây.</a:t>
            </a:r>
            <a:endParaRPr lang="en-US" sz="1050" dirty="0"/>
          </a:p>
          <a:p>
            <a:pPr marL="342900" indent="-342900">
              <a:buSzPct val="100000"/>
              <a:buChar char="•"/>
            </a:pPr>
            <a:r>
              <a:rPr lang="en-US" sz="105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Raw transaction amounts nếu không có sai số delta mang lại rất ít predictive power.</a:t>
            </a:r>
            <a:endParaRPr lang="en-US" sz="1050" dirty="0"/>
          </a:p>
        </p:txBody>
      </p:sp>
      <p:sp>
        <p:nvSpPr>
          <p:cNvPr id="21" name="Text 18"/>
          <p:cNvSpPr/>
          <p:nvPr/>
        </p:nvSpPr>
        <p:spPr>
          <a:xfrm>
            <a:off x="5074920" y="1051560"/>
            <a:ext cx="3566160" cy="34747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1E295C"/>
                </a:solidFill>
              </a:rPr>
              <a:t>Insights từ XGBoost Feature Gain:
• errorBalanceOrig chiếm ~49.9% tổng trọng số phân nhánh của model.
• newbalanceOrig bổ sung thêm ~47.2% predictive power cho cây quyết định.
• Tác động kết hợp: Các engineered ledger discrepancies nắm giữ hơn 97% động lực phân loại gian lận, chứng minh tính hiệu quả vượt bậc của domain feature engineering.</a:t>
            </a:r>
            <a:pPr indent="0" marL="0">
              <a:buNone/>
            </a:pPr>
            <a:r>
              <a:rPr lang="en-US" sz="1050" dirty="0">
                <a:solidFill>
                  <a:srgbClr val="1F2937"/>
                </a:solidFill>
              </a:rPr>
              <a:t/>
            </a:r>
            <a:pPr indent="0" marL="0">
              <a:buNone/>
            </a:pPr>
            <a:r>
              <a:rPr lang="en-US" sz="1050" dirty="0">
                <a:solidFill>
                  <a:srgbClr val="1F2937"/>
                </a:solidFill>
              </a:rPr>
              <a:t/>
            </a:r>
            <a:pPr indent="0" marL="0">
              <a:buNone/>
            </a:pPr>
            <a:r>
              <a:rPr lang="en-US" sz="1050" dirty="0">
                <a:solidFill>
                  <a:srgbClr val="1F2937"/>
                </a:solidFill>
              </a:rPr>
              <a:t/>
            </a:r>
            <a:endParaRPr lang="en-US" sz="1250" dirty="0"/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02920" y="164592"/>
            <a:ext cx="246888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850" b="1" dirty="0">
                <a:solidFill>
                  <a:srgbClr val="D97706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UIT • ĐHQG-HCM | CS106 (AI)</a:t>
            </a:r>
            <a:endParaRPr lang="en-US" sz="850" dirty="0"/>
          </a:p>
        </p:txBody>
      </p:sp>
      <p:sp>
        <p:nvSpPr>
          <p:cNvPr id="3" name="Shape 1"/>
          <p:cNvSpPr/>
          <p:nvPr/>
        </p:nvSpPr>
        <p:spPr>
          <a:xfrm>
            <a:off x="3758184" y="146304"/>
            <a:ext cx="932688" cy="219456"/>
          </a:xfrm>
          <a:prstGeom prst="roundRect">
            <a:avLst>
              <a:gd name="adj" fmla="val 20833"/>
            </a:avLst>
          </a:prstGeom>
          <a:solidFill>
            <a:srgbClr val="F1F5F9"/>
          </a:solidFill>
          <a:ln w="6350">
            <a:solidFill>
              <a:srgbClr val="E2E8F0"/>
            </a:solidFill>
            <a:prstDash val="solid"/>
          </a:ln>
        </p:spPr>
        <p:txBody>
          <a:bodyPr/>
          <a:p/>
        </p:txBody>
      </p:sp>
      <p:sp>
        <p:nvSpPr>
          <p:cNvPr id="4" name="Text 2"/>
          <p:cNvSpPr/>
          <p:nvPr/>
        </p:nvSpPr>
        <p:spPr>
          <a:xfrm>
            <a:off x="3758184" y="146304"/>
            <a:ext cx="932688" cy="2194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720" dirty="0">
                <a:solidFill>
                  <a:srgbClr val="64748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1. Giới thiệu</a:t>
            </a:r>
            <a:endParaRPr lang="en-US" sz="720" dirty="0"/>
          </a:p>
        </p:txBody>
      </p:sp>
      <p:sp>
        <p:nvSpPr>
          <p:cNvPr id="5" name="Shape 3"/>
          <p:cNvSpPr/>
          <p:nvPr/>
        </p:nvSpPr>
        <p:spPr>
          <a:xfrm>
            <a:off x="4745736" y="146304"/>
            <a:ext cx="932688" cy="219456"/>
          </a:xfrm>
          <a:prstGeom prst="roundRect">
            <a:avLst>
              <a:gd name="adj" fmla="val 20833"/>
            </a:avLst>
          </a:prstGeom>
          <a:solidFill>
            <a:srgbClr val="F1F5F9"/>
          </a:solidFill>
          <a:ln w="6350">
            <a:solidFill>
              <a:srgbClr val="E2E8F0"/>
            </a:solidFill>
            <a:prstDash val="solid"/>
          </a:ln>
        </p:spPr>
        <p:txBody>
          <a:bodyPr/>
          <a:p/>
        </p:txBody>
      </p:sp>
      <p:sp>
        <p:nvSpPr>
          <p:cNvPr id="6" name="Text 4"/>
          <p:cNvSpPr/>
          <p:nvPr/>
        </p:nvSpPr>
        <p:spPr>
          <a:xfrm>
            <a:off x="4745736" y="146304"/>
            <a:ext cx="932688" cy="2194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720" dirty="0">
                <a:solidFill>
                  <a:srgbClr val="64748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2. EDA &amp; Features</a:t>
            </a:r>
            <a:endParaRPr lang="en-US" sz="720" dirty="0"/>
          </a:p>
        </p:txBody>
      </p:sp>
      <p:sp>
        <p:nvSpPr>
          <p:cNvPr id="7" name="Shape 5"/>
          <p:cNvSpPr/>
          <p:nvPr/>
        </p:nvSpPr>
        <p:spPr>
          <a:xfrm>
            <a:off x="5733288" y="146304"/>
            <a:ext cx="932688" cy="219456"/>
          </a:xfrm>
          <a:prstGeom prst="roundRect">
            <a:avLst>
              <a:gd name="adj" fmla="val 20833"/>
            </a:avLst>
          </a:prstGeom>
          <a:solidFill>
            <a:srgbClr val="F1F5F9"/>
          </a:solidFill>
          <a:ln w="6350">
            <a:solidFill>
              <a:srgbClr val="E2E8F0"/>
            </a:solidFill>
            <a:prstDash val="solid"/>
          </a:ln>
        </p:spPr>
        <p:txBody>
          <a:bodyPr/>
          <a:p/>
        </p:txBody>
      </p:sp>
      <p:sp>
        <p:nvSpPr>
          <p:cNvPr id="8" name="Text 6"/>
          <p:cNvSpPr/>
          <p:nvPr/>
        </p:nvSpPr>
        <p:spPr>
          <a:xfrm>
            <a:off x="5733288" y="146304"/>
            <a:ext cx="932688" cy="2194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720" dirty="0">
                <a:solidFill>
                  <a:srgbClr val="64748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3. Phương pháp</a:t>
            </a:r>
            <a:endParaRPr lang="en-US" sz="720" dirty="0"/>
          </a:p>
        </p:txBody>
      </p:sp>
      <p:sp>
        <p:nvSpPr>
          <p:cNvPr id="9" name="Shape 7"/>
          <p:cNvSpPr/>
          <p:nvPr/>
        </p:nvSpPr>
        <p:spPr>
          <a:xfrm>
            <a:off x="6720840" y="146304"/>
            <a:ext cx="932688" cy="219456"/>
          </a:xfrm>
          <a:prstGeom prst="roundRect">
            <a:avLst>
              <a:gd name="adj" fmla="val 20833"/>
            </a:avLst>
          </a:prstGeom>
          <a:solidFill>
            <a:srgbClr val="2563EB"/>
          </a:solidFill>
          <a:ln w="6350">
            <a:solidFill>
              <a:srgbClr val="1D4ED8"/>
            </a:solidFill>
            <a:prstDash val="solid"/>
          </a:ln>
        </p:spPr>
        <p:txBody>
          <a:bodyPr/>
          <a:p/>
        </p:txBody>
      </p:sp>
      <p:sp>
        <p:nvSpPr>
          <p:cNvPr id="10" name="Text 8"/>
          <p:cNvSpPr/>
          <p:nvPr/>
        </p:nvSpPr>
        <p:spPr>
          <a:xfrm>
            <a:off x="6720840" y="146304"/>
            <a:ext cx="932688" cy="2194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720" b="1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4. Thực nghiệm</a:t>
            </a:r>
            <a:endParaRPr lang="en-US" sz="720" dirty="0"/>
          </a:p>
        </p:txBody>
      </p:sp>
      <p:sp>
        <p:nvSpPr>
          <p:cNvPr id="11" name="Shape 9"/>
          <p:cNvSpPr/>
          <p:nvPr/>
        </p:nvSpPr>
        <p:spPr>
          <a:xfrm>
            <a:off x="7708392" y="146304"/>
            <a:ext cx="932688" cy="219456"/>
          </a:xfrm>
          <a:prstGeom prst="roundRect">
            <a:avLst>
              <a:gd name="adj" fmla="val 20833"/>
            </a:avLst>
          </a:prstGeom>
          <a:solidFill>
            <a:srgbClr val="F1F5F9"/>
          </a:solidFill>
          <a:ln w="6350">
            <a:solidFill>
              <a:srgbClr val="E2E8F0"/>
            </a:solidFill>
            <a:prstDash val="solid"/>
          </a:ln>
        </p:spPr>
        <p:txBody>
          <a:bodyPr/>
          <a:p/>
        </p:txBody>
      </p:sp>
      <p:sp>
        <p:nvSpPr>
          <p:cNvPr id="12" name="Text 10"/>
          <p:cNvSpPr/>
          <p:nvPr/>
        </p:nvSpPr>
        <p:spPr>
          <a:xfrm>
            <a:off x="7708392" y="146304"/>
            <a:ext cx="932688" cy="2194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720" dirty="0">
                <a:solidFill>
                  <a:srgbClr val="64748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5. Demo &amp; Tương lai</a:t>
            </a:r>
            <a:endParaRPr lang="en-US" sz="720" dirty="0"/>
          </a:p>
        </p:txBody>
      </p:sp>
      <p:sp>
        <p:nvSpPr>
          <p:cNvPr id="13" name="Text 11"/>
          <p:cNvSpPr/>
          <p:nvPr/>
        </p:nvSpPr>
        <p:spPr>
          <a:xfrm>
            <a:off x="502920" y="438912"/>
            <a:ext cx="813816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1E295C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Đánh giá So sánh: Precision, Recall &amp; F1-Score</a:t>
            </a:r>
            <a:endParaRPr lang="en-US" sz="2000" dirty="0"/>
          </a:p>
        </p:txBody>
      </p:sp>
      <p:sp>
        <p:nvSpPr>
          <p:cNvPr id="14" name="Shape 12"/>
          <p:cNvSpPr/>
          <p:nvPr/>
        </p:nvSpPr>
        <p:spPr>
          <a:xfrm>
            <a:off x="502920" y="859536"/>
            <a:ext cx="8138160" cy="0"/>
          </a:xfrm>
          <a:prstGeom prst="line">
            <a:avLst/>
          </a:prstGeom>
          <a:noFill/>
          <a:ln w="9525">
            <a:solidFill>
              <a:srgbClr val="E2E8F0"/>
            </a:solidFill>
            <a:prstDash val="solid"/>
          </a:ln>
        </p:spPr>
        <p:txBody>
          <a:bodyPr/>
          <a:p/>
        </p:txBody>
      </p:sp>
      <p:sp>
        <p:nvSpPr>
          <p:cNvPr id="15" name="Text 13"/>
          <p:cNvSpPr/>
          <p:nvPr/>
        </p:nvSpPr>
        <p:spPr>
          <a:xfrm>
            <a:off x="502920" y="4823460"/>
            <a:ext cx="5669280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CS106: Trí tuệ Nhân tạo — Nhóm 09 — Báo cáo Đồ án: Phát hiện Gian lận Tài chính</a:t>
            </a:r>
            <a:endParaRPr lang="en-US" sz="850" dirty="0"/>
          </a:p>
        </p:txBody>
      </p:sp>
      <p:sp>
        <p:nvSpPr>
          <p:cNvPr id="16" name="Text 14"/>
          <p:cNvSpPr/>
          <p:nvPr/>
        </p:nvSpPr>
        <p:spPr>
          <a:xfrm>
            <a:off x="7269480" y="4823460"/>
            <a:ext cx="1371600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5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19 / 24</a:t>
            </a:r>
            <a:endParaRPr lang="en-US" sz="850" dirty="0"/>
          </a:p>
        </p:txBody>
      </p:sp>
      <p:pic>
        <p:nvPicPr>
          <p:cNvPr id="17" name="Image 0" descr="/Users/tcdtist/dev/uit/cs106/assignments/Final/draft/fraud-detection/reports/slide_assets/academic_metrics_comparison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02920" y="1051560"/>
            <a:ext cx="4480560" cy="2115467"/>
          </a:xfrm>
          <a:prstGeom prst="rect">
            <a:avLst/>
          </a:prstGeom>
        </p:spPr>
      </p:pic>
      <p:sp>
        <p:nvSpPr>
          <p:cNvPr id="18" name="Shape 15"/>
          <p:cNvSpPr/>
          <p:nvPr/>
        </p:nvSpPr>
        <p:spPr>
          <a:xfrm>
            <a:off x="502920" y="3276755"/>
            <a:ext cx="4480560" cy="1280160"/>
          </a:xfrm>
          <a:prstGeom prst="roundRect">
            <a:avLst>
              <a:gd name="adj" fmla="val 3571"/>
            </a:avLst>
          </a:prstGeom>
          <a:solidFill>
            <a:srgbClr val="F0FDF4"/>
          </a:solidFill>
          <a:ln w="12700">
            <a:solidFill>
              <a:srgbClr val="BBF7D0"/>
            </a:solidFill>
            <a:prstDash val="solid"/>
          </a:ln>
        </p:spPr>
        <p:txBody>
          <a:bodyPr/>
          <a:p/>
        </p:txBody>
      </p:sp>
      <p:sp>
        <p:nvSpPr>
          <p:cNvPr id="19" name="Text 16"/>
          <p:cNvSpPr/>
          <p:nvPr/>
        </p:nvSpPr>
        <p:spPr>
          <a:xfrm>
            <a:off x="640080" y="3368195"/>
            <a:ext cx="420624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16A34A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Tổng hợp Đối chuẩn</a:t>
            </a:r>
            <a:endParaRPr lang="en-US" sz="1150" dirty="0"/>
          </a:p>
        </p:txBody>
      </p:sp>
      <p:sp>
        <p:nvSpPr>
          <p:cNvPr id="20" name="Text 17"/>
          <p:cNvSpPr/>
          <p:nvPr/>
        </p:nvSpPr>
        <p:spPr>
          <a:xfrm>
            <a:off x="640080" y="3624227"/>
            <a:ext cx="4206240" cy="859536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marL="342900" indent="-342900">
              <a:buSzPct val="100000"/>
              <a:buChar char="•"/>
            </a:pPr>
            <a:r>
              <a:rPr lang="en-US" sz="105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SMOTE tạo decision boundary phân tách vượt trội hơn ADASYN.</a:t>
            </a:r>
            <a:endParaRPr lang="en-US" sz="1050" dirty="0"/>
          </a:p>
          <a:p>
            <a:pPr marL="342900" indent="-342900">
              <a:buSzPct val="100000"/>
              <a:buChar char="•"/>
            </a:pPr>
            <a:r>
              <a:rPr lang="en-US" sz="105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Supervised learning áp đảo hoàn toàn unsupervised reconstruction trên các dạng gian lận đã biết.</a:t>
            </a:r>
            <a:endParaRPr lang="en-US" sz="1050" dirty="0"/>
          </a:p>
        </p:txBody>
      </p:sp>
      <p:sp>
        <p:nvSpPr>
          <p:cNvPr id="21" name="Text 18"/>
          <p:cNvSpPr/>
          <p:nvPr/>
        </p:nvSpPr>
        <p:spPr>
          <a:xfrm>
            <a:off x="5166360" y="1051560"/>
            <a:ext cx="3474720" cy="34747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1E295C"/>
                </a:solidFill>
              </a:rPr>
              <a:t>Phân tích Hiệu năng Resampling:
• SMOTE vượt trội hơn ADASYN một cách nhất quán trên mọi tree architectures.
• ADASYN sinh nhiều synthetic noise ở vùng boundary overlap, làm tăng nhẹ False Positives.
• Khuyến nghị: Triển khai XGBoost + SMOTE để tối ưu hóa inference throughput và fraud detection precision trong môi trường production.</a:t>
            </a:r>
            <a:pPr indent="0" marL="0">
              <a:buNone/>
            </a:pPr>
            <a:r>
              <a:rPr lang="en-US" sz="1050" dirty="0">
                <a:solidFill>
                  <a:srgbClr val="1F2937"/>
                </a:solidFill>
              </a:rPr>
              <a:t/>
            </a:r>
            <a:pPr indent="0" marL="0">
              <a:buNone/>
            </a:pPr>
            <a:r>
              <a:rPr lang="en-US" sz="1050" dirty="0">
                <a:solidFill>
                  <a:srgbClr val="1F2937"/>
                </a:solidFill>
              </a:rPr>
              <a:t/>
            </a:r>
            <a:pPr indent="0" marL="0">
              <a:buNone/>
            </a:pPr>
            <a:r>
              <a:rPr lang="en-US" sz="1050" dirty="0">
                <a:solidFill>
                  <a:srgbClr val="1F2937"/>
                </a:solidFill>
              </a:rPr>
              <a:t/>
            </a:r>
            <a:endParaRPr lang="en-US" sz="1250" dirty="0"/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0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02920" y="164592"/>
            <a:ext cx="246888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850" b="1" dirty="0">
                <a:solidFill>
                  <a:srgbClr val="D97706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UIT • ĐHQG-HCM | CS106 (AI)</a:t>
            </a:r>
            <a:endParaRPr lang="en-US" sz="850" dirty="0"/>
          </a:p>
        </p:txBody>
      </p:sp>
      <p:sp>
        <p:nvSpPr>
          <p:cNvPr id="3" name="Shape 1"/>
          <p:cNvSpPr/>
          <p:nvPr/>
        </p:nvSpPr>
        <p:spPr>
          <a:xfrm>
            <a:off x="3758184" y="146304"/>
            <a:ext cx="932688" cy="219456"/>
          </a:xfrm>
          <a:prstGeom prst="roundRect">
            <a:avLst>
              <a:gd name="adj" fmla="val 20833"/>
            </a:avLst>
          </a:prstGeom>
          <a:solidFill>
            <a:srgbClr val="F1F5F9"/>
          </a:solidFill>
          <a:ln w="6350">
            <a:solidFill>
              <a:srgbClr val="E2E8F0"/>
            </a:solidFill>
            <a:prstDash val="solid"/>
          </a:ln>
        </p:spPr>
        <p:txBody>
          <a:bodyPr/>
          <a:p/>
        </p:txBody>
      </p:sp>
      <p:sp>
        <p:nvSpPr>
          <p:cNvPr id="4" name="Text 2"/>
          <p:cNvSpPr/>
          <p:nvPr/>
        </p:nvSpPr>
        <p:spPr>
          <a:xfrm>
            <a:off x="3758184" y="146304"/>
            <a:ext cx="932688" cy="2194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720" dirty="0">
                <a:solidFill>
                  <a:srgbClr val="64748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1. Giới thiệu</a:t>
            </a:r>
            <a:endParaRPr lang="en-US" sz="720" dirty="0"/>
          </a:p>
        </p:txBody>
      </p:sp>
      <p:sp>
        <p:nvSpPr>
          <p:cNvPr id="5" name="Shape 3"/>
          <p:cNvSpPr/>
          <p:nvPr/>
        </p:nvSpPr>
        <p:spPr>
          <a:xfrm>
            <a:off x="4745736" y="146304"/>
            <a:ext cx="932688" cy="219456"/>
          </a:xfrm>
          <a:prstGeom prst="roundRect">
            <a:avLst>
              <a:gd name="adj" fmla="val 20833"/>
            </a:avLst>
          </a:prstGeom>
          <a:solidFill>
            <a:srgbClr val="F1F5F9"/>
          </a:solidFill>
          <a:ln w="6350">
            <a:solidFill>
              <a:srgbClr val="E2E8F0"/>
            </a:solidFill>
            <a:prstDash val="solid"/>
          </a:ln>
        </p:spPr>
        <p:txBody>
          <a:bodyPr/>
          <a:p/>
        </p:txBody>
      </p:sp>
      <p:sp>
        <p:nvSpPr>
          <p:cNvPr id="6" name="Text 4"/>
          <p:cNvSpPr/>
          <p:nvPr/>
        </p:nvSpPr>
        <p:spPr>
          <a:xfrm>
            <a:off x="4745736" y="146304"/>
            <a:ext cx="932688" cy="2194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720" dirty="0">
                <a:solidFill>
                  <a:srgbClr val="64748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2. EDA &amp; Features</a:t>
            </a:r>
            <a:endParaRPr lang="en-US" sz="720" dirty="0"/>
          </a:p>
        </p:txBody>
      </p:sp>
      <p:sp>
        <p:nvSpPr>
          <p:cNvPr id="7" name="Shape 5"/>
          <p:cNvSpPr/>
          <p:nvPr/>
        </p:nvSpPr>
        <p:spPr>
          <a:xfrm>
            <a:off x="5733288" y="146304"/>
            <a:ext cx="932688" cy="219456"/>
          </a:xfrm>
          <a:prstGeom prst="roundRect">
            <a:avLst>
              <a:gd name="adj" fmla="val 20833"/>
            </a:avLst>
          </a:prstGeom>
          <a:solidFill>
            <a:srgbClr val="F1F5F9"/>
          </a:solidFill>
          <a:ln w="6350">
            <a:solidFill>
              <a:srgbClr val="E2E8F0"/>
            </a:solidFill>
            <a:prstDash val="solid"/>
          </a:ln>
        </p:spPr>
        <p:txBody>
          <a:bodyPr/>
          <a:p/>
        </p:txBody>
      </p:sp>
      <p:sp>
        <p:nvSpPr>
          <p:cNvPr id="8" name="Text 6"/>
          <p:cNvSpPr/>
          <p:nvPr/>
        </p:nvSpPr>
        <p:spPr>
          <a:xfrm>
            <a:off x="5733288" y="146304"/>
            <a:ext cx="932688" cy="2194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720" dirty="0">
                <a:solidFill>
                  <a:srgbClr val="64748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3. Phương pháp</a:t>
            </a:r>
            <a:endParaRPr lang="en-US" sz="720" dirty="0"/>
          </a:p>
        </p:txBody>
      </p:sp>
      <p:sp>
        <p:nvSpPr>
          <p:cNvPr id="9" name="Shape 7"/>
          <p:cNvSpPr/>
          <p:nvPr/>
        </p:nvSpPr>
        <p:spPr>
          <a:xfrm>
            <a:off x="6720840" y="146304"/>
            <a:ext cx="932688" cy="219456"/>
          </a:xfrm>
          <a:prstGeom prst="roundRect">
            <a:avLst>
              <a:gd name="adj" fmla="val 20833"/>
            </a:avLst>
          </a:prstGeom>
          <a:solidFill>
            <a:srgbClr val="2563EB"/>
          </a:solidFill>
          <a:ln w="6350">
            <a:solidFill>
              <a:srgbClr val="1D4ED8"/>
            </a:solidFill>
            <a:prstDash val="solid"/>
          </a:ln>
        </p:spPr>
        <p:txBody>
          <a:bodyPr/>
          <a:p/>
        </p:txBody>
      </p:sp>
      <p:sp>
        <p:nvSpPr>
          <p:cNvPr id="10" name="Text 8"/>
          <p:cNvSpPr/>
          <p:nvPr/>
        </p:nvSpPr>
        <p:spPr>
          <a:xfrm>
            <a:off x="6720840" y="146304"/>
            <a:ext cx="932688" cy="2194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720" b="1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4. Thực nghiệm</a:t>
            </a:r>
            <a:endParaRPr lang="en-US" sz="720" dirty="0"/>
          </a:p>
        </p:txBody>
      </p:sp>
      <p:sp>
        <p:nvSpPr>
          <p:cNvPr id="11" name="Shape 9"/>
          <p:cNvSpPr/>
          <p:nvPr/>
        </p:nvSpPr>
        <p:spPr>
          <a:xfrm>
            <a:off x="7708392" y="146304"/>
            <a:ext cx="932688" cy="219456"/>
          </a:xfrm>
          <a:prstGeom prst="roundRect">
            <a:avLst>
              <a:gd name="adj" fmla="val 20833"/>
            </a:avLst>
          </a:prstGeom>
          <a:solidFill>
            <a:srgbClr val="F1F5F9"/>
          </a:solidFill>
          <a:ln w="6350">
            <a:solidFill>
              <a:srgbClr val="E2E8F0"/>
            </a:solidFill>
            <a:prstDash val="solid"/>
          </a:ln>
        </p:spPr>
        <p:txBody>
          <a:bodyPr/>
          <a:p/>
        </p:txBody>
      </p:sp>
      <p:sp>
        <p:nvSpPr>
          <p:cNvPr id="12" name="Text 10"/>
          <p:cNvSpPr/>
          <p:nvPr/>
        </p:nvSpPr>
        <p:spPr>
          <a:xfrm>
            <a:off x="7708392" y="146304"/>
            <a:ext cx="932688" cy="2194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720" dirty="0">
                <a:solidFill>
                  <a:srgbClr val="64748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5. Demo &amp; Tương lai</a:t>
            </a:r>
            <a:endParaRPr lang="en-US" sz="720" dirty="0"/>
          </a:p>
        </p:txBody>
      </p:sp>
      <p:sp>
        <p:nvSpPr>
          <p:cNvPr id="13" name="Text 11"/>
          <p:cNvSpPr/>
          <p:nvPr/>
        </p:nvSpPr>
        <p:spPr>
          <a:xfrm>
            <a:off x="502920" y="438912"/>
            <a:ext cx="813816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1E295C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Autoencoder Anomaly Thresholding &amp; Decision Boundary</a:t>
            </a:r>
            <a:endParaRPr lang="en-US" sz="2000" dirty="0"/>
          </a:p>
        </p:txBody>
      </p:sp>
      <p:sp>
        <p:nvSpPr>
          <p:cNvPr id="14" name="Shape 12"/>
          <p:cNvSpPr/>
          <p:nvPr/>
        </p:nvSpPr>
        <p:spPr>
          <a:xfrm>
            <a:off x="502920" y="859536"/>
            <a:ext cx="8138160" cy="0"/>
          </a:xfrm>
          <a:prstGeom prst="line">
            <a:avLst/>
          </a:prstGeom>
          <a:noFill/>
          <a:ln w="9525">
            <a:solidFill>
              <a:srgbClr val="E2E8F0"/>
            </a:solidFill>
            <a:prstDash val="solid"/>
          </a:ln>
        </p:spPr>
        <p:txBody>
          <a:bodyPr/>
          <a:p/>
        </p:txBody>
      </p:sp>
      <p:sp>
        <p:nvSpPr>
          <p:cNvPr id="15" name="Text 13"/>
          <p:cNvSpPr/>
          <p:nvPr/>
        </p:nvSpPr>
        <p:spPr>
          <a:xfrm>
            <a:off x="502920" y="4823460"/>
            <a:ext cx="5669280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CS106: Trí tuệ Nhân tạo — Nhóm 09 — Báo cáo Đồ án: Phát hiện Gian lận Tài chính</a:t>
            </a:r>
            <a:endParaRPr lang="en-US" sz="850" dirty="0"/>
          </a:p>
        </p:txBody>
      </p:sp>
      <p:sp>
        <p:nvSpPr>
          <p:cNvPr id="16" name="Text 14"/>
          <p:cNvSpPr/>
          <p:nvPr/>
        </p:nvSpPr>
        <p:spPr>
          <a:xfrm>
            <a:off x="7269480" y="4823460"/>
            <a:ext cx="1371600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5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 / 24</a:t>
            </a:r>
            <a:endParaRPr lang="en-US" sz="850" dirty="0"/>
          </a:p>
        </p:txBody>
      </p:sp>
      <p:pic>
        <p:nvPicPr>
          <p:cNvPr id="17" name="Image 0" descr="/Users/tcdtist/dev/uit/cs106/assignments/Final/draft/fraud-detection/reports/slide_assets/academic_autoencoder_dist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02920" y="1051560"/>
            <a:ext cx="4389120" cy="2288384"/>
          </a:xfrm>
          <a:prstGeom prst="rect">
            <a:avLst/>
          </a:prstGeom>
        </p:spPr>
      </p:pic>
      <p:sp>
        <p:nvSpPr>
          <p:cNvPr id="18" name="Shape 15"/>
          <p:cNvSpPr/>
          <p:nvPr/>
        </p:nvSpPr>
        <p:spPr>
          <a:xfrm>
            <a:off x="502920" y="3449672"/>
            <a:ext cx="4389120" cy="1143000"/>
          </a:xfrm>
          <a:prstGeom prst="roundRect">
            <a:avLst>
              <a:gd name="adj" fmla="val 4000"/>
            </a:avLst>
          </a:prstGeom>
          <a:solidFill>
            <a:srgbClr val="F0F7FF"/>
          </a:solidFill>
          <a:ln w="12700">
            <a:solidFill>
              <a:srgbClr val="BAE6FD"/>
            </a:solidFill>
            <a:prstDash val="solid"/>
          </a:ln>
        </p:spPr>
        <p:txBody>
          <a:bodyPr/>
          <a:p/>
        </p:txBody>
      </p:sp>
      <p:sp>
        <p:nvSpPr>
          <p:cNvPr id="19" name="Text 16"/>
          <p:cNvSpPr/>
          <p:nvPr/>
        </p:nvSpPr>
        <p:spPr>
          <a:xfrm>
            <a:off x="640080" y="3541112"/>
            <a:ext cx="41148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1E295C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Threshold Calibration</a:t>
            </a:r>
            <a:endParaRPr lang="en-US" sz="1150" dirty="0"/>
          </a:p>
        </p:txBody>
      </p:sp>
      <p:sp>
        <p:nvSpPr>
          <p:cNvPr id="20" name="Text 17"/>
          <p:cNvSpPr/>
          <p:nvPr/>
        </p:nvSpPr>
        <p:spPr>
          <a:xfrm>
            <a:off x="640080" y="3797144"/>
            <a:ext cx="4114800" cy="722376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marL="342900" indent="-342900">
              <a:buSzPct val="100000"/>
              <a:buChar char="•"/>
            </a:pPr>
            <a:r>
              <a:rPr lang="en-US" sz="105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tau = 0.0455 (95th percentile) tối ưu hóa trade-off curve của F1-Score.</a:t>
            </a:r>
            <a:endParaRPr lang="en-US" sz="1050" dirty="0"/>
          </a:p>
          <a:p>
            <a:pPr marL="342900" indent="-342900">
              <a:buSzPct val="100000"/>
              <a:buChar char="•"/>
            </a:pPr>
            <a:r>
              <a:rPr lang="en-US" sz="105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Unsupervised model gắn cờ thành công 1,236 sự kiện gian lận thực tế.</a:t>
            </a:r>
            <a:endParaRPr lang="en-US" sz="1050" dirty="0"/>
          </a:p>
        </p:txBody>
      </p:sp>
      <p:sp>
        <p:nvSpPr>
          <p:cNvPr id="21" name="Text 18"/>
          <p:cNvSpPr/>
          <p:nvPr/>
        </p:nvSpPr>
        <p:spPr>
          <a:xfrm>
            <a:off x="5074920" y="1051560"/>
            <a:ext cx="3566160" cy="34747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1E295C"/>
                </a:solidFill>
              </a:rPr>
              <a:t>Động lực Quét Ngưỡng (Threshold Sweep):
• 95th Percentile (tau = 0.0455):
Cân bằng giữa Recall (75.2%) và Precision (38.2%).
• 99.9th Percentile (tau = 0.7460):
Precision tăng vọt lên 91.5% nhưng Recall giảm xuống 25.4%.
• Vai trò Vận hành: Đóng vai trò secondary zero-day defense layer đắc lực trước các hình thức gian lận mới chưa có label.</a:t>
            </a:r>
            <a:pPr indent="0" marL="0">
              <a:buNone/>
            </a:pPr>
            <a:r>
              <a:rPr lang="en-US" sz="1050" dirty="0">
                <a:solidFill>
                  <a:srgbClr val="1F2937"/>
                </a:solidFill>
              </a:rPr>
              <a:t/>
            </a:r>
            <a:pPr indent="0" marL="0">
              <a:buNone/>
            </a:pPr>
            <a:r>
              <a:rPr lang="en-US" sz="1050" dirty="0">
                <a:solidFill>
                  <a:srgbClr val="1F2937"/>
                </a:solidFill>
              </a:rPr>
              <a:t/>
            </a:r>
            <a:pPr indent="0" marL="0">
              <a:buNone/>
            </a:pPr>
            <a:r>
              <a:rPr lang="en-US" sz="1050" dirty="0">
                <a:solidFill>
                  <a:srgbClr val="1F2937"/>
                </a:solidFill>
              </a:rPr>
              <a:t/>
            </a:r>
            <a:endParaRPr lang="en-US" sz="1250" dirty="0"/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1">
    <p:bg>
      <p:bgPr>
        <a:solidFill>
          <a:srgbClr val="161F4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02920" y="457200"/>
            <a:ext cx="813816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3C5FD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TRƯỜNG ĐẠI HỌC CÔNG NGHỆ THÔNG TIN, ĐHQG-HCM  •  BÁO CÁO ĐỒ ÁN CS106</a:t>
            </a:r>
            <a:endParaRPr lang="en-US" sz="900" dirty="0"/>
          </a:p>
        </p:txBody>
      </p:sp>
      <p:sp>
        <p:nvSpPr>
          <p:cNvPr id="3" name="Shape 1"/>
          <p:cNvSpPr/>
          <p:nvPr/>
        </p:nvSpPr>
        <p:spPr>
          <a:xfrm>
            <a:off x="3886200" y="1188720"/>
            <a:ext cx="1371600" cy="384048"/>
          </a:xfrm>
          <a:prstGeom prst="roundRect">
            <a:avLst>
              <a:gd name="adj" fmla="val 19048"/>
            </a:avLst>
          </a:prstGeom>
          <a:solidFill>
            <a:srgbClr val="2563EB"/>
          </a:solidFill>
          <a:ln w="12700">
            <a:solidFill>
              <a:srgbClr val="60A5FA"/>
            </a:solidFill>
            <a:prstDash val="solid"/>
          </a:ln>
        </p:spPr>
        <p:txBody>
          <a:bodyPr/>
          <a:p/>
        </p:txBody>
      </p:sp>
      <p:sp>
        <p:nvSpPr>
          <p:cNvPr id="4" name="Text 2"/>
          <p:cNvSpPr/>
          <p:nvPr/>
        </p:nvSpPr>
        <p:spPr>
          <a:xfrm>
            <a:off x="3886200" y="1188720"/>
            <a:ext cx="137160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50" b="1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PHẦN 05</a:t>
            </a:r>
            <a:endParaRPr lang="en-US" sz="1250" dirty="0"/>
          </a:p>
        </p:txBody>
      </p:sp>
      <p:sp>
        <p:nvSpPr>
          <p:cNvPr id="5" name="Text 3"/>
          <p:cNvSpPr/>
          <p:nvPr/>
        </p:nvSpPr>
        <p:spPr>
          <a:xfrm>
            <a:off x="502920" y="1783080"/>
            <a:ext cx="8138160" cy="6858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500" b="1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HỆ THỐNG THỰC THI &amp; ĐỊNH HƯỚNG TƯƠNG LAI</a:t>
            </a:r>
            <a:endParaRPr lang="en-US" sz="2500" dirty="0"/>
          </a:p>
        </p:txBody>
      </p:sp>
      <p:sp>
        <p:nvSpPr>
          <p:cNvPr id="6" name="Shape 4"/>
          <p:cNvSpPr/>
          <p:nvPr/>
        </p:nvSpPr>
        <p:spPr>
          <a:xfrm>
            <a:off x="3200400" y="2578608"/>
            <a:ext cx="2743200" cy="0"/>
          </a:xfrm>
          <a:prstGeom prst="line">
            <a:avLst/>
          </a:prstGeom>
          <a:noFill/>
          <a:ln w="25400">
            <a:solidFill>
              <a:srgbClr val="F59E0B"/>
            </a:solidFill>
            <a:prstDash val="solid"/>
          </a:ln>
        </p:spPr>
        <p:txBody>
          <a:bodyPr/>
          <a:p/>
        </p:txBody>
      </p:sp>
      <p:sp>
        <p:nvSpPr>
          <p:cNvPr id="7" name="Shape 5"/>
          <p:cNvSpPr/>
          <p:nvPr/>
        </p:nvSpPr>
        <p:spPr>
          <a:xfrm>
            <a:off x="2011680" y="2852928"/>
            <a:ext cx="5120640" cy="1508760"/>
          </a:xfrm>
          <a:prstGeom prst="roundRect">
            <a:avLst>
              <a:gd name="adj" fmla="val 3636"/>
            </a:avLst>
          </a:prstGeom>
          <a:solidFill>
            <a:srgbClr val="1E295C"/>
          </a:solidFill>
          <a:ln w="9525">
            <a:solidFill>
              <a:srgbClr val="3B82F6"/>
            </a:solidFill>
            <a:prstDash val="solid"/>
          </a:ln>
        </p:spPr>
        <p:txBody>
          <a:bodyPr/>
          <a:p/>
        </p:txBody>
      </p:sp>
      <p:sp>
        <p:nvSpPr>
          <p:cNvPr id="8" name="Text 6"/>
          <p:cNvSpPr/>
          <p:nvPr/>
        </p:nvSpPr>
        <p:spPr>
          <a:xfrm>
            <a:off x="2286000" y="2971800"/>
            <a:ext cx="4572000" cy="12801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342900" indent="-342900">
              <a:buSzPct val="100000"/>
              <a:buChar char="•"/>
            </a:pPr>
            <a:r>
              <a:rPr lang="en-US" sz="1100" dirty="0">
                <a:solidFill>
                  <a:srgbClr val="E2E8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Streamlit Real-Time Inference Dashboard Architecture</a:t>
            </a:r>
            <a:endParaRPr lang="en-US" sz="1100" dirty="0"/>
          </a:p>
          <a:p>
            <a:pPr marL="342900" indent="-342900">
              <a:buSzPct val="100000"/>
              <a:buChar char="•"/>
            </a:pPr>
            <a:r>
              <a:rPr lang="en-US" sz="1100" dirty="0">
                <a:solidFill>
                  <a:srgbClr val="E2E8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Tổng kết Đóng góp Học thuật &amp; Kỹ thuật Cốt lõi</a:t>
            </a:r>
            <a:endParaRPr lang="en-US" sz="1100" dirty="0"/>
          </a:p>
          <a:p>
            <a:pPr marL="342900" indent="-342900">
              <a:buSzPct val="100000"/>
              <a:buChar char="•"/>
            </a:pPr>
            <a:r>
              <a:rPr lang="en-US" sz="1100" dirty="0">
                <a:solidFill>
                  <a:srgbClr val="E2E8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Hạn chế Nghiên cứu &amp; Graph Neural Network (GNN) Roadmap</a:t>
            </a:r>
            <a:endParaRPr lang="en-US" sz="1100" dirty="0"/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02920" y="164592"/>
            <a:ext cx="246888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850" b="1" dirty="0">
                <a:solidFill>
                  <a:srgbClr val="D97706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UIT • ĐHQG-HCM | CS106 (AI)</a:t>
            </a:r>
            <a:endParaRPr lang="en-US" sz="850" dirty="0"/>
          </a:p>
        </p:txBody>
      </p:sp>
      <p:sp>
        <p:nvSpPr>
          <p:cNvPr id="3" name="Shape 1"/>
          <p:cNvSpPr/>
          <p:nvPr/>
        </p:nvSpPr>
        <p:spPr>
          <a:xfrm>
            <a:off x="3758184" y="146304"/>
            <a:ext cx="932688" cy="219456"/>
          </a:xfrm>
          <a:prstGeom prst="roundRect">
            <a:avLst>
              <a:gd name="adj" fmla="val 20833"/>
            </a:avLst>
          </a:prstGeom>
          <a:solidFill>
            <a:srgbClr val="F1F5F9"/>
          </a:solidFill>
          <a:ln w="6350">
            <a:solidFill>
              <a:srgbClr val="E2E8F0"/>
            </a:solidFill>
            <a:prstDash val="solid"/>
          </a:ln>
        </p:spPr>
        <p:txBody>
          <a:bodyPr/>
          <a:p/>
        </p:txBody>
      </p:sp>
      <p:sp>
        <p:nvSpPr>
          <p:cNvPr id="4" name="Text 2"/>
          <p:cNvSpPr/>
          <p:nvPr/>
        </p:nvSpPr>
        <p:spPr>
          <a:xfrm>
            <a:off x="3758184" y="146304"/>
            <a:ext cx="932688" cy="2194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720" dirty="0">
                <a:solidFill>
                  <a:srgbClr val="64748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1. Giới thiệu</a:t>
            </a:r>
            <a:endParaRPr lang="en-US" sz="720" dirty="0"/>
          </a:p>
        </p:txBody>
      </p:sp>
      <p:sp>
        <p:nvSpPr>
          <p:cNvPr id="5" name="Shape 3"/>
          <p:cNvSpPr/>
          <p:nvPr/>
        </p:nvSpPr>
        <p:spPr>
          <a:xfrm>
            <a:off x="4745736" y="146304"/>
            <a:ext cx="932688" cy="219456"/>
          </a:xfrm>
          <a:prstGeom prst="roundRect">
            <a:avLst>
              <a:gd name="adj" fmla="val 20833"/>
            </a:avLst>
          </a:prstGeom>
          <a:solidFill>
            <a:srgbClr val="F1F5F9"/>
          </a:solidFill>
          <a:ln w="6350">
            <a:solidFill>
              <a:srgbClr val="E2E8F0"/>
            </a:solidFill>
            <a:prstDash val="solid"/>
          </a:ln>
        </p:spPr>
        <p:txBody>
          <a:bodyPr/>
          <a:p/>
        </p:txBody>
      </p:sp>
      <p:sp>
        <p:nvSpPr>
          <p:cNvPr id="6" name="Text 4"/>
          <p:cNvSpPr/>
          <p:nvPr/>
        </p:nvSpPr>
        <p:spPr>
          <a:xfrm>
            <a:off x="4745736" y="146304"/>
            <a:ext cx="932688" cy="2194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720" dirty="0">
                <a:solidFill>
                  <a:srgbClr val="64748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2. EDA &amp; Features</a:t>
            </a:r>
            <a:endParaRPr lang="en-US" sz="720" dirty="0"/>
          </a:p>
        </p:txBody>
      </p:sp>
      <p:sp>
        <p:nvSpPr>
          <p:cNvPr id="7" name="Shape 5"/>
          <p:cNvSpPr/>
          <p:nvPr/>
        </p:nvSpPr>
        <p:spPr>
          <a:xfrm>
            <a:off x="5733288" y="146304"/>
            <a:ext cx="932688" cy="219456"/>
          </a:xfrm>
          <a:prstGeom prst="roundRect">
            <a:avLst>
              <a:gd name="adj" fmla="val 20833"/>
            </a:avLst>
          </a:prstGeom>
          <a:solidFill>
            <a:srgbClr val="F1F5F9"/>
          </a:solidFill>
          <a:ln w="6350">
            <a:solidFill>
              <a:srgbClr val="E2E8F0"/>
            </a:solidFill>
            <a:prstDash val="solid"/>
          </a:ln>
        </p:spPr>
        <p:txBody>
          <a:bodyPr/>
          <a:p/>
        </p:txBody>
      </p:sp>
      <p:sp>
        <p:nvSpPr>
          <p:cNvPr id="8" name="Text 6"/>
          <p:cNvSpPr/>
          <p:nvPr/>
        </p:nvSpPr>
        <p:spPr>
          <a:xfrm>
            <a:off x="5733288" y="146304"/>
            <a:ext cx="932688" cy="2194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720" dirty="0">
                <a:solidFill>
                  <a:srgbClr val="64748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3. Phương pháp</a:t>
            </a:r>
            <a:endParaRPr lang="en-US" sz="720" dirty="0"/>
          </a:p>
        </p:txBody>
      </p:sp>
      <p:sp>
        <p:nvSpPr>
          <p:cNvPr id="9" name="Shape 7"/>
          <p:cNvSpPr/>
          <p:nvPr/>
        </p:nvSpPr>
        <p:spPr>
          <a:xfrm>
            <a:off x="6720840" y="146304"/>
            <a:ext cx="932688" cy="219456"/>
          </a:xfrm>
          <a:prstGeom prst="roundRect">
            <a:avLst>
              <a:gd name="adj" fmla="val 20833"/>
            </a:avLst>
          </a:prstGeom>
          <a:solidFill>
            <a:srgbClr val="F1F5F9"/>
          </a:solidFill>
          <a:ln w="6350">
            <a:solidFill>
              <a:srgbClr val="E2E8F0"/>
            </a:solidFill>
            <a:prstDash val="solid"/>
          </a:ln>
        </p:spPr>
        <p:txBody>
          <a:bodyPr/>
          <a:p/>
        </p:txBody>
      </p:sp>
      <p:sp>
        <p:nvSpPr>
          <p:cNvPr id="10" name="Text 8"/>
          <p:cNvSpPr/>
          <p:nvPr/>
        </p:nvSpPr>
        <p:spPr>
          <a:xfrm>
            <a:off x="6720840" y="146304"/>
            <a:ext cx="932688" cy="2194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720" dirty="0">
                <a:solidFill>
                  <a:srgbClr val="64748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4. Thực nghiệm</a:t>
            </a:r>
            <a:endParaRPr lang="en-US" sz="720" dirty="0"/>
          </a:p>
        </p:txBody>
      </p:sp>
      <p:sp>
        <p:nvSpPr>
          <p:cNvPr id="11" name="Shape 9"/>
          <p:cNvSpPr/>
          <p:nvPr/>
        </p:nvSpPr>
        <p:spPr>
          <a:xfrm>
            <a:off x="7708392" y="146304"/>
            <a:ext cx="932688" cy="219456"/>
          </a:xfrm>
          <a:prstGeom prst="roundRect">
            <a:avLst>
              <a:gd name="adj" fmla="val 20833"/>
            </a:avLst>
          </a:prstGeom>
          <a:solidFill>
            <a:srgbClr val="2563EB"/>
          </a:solidFill>
          <a:ln w="6350">
            <a:solidFill>
              <a:srgbClr val="1D4ED8"/>
            </a:solidFill>
            <a:prstDash val="solid"/>
          </a:ln>
        </p:spPr>
        <p:txBody>
          <a:bodyPr/>
          <a:p/>
        </p:txBody>
      </p:sp>
      <p:sp>
        <p:nvSpPr>
          <p:cNvPr id="12" name="Text 10"/>
          <p:cNvSpPr/>
          <p:nvPr/>
        </p:nvSpPr>
        <p:spPr>
          <a:xfrm>
            <a:off x="7708392" y="146304"/>
            <a:ext cx="932688" cy="2194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720" b="1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5. Demo &amp; Tương lai</a:t>
            </a:r>
            <a:endParaRPr lang="en-US" sz="720" dirty="0"/>
          </a:p>
        </p:txBody>
      </p:sp>
      <p:sp>
        <p:nvSpPr>
          <p:cNvPr id="13" name="Text 11"/>
          <p:cNvSpPr/>
          <p:nvPr/>
        </p:nvSpPr>
        <p:spPr>
          <a:xfrm>
            <a:off x="502920" y="438912"/>
            <a:ext cx="813816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1E295C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Demo Trực quan: Dashboard Thời gian Thực trên Streamlit</a:t>
            </a:r>
            <a:endParaRPr lang="en-US" sz="2000" dirty="0"/>
          </a:p>
        </p:txBody>
      </p:sp>
      <p:sp>
        <p:nvSpPr>
          <p:cNvPr id="14" name="Shape 12"/>
          <p:cNvSpPr/>
          <p:nvPr/>
        </p:nvSpPr>
        <p:spPr>
          <a:xfrm>
            <a:off x="502920" y="859536"/>
            <a:ext cx="8138160" cy="0"/>
          </a:xfrm>
          <a:prstGeom prst="line">
            <a:avLst/>
          </a:prstGeom>
          <a:noFill/>
          <a:ln w="9525">
            <a:solidFill>
              <a:srgbClr val="E2E8F0"/>
            </a:solidFill>
            <a:prstDash val="solid"/>
          </a:ln>
        </p:spPr>
        <p:txBody>
          <a:bodyPr/>
          <a:p/>
        </p:txBody>
      </p:sp>
      <p:sp>
        <p:nvSpPr>
          <p:cNvPr id="15" name="Text 13"/>
          <p:cNvSpPr/>
          <p:nvPr/>
        </p:nvSpPr>
        <p:spPr>
          <a:xfrm>
            <a:off x="502920" y="4823460"/>
            <a:ext cx="5669280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CS106: Trí tuệ Nhân tạo — Nhóm 09 — Báo cáo Đồ án: Phát hiện Gian lận Tài chính</a:t>
            </a:r>
            <a:endParaRPr lang="en-US" sz="850" dirty="0"/>
          </a:p>
        </p:txBody>
      </p:sp>
      <p:sp>
        <p:nvSpPr>
          <p:cNvPr id="16" name="Text 14"/>
          <p:cNvSpPr/>
          <p:nvPr/>
        </p:nvSpPr>
        <p:spPr>
          <a:xfrm>
            <a:off x="7269480" y="4823460"/>
            <a:ext cx="1371600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5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22 / 24</a:t>
            </a:r>
            <a:endParaRPr lang="en-US" sz="850" dirty="0"/>
          </a:p>
        </p:txBody>
      </p:sp>
      <p:sp>
        <p:nvSpPr>
          <p:cNvPr id="17" name="Shape 15"/>
          <p:cNvSpPr/>
          <p:nvPr/>
        </p:nvSpPr>
        <p:spPr>
          <a:xfrm>
            <a:off x="502920" y="1051560"/>
            <a:ext cx="3931920" cy="3520440"/>
          </a:xfrm>
          <a:prstGeom prst="roundRect">
            <a:avLst>
              <a:gd name="adj" fmla="val 1299"/>
            </a:avLst>
          </a:prstGeom>
          <a:solidFill>
            <a:srgbClr val="F0F7FF"/>
          </a:solidFill>
          <a:ln w="12700">
            <a:solidFill>
              <a:srgbClr val="BAE6FD"/>
            </a:solidFill>
            <a:prstDash val="solid"/>
          </a:ln>
        </p:spPr>
        <p:txBody>
          <a:bodyPr/>
          <a:p/>
        </p:txBody>
      </p:sp>
      <p:sp>
        <p:nvSpPr>
          <p:cNvPr id="18" name="Text 16"/>
          <p:cNvSpPr/>
          <p:nvPr/>
        </p:nvSpPr>
        <p:spPr>
          <a:xfrm>
            <a:off x="640080" y="1143000"/>
            <a:ext cx="36576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1E295C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Kiến trúc Real-Time Inference</a:t>
            </a:r>
            <a:endParaRPr lang="en-US" sz="1150" dirty="0"/>
          </a:p>
        </p:txBody>
      </p:sp>
      <p:sp>
        <p:nvSpPr>
          <p:cNvPr id="19" name="Text 17"/>
          <p:cNvSpPr/>
          <p:nvPr/>
        </p:nvSpPr>
        <p:spPr>
          <a:xfrm>
            <a:off x="640080" y="1399032"/>
            <a:ext cx="3657600" cy="3099816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marL="342900" indent="-342900">
              <a:buSzPct val="100000"/>
              <a:buChar char="•"/>
            </a:pPr>
            <a:r>
              <a:rPr lang="en-US" sz="105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Giao diện Streamlit tinh gọn với dynamic risk probability gauges và visual status cards.</a:t>
            </a:r>
            <a:endParaRPr lang="en-US" sz="1050" dirty="0"/>
          </a:p>
          <a:p>
            <a:pPr marL="342900" indent="-342900">
              <a:buSzPct val="100000"/>
              <a:buChar char="•"/>
            </a:pPr>
            <a:r>
              <a:rPr lang="en-US" sz="105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Feature extraction engine tức thì chuyển đổi user input thành 14-dimension engineered vector.</a:t>
            </a:r>
            <a:endParaRPr lang="en-US" sz="1050" dirty="0"/>
          </a:p>
          <a:p>
            <a:pPr marL="342900" indent="-342900">
              <a:buSzPct val="100000"/>
              <a:buChar char="•"/>
            </a:pPr>
            <a:r>
              <a:rPr lang="en-US" sz="105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Pre-loaded serialized XGBoost và Random Forest pipelines qua Joblib.</a:t>
            </a:r>
            <a:endParaRPr lang="en-US" sz="1050" dirty="0"/>
          </a:p>
          <a:p>
            <a:pPr marL="342900" indent="-342900">
              <a:buSzPct val="100000"/>
              <a:buChar char="•"/>
            </a:pPr>
            <a:r>
              <a:rPr lang="en-US" sz="105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Single-transaction inference latency đạt mức sub-millisecond (&lt; 1ms).</a:t>
            </a:r>
            <a:endParaRPr lang="en-US" sz="1050" dirty="0"/>
          </a:p>
        </p:txBody>
      </p:sp>
      <p:sp>
        <p:nvSpPr>
          <p:cNvPr id="20" name="Shape 18"/>
          <p:cNvSpPr/>
          <p:nvPr/>
        </p:nvSpPr>
        <p:spPr>
          <a:xfrm>
            <a:off x="4709160" y="1051560"/>
            <a:ext cx="3931920" cy="3520440"/>
          </a:xfrm>
          <a:prstGeom prst="roundRect">
            <a:avLst>
              <a:gd name="adj" fmla="val 1299"/>
            </a:avLst>
          </a:prstGeom>
          <a:solidFill>
            <a:srgbClr val="F0F7FF"/>
          </a:solidFill>
          <a:ln w="12700">
            <a:solidFill>
              <a:srgbClr val="BAE6FD"/>
            </a:solidFill>
            <a:prstDash val="solid"/>
          </a:ln>
        </p:spPr>
        <p:txBody>
          <a:bodyPr/>
          <a:p/>
        </p:txBody>
      </p:sp>
      <p:sp>
        <p:nvSpPr>
          <p:cNvPr id="21" name="Text 19"/>
          <p:cNvSpPr/>
          <p:nvPr/>
        </p:nvSpPr>
        <p:spPr>
          <a:xfrm>
            <a:off x="4846320" y="1143000"/>
            <a:ext cx="36576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1E295C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Các Kịch bản Mô phỏng Thực nghiệm</a:t>
            </a:r>
            <a:endParaRPr lang="en-US" sz="1150" dirty="0"/>
          </a:p>
        </p:txBody>
      </p:sp>
      <p:sp>
        <p:nvSpPr>
          <p:cNvPr id="22" name="Text 20"/>
          <p:cNvSpPr/>
          <p:nvPr/>
        </p:nvSpPr>
        <p:spPr>
          <a:xfrm>
            <a:off x="4846320" y="1399032"/>
            <a:ext cx="3657600" cy="3099816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marL="342900" indent="-342900">
              <a:buSzPct val="100000"/>
              <a:buChar char="•"/>
            </a:pPr>
            <a:r>
              <a:rPr lang="en-US" sz="105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Scenario 1 (Normal Transfer): Giao dịch tiêu chuẩn với biến động số dư hợp lệ -&gt; Model Output: SAFE (Risk Probability &lt; 0.1%).</a:t>
            </a:r>
            <a:endParaRPr lang="en-US" sz="1050" dirty="0"/>
          </a:p>
          <a:p>
            <a:pPr marL="342900" indent="-342900">
              <a:buSzPct val="100000"/>
              <a:buChar char="•"/>
            </a:pPr>
            <a:r>
              <a:rPr lang="en-US" sz="105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Scenario 2 (Account Drain): Chuyển tiền lớn khiến số dư nguồn về 0 -&gt; Model Output: HIGH RISK FRAUD (Risk Probability &gt; 99.8%).</a:t>
            </a:r>
            <a:endParaRPr lang="en-US" sz="1050" dirty="0"/>
          </a:p>
          <a:p>
            <a:pPr marL="342900" indent="-342900">
              <a:buSzPct val="100000"/>
              <a:buChar char="•"/>
            </a:pPr>
            <a:r>
              <a:rPr lang="en-US" sz="105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Batch CSV Scoring: Cho phép chấm điểm hàng loạt và xuất compliance audit report.</a:t>
            </a:r>
            <a:endParaRPr lang="en-US" sz="1050" dirty="0"/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02920" y="164592"/>
            <a:ext cx="246888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850" b="1" dirty="0">
                <a:solidFill>
                  <a:srgbClr val="D97706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UIT • ĐHQG-HCM | CS106 (AI)</a:t>
            </a:r>
            <a:endParaRPr lang="en-US" sz="850" dirty="0"/>
          </a:p>
        </p:txBody>
      </p:sp>
      <p:sp>
        <p:nvSpPr>
          <p:cNvPr id="3" name="Shape 1"/>
          <p:cNvSpPr/>
          <p:nvPr/>
        </p:nvSpPr>
        <p:spPr>
          <a:xfrm>
            <a:off x="3758184" y="146304"/>
            <a:ext cx="932688" cy="219456"/>
          </a:xfrm>
          <a:prstGeom prst="roundRect">
            <a:avLst>
              <a:gd name="adj" fmla="val 20833"/>
            </a:avLst>
          </a:prstGeom>
          <a:solidFill>
            <a:srgbClr val="F1F5F9"/>
          </a:solidFill>
          <a:ln w="6350">
            <a:solidFill>
              <a:srgbClr val="E2E8F0"/>
            </a:solidFill>
            <a:prstDash val="solid"/>
          </a:ln>
        </p:spPr>
        <p:txBody>
          <a:bodyPr/>
          <a:p/>
        </p:txBody>
      </p:sp>
      <p:sp>
        <p:nvSpPr>
          <p:cNvPr id="4" name="Text 2"/>
          <p:cNvSpPr/>
          <p:nvPr/>
        </p:nvSpPr>
        <p:spPr>
          <a:xfrm>
            <a:off x="3758184" y="146304"/>
            <a:ext cx="932688" cy="2194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720" dirty="0">
                <a:solidFill>
                  <a:srgbClr val="64748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1. Giới thiệu</a:t>
            </a:r>
            <a:endParaRPr lang="en-US" sz="720" dirty="0"/>
          </a:p>
        </p:txBody>
      </p:sp>
      <p:sp>
        <p:nvSpPr>
          <p:cNvPr id="5" name="Shape 3"/>
          <p:cNvSpPr/>
          <p:nvPr/>
        </p:nvSpPr>
        <p:spPr>
          <a:xfrm>
            <a:off x="4745736" y="146304"/>
            <a:ext cx="932688" cy="219456"/>
          </a:xfrm>
          <a:prstGeom prst="roundRect">
            <a:avLst>
              <a:gd name="adj" fmla="val 20833"/>
            </a:avLst>
          </a:prstGeom>
          <a:solidFill>
            <a:srgbClr val="F1F5F9"/>
          </a:solidFill>
          <a:ln w="6350">
            <a:solidFill>
              <a:srgbClr val="E2E8F0"/>
            </a:solidFill>
            <a:prstDash val="solid"/>
          </a:ln>
        </p:spPr>
        <p:txBody>
          <a:bodyPr/>
          <a:p/>
        </p:txBody>
      </p:sp>
      <p:sp>
        <p:nvSpPr>
          <p:cNvPr id="6" name="Text 4"/>
          <p:cNvSpPr/>
          <p:nvPr/>
        </p:nvSpPr>
        <p:spPr>
          <a:xfrm>
            <a:off x="4745736" y="146304"/>
            <a:ext cx="932688" cy="2194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720" dirty="0">
                <a:solidFill>
                  <a:srgbClr val="64748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2. EDA &amp; Features</a:t>
            </a:r>
            <a:endParaRPr lang="en-US" sz="720" dirty="0"/>
          </a:p>
        </p:txBody>
      </p:sp>
      <p:sp>
        <p:nvSpPr>
          <p:cNvPr id="7" name="Shape 5"/>
          <p:cNvSpPr/>
          <p:nvPr/>
        </p:nvSpPr>
        <p:spPr>
          <a:xfrm>
            <a:off x="5733288" y="146304"/>
            <a:ext cx="932688" cy="219456"/>
          </a:xfrm>
          <a:prstGeom prst="roundRect">
            <a:avLst>
              <a:gd name="adj" fmla="val 20833"/>
            </a:avLst>
          </a:prstGeom>
          <a:solidFill>
            <a:srgbClr val="F1F5F9"/>
          </a:solidFill>
          <a:ln w="6350">
            <a:solidFill>
              <a:srgbClr val="E2E8F0"/>
            </a:solidFill>
            <a:prstDash val="solid"/>
          </a:ln>
        </p:spPr>
        <p:txBody>
          <a:bodyPr/>
          <a:p/>
        </p:txBody>
      </p:sp>
      <p:sp>
        <p:nvSpPr>
          <p:cNvPr id="8" name="Text 6"/>
          <p:cNvSpPr/>
          <p:nvPr/>
        </p:nvSpPr>
        <p:spPr>
          <a:xfrm>
            <a:off x="5733288" y="146304"/>
            <a:ext cx="932688" cy="2194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720" dirty="0">
                <a:solidFill>
                  <a:srgbClr val="64748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3. Phương pháp</a:t>
            </a:r>
            <a:endParaRPr lang="en-US" sz="720" dirty="0"/>
          </a:p>
        </p:txBody>
      </p:sp>
      <p:sp>
        <p:nvSpPr>
          <p:cNvPr id="9" name="Shape 7"/>
          <p:cNvSpPr/>
          <p:nvPr/>
        </p:nvSpPr>
        <p:spPr>
          <a:xfrm>
            <a:off x="6720840" y="146304"/>
            <a:ext cx="932688" cy="219456"/>
          </a:xfrm>
          <a:prstGeom prst="roundRect">
            <a:avLst>
              <a:gd name="adj" fmla="val 20833"/>
            </a:avLst>
          </a:prstGeom>
          <a:solidFill>
            <a:srgbClr val="F1F5F9"/>
          </a:solidFill>
          <a:ln w="6350">
            <a:solidFill>
              <a:srgbClr val="E2E8F0"/>
            </a:solidFill>
            <a:prstDash val="solid"/>
          </a:ln>
        </p:spPr>
        <p:txBody>
          <a:bodyPr/>
          <a:p/>
        </p:txBody>
      </p:sp>
      <p:sp>
        <p:nvSpPr>
          <p:cNvPr id="10" name="Text 8"/>
          <p:cNvSpPr/>
          <p:nvPr/>
        </p:nvSpPr>
        <p:spPr>
          <a:xfrm>
            <a:off x="6720840" y="146304"/>
            <a:ext cx="932688" cy="2194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720" dirty="0">
                <a:solidFill>
                  <a:srgbClr val="64748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4. Thực nghiệm</a:t>
            </a:r>
            <a:endParaRPr lang="en-US" sz="720" dirty="0"/>
          </a:p>
        </p:txBody>
      </p:sp>
      <p:sp>
        <p:nvSpPr>
          <p:cNvPr id="11" name="Shape 9"/>
          <p:cNvSpPr/>
          <p:nvPr/>
        </p:nvSpPr>
        <p:spPr>
          <a:xfrm>
            <a:off x="7708392" y="146304"/>
            <a:ext cx="932688" cy="219456"/>
          </a:xfrm>
          <a:prstGeom prst="roundRect">
            <a:avLst>
              <a:gd name="adj" fmla="val 20833"/>
            </a:avLst>
          </a:prstGeom>
          <a:solidFill>
            <a:srgbClr val="2563EB"/>
          </a:solidFill>
          <a:ln w="6350">
            <a:solidFill>
              <a:srgbClr val="1D4ED8"/>
            </a:solidFill>
            <a:prstDash val="solid"/>
          </a:ln>
        </p:spPr>
        <p:txBody>
          <a:bodyPr/>
          <a:p/>
        </p:txBody>
      </p:sp>
      <p:sp>
        <p:nvSpPr>
          <p:cNvPr id="12" name="Text 10"/>
          <p:cNvSpPr/>
          <p:nvPr/>
        </p:nvSpPr>
        <p:spPr>
          <a:xfrm>
            <a:off x="7708392" y="146304"/>
            <a:ext cx="932688" cy="2194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720" b="1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5. Demo &amp; Tương lai</a:t>
            </a:r>
            <a:endParaRPr lang="en-US" sz="720" dirty="0"/>
          </a:p>
        </p:txBody>
      </p:sp>
      <p:sp>
        <p:nvSpPr>
          <p:cNvPr id="13" name="Text 11"/>
          <p:cNvSpPr/>
          <p:nvPr/>
        </p:nvSpPr>
        <p:spPr>
          <a:xfrm>
            <a:off x="502920" y="438912"/>
            <a:ext cx="813816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1E295C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Tổng kết Đóng góp &amp; Định hướng Nghiên cứu</a:t>
            </a:r>
            <a:endParaRPr lang="en-US" sz="2000" dirty="0"/>
          </a:p>
        </p:txBody>
      </p:sp>
      <p:sp>
        <p:nvSpPr>
          <p:cNvPr id="14" name="Shape 12"/>
          <p:cNvSpPr/>
          <p:nvPr/>
        </p:nvSpPr>
        <p:spPr>
          <a:xfrm>
            <a:off x="502920" y="859536"/>
            <a:ext cx="8138160" cy="0"/>
          </a:xfrm>
          <a:prstGeom prst="line">
            <a:avLst/>
          </a:prstGeom>
          <a:noFill/>
          <a:ln w="9525">
            <a:solidFill>
              <a:srgbClr val="E2E8F0"/>
            </a:solidFill>
            <a:prstDash val="solid"/>
          </a:ln>
        </p:spPr>
        <p:txBody>
          <a:bodyPr/>
          <a:p/>
        </p:txBody>
      </p:sp>
      <p:sp>
        <p:nvSpPr>
          <p:cNvPr id="15" name="Text 13"/>
          <p:cNvSpPr/>
          <p:nvPr/>
        </p:nvSpPr>
        <p:spPr>
          <a:xfrm>
            <a:off x="502920" y="4823460"/>
            <a:ext cx="5669280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CS106: Trí tuệ Nhân tạo — Nhóm 09 — Báo cáo Đồ án: Phát hiện Gian lận Tài chính</a:t>
            </a:r>
            <a:endParaRPr lang="en-US" sz="850" dirty="0"/>
          </a:p>
        </p:txBody>
      </p:sp>
      <p:sp>
        <p:nvSpPr>
          <p:cNvPr id="16" name="Text 14"/>
          <p:cNvSpPr/>
          <p:nvPr/>
        </p:nvSpPr>
        <p:spPr>
          <a:xfrm>
            <a:off x="7269480" y="4823460"/>
            <a:ext cx="1371600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5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23 / 24</a:t>
            </a:r>
            <a:endParaRPr lang="en-US" sz="850" dirty="0"/>
          </a:p>
        </p:txBody>
      </p:sp>
      <p:sp>
        <p:nvSpPr>
          <p:cNvPr id="17" name="Shape 15"/>
          <p:cNvSpPr/>
          <p:nvPr/>
        </p:nvSpPr>
        <p:spPr>
          <a:xfrm>
            <a:off x="502920" y="1051560"/>
            <a:ext cx="3931920" cy="3520440"/>
          </a:xfrm>
          <a:prstGeom prst="roundRect">
            <a:avLst>
              <a:gd name="adj" fmla="val 1299"/>
            </a:avLst>
          </a:prstGeom>
          <a:solidFill>
            <a:srgbClr val="F0FDF4"/>
          </a:solidFill>
          <a:ln w="12700">
            <a:solidFill>
              <a:srgbClr val="BBF7D0"/>
            </a:solidFill>
            <a:prstDash val="solid"/>
          </a:ln>
        </p:spPr>
        <p:txBody>
          <a:bodyPr/>
          <a:p/>
        </p:txBody>
      </p:sp>
      <p:sp>
        <p:nvSpPr>
          <p:cNvPr id="18" name="Text 16"/>
          <p:cNvSpPr/>
          <p:nvPr/>
        </p:nvSpPr>
        <p:spPr>
          <a:xfrm>
            <a:off x="640080" y="1143000"/>
            <a:ext cx="36576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16A34A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Đóng góp Cốt lõi của Dự án</a:t>
            </a:r>
            <a:endParaRPr lang="en-US" sz="1150" dirty="0"/>
          </a:p>
        </p:txBody>
      </p:sp>
      <p:sp>
        <p:nvSpPr>
          <p:cNvPr id="19" name="Text 17"/>
          <p:cNvSpPr/>
          <p:nvPr/>
        </p:nvSpPr>
        <p:spPr>
          <a:xfrm>
            <a:off x="640080" y="1399032"/>
            <a:ext cx="3657600" cy="3099816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marL="342900" indent="-342900">
              <a:buSzPct val="100000"/>
              <a:buChar char="•"/>
            </a:pPr>
            <a:r>
              <a:rPr lang="en-US" sz="105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Leak-Free Protocol: Stratified 80/20 split ngăn chặn hoàn toàn data contamination.</a:t>
            </a:r>
            <a:endParaRPr lang="en-US" sz="1050" dirty="0"/>
          </a:p>
          <a:p>
            <a:pPr marL="342900" indent="-342900">
              <a:buSzPct val="100000"/>
              <a:buChar char="•"/>
            </a:pPr>
            <a:r>
              <a:rPr lang="en-US" sz="105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Domain Feature Engineering: 14 synthesized features chiếm &gt; 97% tree split gains.</a:t>
            </a:r>
            <a:endParaRPr lang="en-US" sz="1050" dirty="0"/>
          </a:p>
          <a:p>
            <a:pPr marL="342900" indent="-342900">
              <a:buSzPct val="100000"/>
              <a:buChar char="•"/>
            </a:pPr>
            <a:r>
              <a:rPr lang="en-US" sz="105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Superior Benchmark: F1-Score = 99.73% và Recall = 99.51% (chỉ bỏ sót 8 trên 1,643 frauds).</a:t>
            </a:r>
            <a:endParaRPr lang="en-US" sz="1050" dirty="0"/>
          </a:p>
          <a:p>
            <a:pPr marL="342900" indent="-342900">
              <a:buSzPct val="100000"/>
              <a:buChar char="•"/>
            </a:pPr>
            <a:r>
              <a:rPr lang="en-US" sz="105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Production Deployment: Dashboard Streamlit hoàn chỉnh phục vụ real-time risk screening.</a:t>
            </a:r>
            <a:endParaRPr lang="en-US" sz="1050" dirty="0"/>
          </a:p>
        </p:txBody>
      </p:sp>
      <p:sp>
        <p:nvSpPr>
          <p:cNvPr id="20" name="Shape 18"/>
          <p:cNvSpPr/>
          <p:nvPr/>
        </p:nvSpPr>
        <p:spPr>
          <a:xfrm>
            <a:off x="4709160" y="1051560"/>
            <a:ext cx="3931920" cy="3520440"/>
          </a:xfrm>
          <a:prstGeom prst="roundRect">
            <a:avLst>
              <a:gd name="adj" fmla="val 1299"/>
            </a:avLst>
          </a:prstGeom>
          <a:solidFill>
            <a:srgbClr val="F0F7FF"/>
          </a:solidFill>
          <a:ln w="12700">
            <a:solidFill>
              <a:srgbClr val="BAE6FD"/>
            </a:solidFill>
            <a:prstDash val="solid"/>
          </a:ln>
        </p:spPr>
        <p:txBody>
          <a:bodyPr/>
          <a:p/>
        </p:txBody>
      </p:sp>
      <p:sp>
        <p:nvSpPr>
          <p:cNvPr id="21" name="Text 19"/>
          <p:cNvSpPr/>
          <p:nvPr/>
        </p:nvSpPr>
        <p:spPr>
          <a:xfrm>
            <a:off x="4846320" y="1143000"/>
            <a:ext cx="36576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1E295C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Lộ trình Nghiên cứu Tương lai</a:t>
            </a:r>
            <a:endParaRPr lang="en-US" sz="1150" dirty="0"/>
          </a:p>
        </p:txBody>
      </p:sp>
      <p:sp>
        <p:nvSpPr>
          <p:cNvPr id="22" name="Text 20"/>
          <p:cNvSpPr/>
          <p:nvPr/>
        </p:nvSpPr>
        <p:spPr>
          <a:xfrm>
            <a:off x="4846320" y="1399032"/>
            <a:ext cx="3657600" cy="3099816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marL="342900" indent="-342900">
              <a:buSzPct val="100000"/>
              <a:buChar char="•"/>
            </a:pPr>
            <a:r>
              <a:rPr lang="en-US" sz="105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Graph Neural Networks (GNN): Ứng dụng GCN / GraphSAGE phát hiện structured money-laundering subgraphs.</a:t>
            </a:r>
            <a:endParaRPr lang="en-US" sz="1050" dirty="0"/>
          </a:p>
          <a:p>
            <a:pPr marL="342900" indent="-342900">
              <a:buSzPct val="100000"/>
              <a:buChar char="•"/>
            </a:pPr>
            <a:r>
              <a:rPr lang="en-US" sz="105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Streaming Ingestion: Tích hợp Apache Kafka / Flink phục vụ distributed sub-second streaming transactions.</a:t>
            </a:r>
            <a:endParaRPr lang="en-US" sz="1050" dirty="0"/>
          </a:p>
          <a:p>
            <a:pPr marL="342900" indent="-342900">
              <a:buSzPct val="100000"/>
              <a:buChar char="•"/>
            </a:pPr>
            <a:r>
              <a:rPr lang="en-US" sz="105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Explainable AI (XAI): Tích hợp SHAP / TreeExplainer phục vụ regulatory compliant transaction audit logs.</a:t>
            </a:r>
            <a:endParaRPr lang="en-US" sz="1050" dirty="0"/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4">
    <p:bg>
      <p:bgPr>
        <a:solidFill>
          <a:srgbClr val="161F4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02920" y="822960"/>
            <a:ext cx="813816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600" b="1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CHÂN THÀNH CẢM ƠN THẦY VÀ CÁC BẠN ĐÃ LẮNG NGHE!</a:t>
            </a:r>
            <a:endParaRPr lang="en-US" sz="2600" dirty="0"/>
          </a:p>
        </p:txBody>
      </p:sp>
      <p:sp>
        <p:nvSpPr>
          <p:cNvPr id="3" name="Text 1"/>
          <p:cNvSpPr/>
          <p:nvPr/>
        </p:nvSpPr>
        <p:spPr>
          <a:xfrm>
            <a:off x="502920" y="1371600"/>
            <a:ext cx="813816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50" b="1" dirty="0">
                <a:solidFill>
                  <a:srgbClr val="FDE047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CS106: TRÍ TUỆ NHÂN TẠO  •  BÁO CÁO BẢO VỆ ĐỒ ÁN  •  NHÓM 09</a:t>
            </a:r>
            <a:endParaRPr lang="en-US" sz="1150" dirty="0"/>
          </a:p>
        </p:txBody>
      </p:sp>
      <p:sp>
        <p:nvSpPr>
          <p:cNvPr id="4" name="Shape 2"/>
          <p:cNvSpPr/>
          <p:nvPr/>
        </p:nvSpPr>
        <p:spPr>
          <a:xfrm>
            <a:off x="1234440" y="1783080"/>
            <a:ext cx="6675120" cy="2880360"/>
          </a:xfrm>
          <a:prstGeom prst="roundRect">
            <a:avLst>
              <a:gd name="adj" fmla="val 2540"/>
            </a:avLst>
          </a:prstGeom>
          <a:solidFill>
            <a:srgbClr val="1E295C"/>
          </a:solidFill>
          <a:ln w="12700">
            <a:solidFill>
              <a:srgbClr val="3B82F6"/>
            </a:solidFill>
            <a:prstDash val="solid"/>
          </a:ln>
        </p:spPr>
        <p:txBody>
          <a:bodyPr/>
          <a:p/>
        </p:txBody>
      </p:sp>
      <p:sp>
        <p:nvSpPr>
          <p:cNvPr id="5" name="Text 3"/>
          <p:cNvSpPr/>
          <p:nvPr/>
        </p:nvSpPr>
        <p:spPr>
          <a:xfrm>
            <a:off x="1234440" y="1901952"/>
            <a:ext cx="667512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50" b="1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TÀI LIỆU THAM KHẢO HỌC THUẬT &amp; REPOSITORY DỰ ÁN</a:t>
            </a:r>
            <a:endParaRPr lang="en-US" sz="1250" dirty="0"/>
          </a:p>
        </p:txBody>
      </p:sp>
      <p:sp>
        <p:nvSpPr>
          <p:cNvPr id="6" name="Text 4"/>
          <p:cNvSpPr/>
          <p:nvPr/>
        </p:nvSpPr>
        <p:spPr>
          <a:xfrm>
            <a:off x="1508760" y="2240280"/>
            <a:ext cx="6126480" cy="23317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50" b="1" dirty="0">
                <a:solidFill>
                  <a:srgbClr val="93C5F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[1] E. A. Lopez-Rojas, A. Elmir, S. Axelsson. "PaySim: A Financial Mobile Money Simulator for Fraud Detection", 28th EMSS, 2016.
[2] T. Chen, C. Guestrin. "XGBoost: A Scalable Tree Boosting System", Proc. 22nd ACM SIGKDD, 2016.
[3] N. V. Chawla, K. W. Bowyer, L. O. Hall, W. P. Kegelmeyer. "SMOTE: Synthetic Minority Over-sampling Technique", JAIR, 2002.
[4] L. Breiman. "Random Forests", Machine Learning, 45(1), pp. 5-32, 2001.
[5] Mã nguồn Dự án: https://github.com/uit-25730067-chithanh/CS106-Team09-Fraud-Detection</a:t>
            </a:r>
            <a:pPr indent="0" marL="0">
              <a:buNone/>
            </a:pPr>
            <a:r>
              <a:rPr lang="en-US" sz="950" dirty="0">
                <a:solidFill>
                  <a:srgbClr val="E2E8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/>
            </a:r>
            <a:pPr indent="0" marL="0">
              <a:buNone/>
            </a:pPr>
            <a:r>
              <a:rPr lang="en-US" sz="950" b="1" dirty="0">
                <a:solidFill>
                  <a:srgbClr val="93C5F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/>
            </a:r>
            <a:pPr indent="0" marL="0">
              <a:buNone/>
            </a:pPr>
            <a:r>
              <a:rPr lang="en-US" sz="950" dirty="0">
                <a:solidFill>
                  <a:srgbClr val="E2E8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/>
            </a:r>
            <a:pPr indent="0" marL="0">
              <a:buNone/>
            </a:pPr>
            <a:r>
              <a:rPr lang="en-US" sz="950" b="1" dirty="0">
                <a:solidFill>
                  <a:srgbClr val="93C5F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/>
            </a:r>
            <a:pPr indent="0" marL="0">
              <a:buNone/>
            </a:pPr>
            <a:r>
              <a:rPr lang="en-US" sz="950" dirty="0">
                <a:solidFill>
                  <a:srgbClr val="E2E8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/>
            </a:r>
            <a:pPr indent="0" marL="0">
              <a:buNone/>
            </a:pPr>
            <a:r>
              <a:rPr lang="en-US" sz="950" b="1" dirty="0">
                <a:solidFill>
                  <a:srgbClr val="93C5F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/>
            </a:r>
            <a:pPr indent="0" marL="0">
              <a:buNone/>
            </a:pPr>
            <a:r>
              <a:rPr lang="en-US" sz="950" dirty="0">
                <a:solidFill>
                  <a:srgbClr val="E2E8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/>
            </a:r>
            <a:pPr indent="0" marL="0">
              <a:buNone/>
            </a:pPr>
            <a:r>
              <a:rPr lang="en-US" sz="950" b="1" dirty="0">
                <a:solidFill>
                  <a:srgbClr val="FDE04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/>
            </a:r>
            <a:pPr indent="0" marL="0">
              <a:buNone/>
            </a:pPr>
            <a:r>
              <a:rPr lang="en-US" sz="950" dirty="0">
                <a:solidFill>
                  <a:srgbClr val="E2E8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/>
            </a:r>
            <a:endParaRPr lang="en-US" sz="950" dirty="0"/>
          </a:p>
          <a:p>
            <a:pPr algn="ctr" indent="0" marL="0">
              <a:buNone/>
            </a:pPr>
            <a:endParaRPr lang="en-US" sz="950" dirty="0"/>
          </a:p>
          <a:p>
            <a:pPr algn="ctr" indent="0" marL="0">
              <a:buNone/>
            </a:pPr>
            <a:r>
              <a:rPr lang="en-US" sz="95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Nhóm 09 rất mong nhận được những câu hỏi và góp ý quý báu từ Hội đồng!</a:t>
            </a:r>
            <a:endParaRPr lang="en-US" sz="95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24</Slides>
  <Notes>24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24</vt:i4>
      </vt:variant>
    </vt:vector>
  </HeadingPairs>
  <TitlesOfParts>
    <vt:vector size="27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  <vt:lpstr>Slide 17</vt:lpstr>
      <vt:lpstr>Slide 18</vt:lpstr>
      <vt:lpstr>Slide 19</vt:lpstr>
      <vt:lpstr>Slide 20</vt:lpstr>
      <vt:lpstr>Slide 21</vt:lpstr>
      <vt:lpstr>Slide 22</vt:lpstr>
      <vt:lpstr>Slide 23</vt:lpstr>
      <vt:lpstr>Slide 24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PptxGenJS Presentation</dc:title>
  <dc:subject>PptxGenJS Presentation</dc:subject>
  <dc:creator>PptxGenJS</dc:creator>
  <cp:lastModifiedBy>PptxGenJS</cp:lastModifiedBy>
  <cp:revision>1</cp:revision>
  <dcterms:created xsi:type="dcterms:W3CDTF">2026-09-01T06:15:50Z</dcterms:created>
  <dcterms:modified xsi:type="dcterms:W3CDTF">2026-09-01T06:15:50Z</dcterms:modified>
</cp:coreProperties>
</file>