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254" y="-2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6013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9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KHOA KHOA HỌC MÁY TÍNH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HIỆN GIAN LẬN TÀI CHÍNH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3C5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Ứng dụng Machine Learning &amp; Deep Learning trên Tập dữ liệu Mô phỏng PaySim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học: CS106 - Trí tuệ Nhân tạo  |  GVHD: PGS.TS. Nguyễn Đình Hiển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8892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Text 5"/>
          <p:cNvSpPr/>
          <p:nvPr/>
        </p:nvSpPr>
        <p:spPr>
          <a:xfrm>
            <a:off x="4023360" y="285292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09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6636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02920" y="3172968"/>
            <a:ext cx="8138160" cy="1581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Trần Hoàng Hôn (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26410046)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Đặng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Chí Thanh (25730067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Nguyễn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 Khang (26410055)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Hoàng Cao Sơn (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25730061)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Vũ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Văn Duy (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26410031)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Bùi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Thị Mỷ Cẩm (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25730013)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Thanh Trung (26410141)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475488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TP. Hồ Chí Minh, Tháng 09/2026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 BÁO CÁO &amp; LỘ TRÌNH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102412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Giới thiệu &amp; Phát biểu Bài toán
</a:t>
            </a:r>
            <a:r>
              <a:rPr lang="en-US" sz="1000" dirty="0">
                <a:solidFill>
                  <a:srgbClr val="4B5563"/>
                </a:solidFill>
              </a:rPr>
              <a:t>Bối cảnh tài chính, Extreme Class Imbalance (0.13%) và Cost Asymmetry.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5564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Phân tích Khám phá Dữ liệu &amp; Kỹ thuật Đặc trưng
</a:t>
            </a:r>
            <a:r>
              <a:rPr lang="en-US" sz="1000" dirty="0" err="1" smtClean="0">
                <a:solidFill>
                  <a:srgbClr val="4B5563"/>
                </a:solidFill>
              </a:rPr>
              <a:t>Phân</a:t>
            </a:r>
            <a:r>
              <a:rPr lang="en-US" sz="1000" dirty="0" smtClean="0">
                <a:solidFill>
                  <a:srgbClr val="4B5563"/>
                </a:solidFill>
              </a:rPr>
              <a:t> </a:t>
            </a:r>
            <a:r>
              <a:rPr lang="en-US" sz="1000" dirty="0">
                <a:solidFill>
                  <a:srgbClr val="4B5563"/>
                </a:solidFill>
              </a:rPr>
              <a:t>biệt loại giao dịch, dấu vết rút cạn số dư và 14 engineered features.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248716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Phương pháp Đề xuất &amp; Kiến trúc Pipeline
</a:t>
            </a:r>
            <a:r>
              <a:rPr lang="en-US" sz="1000" dirty="0">
                <a:solidFill>
                  <a:srgbClr val="4B5563"/>
                </a:solidFill>
              </a:rPr>
              <a:t>Quy chuẩn Leak-Free, Random </a:t>
            </a:r>
            <a:r>
              <a:rPr lang="en-US" sz="1000" dirty="0" smtClean="0">
                <a:solidFill>
                  <a:srgbClr val="4B5563"/>
                </a:solidFill>
              </a:rPr>
              <a:t>Forest, </a:t>
            </a:r>
            <a:r>
              <a:rPr lang="en-US" sz="1000" dirty="0">
                <a:solidFill>
                  <a:srgbClr val="4B5563"/>
                </a:solidFill>
              </a:rPr>
              <a:t>XGBoost và Deep Autoencoder.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321868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Kết quả Thực nghiệm &amp; Đánh giá So sánh
</a:t>
            </a:r>
            <a:r>
              <a:rPr lang="en-US" sz="1000" dirty="0">
                <a:solidFill>
                  <a:srgbClr val="4B5563"/>
                </a:solidFill>
              </a:rPr>
              <a:t>Benchmark đa chỉ số, Confusion Matrix, Feature Split Gains và Anomaly Cutoff.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0" name="Text 18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395020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Hệ thống Demo &amp; Định </a:t>
            </a:r>
            <a:r>
              <a:rPr lang="en-US" sz="1250" b="1" dirty="0" err="1">
                <a:solidFill>
                  <a:srgbClr val="21295C"/>
                </a:solidFill>
              </a:rPr>
              <a:t>hướng</a:t>
            </a:r>
            <a:r>
              <a:rPr lang="en-US" sz="1250" b="1" dirty="0">
                <a:solidFill>
                  <a:srgbClr val="21295C"/>
                </a:solidFill>
              </a:rPr>
              <a:t> </a:t>
            </a:r>
            <a:r>
              <a:rPr lang="en-US" sz="1250" b="1" dirty="0" err="1">
                <a:solidFill>
                  <a:srgbClr val="21295C"/>
                </a:solidFill>
              </a:rPr>
              <a:t>p</a:t>
            </a:r>
            <a:r>
              <a:rPr lang="en-US" sz="1250" b="1" dirty="0" err="1" smtClean="0">
                <a:solidFill>
                  <a:srgbClr val="21295C"/>
                </a:solidFill>
              </a:rPr>
              <a:t>hát</a:t>
            </a:r>
            <a:r>
              <a:rPr lang="en-US" sz="1250" b="1" dirty="0" smtClean="0">
                <a:solidFill>
                  <a:srgbClr val="21295C"/>
                </a:solidFill>
              </a:rPr>
              <a:t> </a:t>
            </a:r>
            <a:r>
              <a:rPr lang="en-US" sz="1250" b="1" dirty="0" err="1" smtClean="0">
                <a:solidFill>
                  <a:srgbClr val="21295C"/>
                </a:solidFill>
              </a:rPr>
              <a:t>triển</a:t>
            </a:r>
            <a:r>
              <a:rPr lang="en-US" sz="1250" b="1" dirty="0">
                <a:solidFill>
                  <a:srgbClr val="21295C"/>
                </a:solidFill>
              </a:rPr>
              <a:t>
</a:t>
            </a:r>
            <a:r>
              <a:rPr lang="en-US" sz="1000" dirty="0">
                <a:solidFill>
                  <a:srgbClr val="4B5563"/>
                </a:solidFill>
              </a:rPr>
              <a:t>Dashboard Streamlit thời gian thực, kịch bản kiểm thử và lộ trình mở rộng GNN.</a:t>
            </a:r>
            <a:endParaRPr lang="en-US" sz="125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 &amp; PHÁT BIỂU BÀI TOÁN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Công nghiệp &amp; Sự bùng nổ Mobile Money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Thách thức Extreme Class Imbalance (~0.13%) &amp; Tổn thất Bất đối xứng (Cost Asymmetry)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biểu Bài toán Hình thức &amp; Mục tiêu Nghiên cứu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Động lực Nghiên cứu &amp; Thách thức Kỹ thuật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21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987552"/>
            <a:ext cx="4389120" cy="3657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</a:rPr>
              <a:t>1. Bối cảnh Thực tiễn &amp; Quy mô
</a:t>
            </a:r>
            <a:r>
              <a:rPr lang="en-US" sz="1050" dirty="0">
                <a:solidFill>
                  <a:srgbClr val="1F2937"/>
                </a:solidFill>
              </a:rPr>
              <a:t>• Giao dịch Mobile Money tăng trưởng bùng nổ, kéo theo các thủ đoạn gian lận tinh vi.
• Hệ thống phòng thủ đòi hỏi độ trễ suy luận real-time (&lt; 100ms) trước khi tiền bị tẩu tán.
</a:t>
            </a:r>
            <a:r>
              <a:rPr lang="en-US" sz="1200" b="1" dirty="0">
                <a:solidFill>
                  <a:srgbClr val="21295C"/>
                </a:solidFill>
              </a:rPr>
              <a:t>2. Thách thức Extreme Class Imbalance (~0.13%)
</a:t>
            </a:r>
            <a:r>
              <a:rPr lang="en-US" sz="1050" dirty="0">
                <a:solidFill>
                  <a:srgbClr val="1F2937"/>
                </a:solidFill>
              </a:rPr>
              <a:t>• Gian lận chỉ chiếm ~1 trên 800 giao dịch (8,213 ca trên 6.36M sự kiện trong PaySim).
• Cost Asymmetry: Bỏ sót gian lận (FN) gây mất vốn trực tiếp, trong khi Báo động nhầm (FP) chỉ gây gián đoạn trải nghiệm người dùng.
</a:t>
            </a:r>
            <a:r>
              <a:rPr lang="en-US" sz="1200" b="1" dirty="0">
                <a:solidFill>
                  <a:srgbClr val="21295C"/>
                </a:solidFill>
              </a:rPr>
              <a:t>3. Hành vi Gian lận Phi tĩnh (Non-Stationary)
</a:t>
            </a:r>
            <a:r>
              <a:rPr lang="en-US" sz="1050" dirty="0">
                <a:solidFill>
                  <a:srgbClr val="1F2937"/>
                </a:solidFill>
              </a:rPr>
              <a:t>• Kẻ gian liên tục biến đổi thủ đoạn luân chuyển tiền để lẩn tránh các bộ lọc luật tĩnh.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987552"/>
            <a:ext cx="356616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166360" y="100584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Ký hiệu Toán học &amp; Khái niệm Cốt lõi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084553"/>
              </p:ext>
            </p:extLst>
          </p:nvPr>
        </p:nvGraphicFramePr>
        <p:xfrm>
          <a:off x="5074920" y="1243583"/>
          <a:ext cx="3566160" cy="1432052"/>
        </p:xfrm>
        <a:graphic>
          <a:graphicData uri="http://schemas.openxmlformats.org/drawingml/2006/table">
            <a:tbl>
              <a:tblPr/>
              <a:tblGrid>
                <a:gridCol w="11411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8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0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 ∈ {0, 1}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Target Label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= Fraud (Gian lận), 0 = Legitimate (Hợp lệ)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IR ≈ 0.13%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Imbalance Ratio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8,213 ca gian lận trên 6.36M giao dịch tổng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Recall / PR-AUC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Metric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Tối đa hóa bắt gian lận, Accuracy bị vô hiệu hóa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C_FN &gt;&gt; C_FP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 Asymmetry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Phạt bỏ sót gian lận lớn hơn nhiều cảnh báo nhầm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74920" y="2881376"/>
            <a:ext cx="3566160" cy="1736343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9"/>
          <p:cNvSpPr/>
          <p:nvPr/>
        </p:nvSpPr>
        <p:spPr>
          <a:xfrm>
            <a:off x="5212080" y="296989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Nghiên cứu Cốt lõi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5212080" y="3192904"/>
            <a:ext cx="3291840" cy="1351663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 fontScale="92500" lnSpcReduction="10000"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Xây dựng end-to-end ML pipeline chuẩn, đảm bảo Leak-Free tuyệt đối.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14 </a:t>
            </a:r>
            <a:r>
              <a:rPr lang="en-US" sz="95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 </a:t>
            </a: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bắt trọn sai lệch số </a:t>
            </a:r>
            <a:r>
              <a:rPr lang="en-US" sz="950" dirty="0" err="1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dư</a:t>
            </a: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50" dirty="0" err="1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</a:t>
            </a:r>
            <a:r>
              <a:rPr lang="en-US" sz="95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50" dirty="0" err="1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khoản</a:t>
            </a:r>
            <a:r>
              <a:rPr lang="en-US" sz="95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</a:t>
            </a:r>
            <a:r>
              <a:rPr lang="en-US" sz="950" dirty="0" err="1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sánh</a:t>
            </a:r>
            <a:r>
              <a:rPr lang="en-US" sz="95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Ensemble Trees với Unsupervised Deep Autoencoder bắt Zero-Day.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Triển khai interactive dashboard phục vụ ra quyết định thời gian thực.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Tập Dữ liệu PaySim: Thuộc tính Thống kê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59436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Quy mô Mẫu sau Downsample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563EB"/>
                </a:solidFill>
              </a:rPr>
              <a:t>N = 200,000 sự kiện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436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Stratified sample bảo toàn 100% fraud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61360" y="987552"/>
            <a:ext cx="2621280" cy="74980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335280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Số ca Gian lận (isFraud = 1)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5280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C2626"/>
                </a:solidFill>
              </a:rPr>
              <a:t>8,213 ca ground-truth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5280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Tập trung tuyệt đối ở 2 loại giao dịch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1980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611124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Không gian Đặc trưng Mở rộng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1124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563EB"/>
                </a:solidFill>
              </a:rPr>
              <a:t>11 → 14 </a:t>
            </a:r>
            <a:r>
              <a:rPr lang="en-US" sz="1350" b="1" dirty="0" err="1">
                <a:solidFill>
                  <a:srgbClr val="2563EB"/>
                </a:solidFill>
              </a:rPr>
              <a:t>Đặc</a:t>
            </a:r>
            <a:r>
              <a:rPr lang="en-US" sz="1350" b="1" dirty="0">
                <a:solidFill>
                  <a:srgbClr val="2563EB"/>
                </a:solidFill>
              </a:rPr>
              <a:t> </a:t>
            </a:r>
            <a:r>
              <a:rPr lang="en-US" sz="1350" b="1" dirty="0" err="1" smtClean="0">
                <a:solidFill>
                  <a:srgbClr val="2563EB"/>
                </a:solidFill>
              </a:rPr>
              <a:t>trưng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11124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Bổ sung các phương trình sai lệch số dư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063737"/>
              </p:ext>
            </p:extLst>
          </p:nvPr>
        </p:nvGraphicFramePr>
        <p:xfrm>
          <a:off x="502920" y="2029968"/>
          <a:ext cx="8138160" cy="1353301"/>
        </p:xfrm>
        <a:graphic>
          <a:graphicData uri="http://schemas.openxmlformats.org/drawingml/2006/table">
            <a:tbl>
              <a:tblPr/>
              <a:tblGrid>
                <a:gridCol w="26042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2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Đặc trưng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Kiểu Dữ liệu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Miền &amp; Nghiệp vụ Giao dịch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step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nguyên (Integer)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Bước thời gian theo giờ (1..744, tương ứng 30 ngày mô phỏng)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loại (Categorical)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Loại giao dịch: CASH_OUT, TRANSFER, PAYMENT, CASH_IN, DEBIT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tiền thực hiện giao dịch (đơn vị tiền tệ cục bộ)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oldbalanceOrg / newbalanceOrig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nguồn (sender)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oldbalanceDest / newbalanceDest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đích (recipient)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02920" y="3730752"/>
            <a:ext cx="8138160" cy="89611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1" name="Text 18"/>
          <p:cNvSpPr/>
          <p:nvPr/>
        </p:nvSpPr>
        <p:spPr>
          <a:xfrm>
            <a:off x="640080" y="38039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Quan trọng từ Phân bố Dữ liệu</a:t>
            </a:r>
            <a:endParaRPr lang="en-US" sz="1010" dirty="0"/>
          </a:p>
        </p:txBody>
      </p:sp>
      <p:sp>
        <p:nvSpPr>
          <p:cNvPr id="22" name="Text 19"/>
          <p:cNvSpPr/>
          <p:nvPr/>
        </p:nvSpPr>
        <p:spPr>
          <a:xfrm>
            <a:off x="640080" y="4023360"/>
            <a:ext cx="7863840" cy="53035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tất cả các ca gian lận trong 6.36M giao dịch CHỈ xuất hiện ở 2 loại: TRANSFER và CASH_OUT. Các loại PAYMENT, CASH_IN và DEBIT hoàn toàn an toàn (0% gian lận). Do đó, bước tiền xử lý lọc chỉ giữ lại TRANSFER &amp; CASH_OUT giúp triệt tiêu 70% dữ liệu nhiễu.</a:t>
            </a:r>
            <a:endParaRPr lang="en-US" sz="93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 &amp; KỸ THUẬT ĐẶC TRƯNG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Dấu vết Hành vi Thực nghiệm (Behavioral Signatures)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thức Toán học của 14 Engineered 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 Formulation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liệu: Dấu vết Hành vi Cốt 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100% GIAN LẬN KHU BIỆT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1: </a:t>
            </a:r>
            <a:r>
              <a:rPr lang="en-US" sz="1100" b="1" dirty="0" err="1" smtClean="0">
                <a:solidFill>
                  <a:srgbClr val="21295C"/>
                </a:solidFill>
              </a:rPr>
              <a:t>Khoanh</a:t>
            </a:r>
            <a:r>
              <a:rPr lang="en-US" sz="1100" b="1" dirty="0" smtClean="0">
                <a:solidFill>
                  <a:srgbClr val="21295C"/>
                </a:solidFill>
              </a:rPr>
              <a:t> </a:t>
            </a:r>
            <a:r>
              <a:rPr lang="en-US" sz="1100" b="1" dirty="0" err="1" smtClean="0">
                <a:solidFill>
                  <a:srgbClr val="21295C"/>
                </a:solidFill>
              </a:rPr>
              <a:t>vùng</a:t>
            </a:r>
            <a:r>
              <a:rPr lang="en-US" sz="1100" b="1" dirty="0" smtClean="0">
                <a:solidFill>
                  <a:srgbClr val="21295C"/>
                </a:solidFill>
              </a:rPr>
              <a:t> </a:t>
            </a:r>
            <a:r>
              <a:rPr lang="en-US" sz="1100" b="1" dirty="0" err="1" smtClean="0">
                <a:solidFill>
                  <a:srgbClr val="21295C"/>
                </a:solidFill>
              </a:rPr>
              <a:t>Loại</a:t>
            </a:r>
            <a:r>
              <a:rPr lang="en-US" sz="1100" b="1" dirty="0" smtClean="0">
                <a:solidFill>
                  <a:srgbClr val="21295C"/>
                </a:solidFill>
              </a:rPr>
              <a:t> </a:t>
            </a:r>
            <a:r>
              <a:rPr lang="en-US" sz="1100" b="1" dirty="0">
                <a:solidFill>
                  <a:srgbClr val="21295C"/>
                </a:solidFill>
              </a:rPr>
              <a:t>Giao dịch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100% gian lận xảy ra duy nhất ở 2 loại giao dịch: </a:t>
            </a:r>
            <a:r>
              <a:rPr lang="en-US" sz="980" b="1" dirty="0">
                <a:solidFill>
                  <a:srgbClr val="DC2626"/>
                </a:solidFill>
              </a:rPr>
              <a:t>TRANSFER và CASH_OUT.
</a:t>
            </a:r>
            <a:r>
              <a:rPr lang="en-US" sz="980" dirty="0">
                <a:solidFill>
                  <a:srgbClr val="1F2937"/>
                </a:solidFill>
              </a:rPr>
              <a:t>• Các loại PAYMENT, CASH_IN, DEBIT hoàn toàn không có gian lận (0%).
</a:t>
            </a:r>
            <a:r>
              <a:rPr lang="en-US" sz="980" b="1" dirty="0">
                <a:solidFill>
                  <a:srgbClr val="2563EB"/>
                </a:solidFill>
              </a:rPr>
              <a:t>• Hành động Pipeline: </a:t>
            </a:r>
            <a:r>
              <a:rPr lang="en-US" sz="980" dirty="0">
                <a:solidFill>
                  <a:srgbClr val="1F2937"/>
                </a:solidFill>
              </a:rPr>
              <a:t>Lọc tập dữ liệu chỉ giữ lại TRANSFER &amp; CASH_OUT, triệt tiêu ngay 70% dữ liệu nhiễu vô ích.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3584448"/>
          </a:xfrm>
          <a:prstGeom prst="rect">
            <a:avLst/>
          </a:prstGeom>
          <a:solidFill>
            <a:srgbClr val="FEF2F2"/>
          </a:solidFill>
          <a:ln w="190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97.56% TỔNG SỐ CA GIAN LẬN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9852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Phát hiện 2: Vét Sạch Số Dư Nguồn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9852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Trong 97.56% giao dịch gian lận, tài khoản nạn nhân bị rút cạn sạch về 0: </a:t>
            </a:r>
            <a:r>
              <a:rPr lang="en-US" sz="980" b="1" dirty="0">
                <a:solidFill>
                  <a:srgbClr val="21295C"/>
                </a:solidFill>
              </a:rPr>
              <a:t>newbalanceOrig == 0.
</a:t>
            </a:r>
            <a:r>
              <a:rPr lang="en-US" sz="980" dirty="0">
                <a:solidFill>
                  <a:srgbClr val="1F2937"/>
                </a:solidFill>
              </a:rPr>
              <a:t>• Kẻ gian tối đa hóa số tiền lấy cắp trong 1 lần duy nhất trước khi bị khóa thẻ.
</a:t>
            </a:r>
            <a:r>
              <a:rPr lang="en-US" sz="980" b="1" dirty="0">
                <a:solidFill>
                  <a:srgbClr val="DC2626"/>
                </a:solidFill>
              </a:rPr>
              <a:t>• Tín hiệu Cốt lõi: </a:t>
            </a:r>
            <a:r>
              <a:rPr lang="en-US" sz="980" dirty="0">
                <a:solidFill>
                  <a:srgbClr val="1F2937"/>
                </a:solidFill>
              </a:rPr>
              <a:t>Tỷ lệ rút cạn tài khoản đóng vai trò phân loại chính xác hàng đầu.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01980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BẤT THƯỜNG BIẾN ĐỘNG SỐ DƯ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5696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3: Sai </a:t>
            </a:r>
            <a:r>
              <a:rPr lang="en-US" sz="1100" b="1" dirty="0" err="1">
                <a:solidFill>
                  <a:srgbClr val="21295C"/>
                </a:solidFill>
              </a:rPr>
              <a:t>Lệch</a:t>
            </a:r>
            <a:r>
              <a:rPr lang="en-US" sz="1100" b="1" dirty="0">
                <a:solidFill>
                  <a:srgbClr val="21295C"/>
                </a:solidFill>
              </a:rPr>
              <a:t> </a:t>
            </a:r>
            <a:r>
              <a:rPr lang="en-US" sz="1100" b="1" dirty="0" err="1" smtClean="0">
                <a:solidFill>
                  <a:srgbClr val="21295C"/>
                </a:solidFill>
              </a:rPr>
              <a:t>số</a:t>
            </a:r>
            <a:r>
              <a:rPr lang="en-US" sz="1100" b="1" dirty="0" smtClean="0">
                <a:solidFill>
                  <a:srgbClr val="21295C"/>
                </a:solidFill>
              </a:rPr>
              <a:t> </a:t>
            </a:r>
            <a:r>
              <a:rPr lang="en-US" sz="1100" b="1" dirty="0" err="1" smtClean="0">
                <a:solidFill>
                  <a:srgbClr val="21295C"/>
                </a:solidFill>
              </a:rPr>
              <a:t>dư</a:t>
            </a:r>
            <a:r>
              <a:rPr lang="en-US" sz="1100" b="1" dirty="0" smtClean="0">
                <a:solidFill>
                  <a:srgbClr val="21295C"/>
                </a:solidFill>
              </a:rPr>
              <a:t> </a:t>
            </a:r>
            <a:r>
              <a:rPr lang="en-US" sz="1100" b="1" dirty="0" err="1" smtClean="0">
                <a:solidFill>
                  <a:srgbClr val="21295C"/>
                </a:solidFill>
              </a:rPr>
              <a:t>đích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5696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Tỷ lệ lớn giao dịch gian lận không làm tăng số dư tài khoản đích theo sổ sách: </a:t>
            </a:r>
            <a:r>
              <a:rPr lang="en-US" sz="980" b="1" dirty="0">
                <a:solidFill>
                  <a:srgbClr val="21295C"/>
                </a:solidFill>
              </a:rPr>
              <a:t>newbalanceDest ≈ 0.
</a:t>
            </a:r>
            <a:r>
              <a:rPr lang="en-US" sz="980" dirty="0">
                <a:solidFill>
                  <a:srgbClr val="1F2937"/>
                </a:solidFill>
              </a:rPr>
              <a:t>• Phản ánh tài khoản rác (mule account) hoặc luân chuyển rửa tiền đa tầng tức thì.
</a:t>
            </a:r>
            <a:r>
              <a:rPr lang="en-US" sz="980" b="1" dirty="0">
                <a:solidFill>
                  <a:srgbClr val="2563EB"/>
                </a:solidFill>
              </a:rPr>
              <a:t>• Tín hiệu Cốt lõi: </a:t>
            </a:r>
            <a:r>
              <a:rPr lang="en-US" sz="980" dirty="0">
                <a:solidFill>
                  <a:srgbClr val="1F2937"/>
                </a:solidFill>
              </a:rPr>
              <a:t>Sai lệch số dư đích vạch trần hành vi rút tiền bất hợp pháp.</a:t>
            </a:r>
            <a:endParaRPr lang="en-US" sz="98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Kỹ thuật Đặc trưng: 14 Thuộc </a:t>
            </a:r>
            <a:r>
              <a:rPr lang="en-US" sz="1900" b="1" dirty="0" err="1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tính</a:t>
            </a: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Cốt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42416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1. Sai lệch Số dư Nguồn (Delta Orig)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errorBalanceOrig = oldbalanceOrg - amount - newbalanceOrig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40080" y="15361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Đo lường sai lệch giữa số dư kỳ vọng và số dư thực tế tài khoản nguồn.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157984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640080" y="2212848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2. Sai lệch Số dư Đích (Delta Dest)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43230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errorBalanceDest = oldbalanceDest + amount - newbalanceDest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640080" y="270662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Ghi nhận bất thường không ghi có hoặc luân chuyển tiền đa tầng tức thì.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02920" y="3328416"/>
            <a:ext cx="4251960" cy="1243584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3. Cờ Vét sạch Tài khoản &amp; Chu kỳ Giờ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602736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drain_flag = (oldbalanceOrg &gt; 0) &amp; (newbalanceOrig == 0)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= step % 24   |   is_overnight = 1 if hour ∈ [0..5] else 0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40416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Bắt trọn hành vi vét sạch tài khoản trong 1 bước và tấn công tự động ban đêm.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983480" y="987552"/>
            <a:ext cx="365760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0" name="Text 18"/>
          <p:cNvSpPr/>
          <p:nvPr/>
        </p:nvSpPr>
        <p:spPr>
          <a:xfrm>
            <a:off x="5074920" y="100584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9580509"/>
              </p:ext>
            </p:extLst>
          </p:nvPr>
        </p:nvGraphicFramePr>
        <p:xfrm>
          <a:off x="4983480" y="1243584"/>
          <a:ext cx="3657600" cy="1745489"/>
        </p:xfrm>
        <a:graphic>
          <a:graphicData uri="http://schemas.openxmlformats.org/drawingml/2006/table">
            <a:tbl>
              <a:tblPr/>
              <a:tblGrid>
                <a:gridCol w="1536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5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5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chênh lệch giữa số dư tính toán và thực tế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1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errorBalanceDest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Đích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lệch ghi có tại tài khoản nhận tiền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5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drain_flag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Cờ Vét sạch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nếu số dư nguồn bị rút sạch về 0, ngược lại 0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5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 kỳ Giờ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Giờ trong ngày (0..23</a:t>
                      </a:r>
                      <a:r>
                        <a:rPr lang="en-US" sz="800" dirty="0" smtClean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)/ </a:t>
                      </a: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nếu giao dịch từ 0h - 5h sáng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4983480" y="3062224"/>
            <a:ext cx="3657600" cy="1509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Text 20"/>
          <p:cNvSpPr/>
          <p:nvPr/>
        </p:nvSpPr>
        <p:spPr>
          <a:xfrm>
            <a:off x="5120640" y="310896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Feature Importance</a:t>
            </a:r>
            <a:endParaRPr lang="en-US" sz="980" dirty="0"/>
          </a:p>
        </p:txBody>
      </p:sp>
      <p:sp>
        <p:nvSpPr>
          <p:cNvPr id="24" name="Text 21"/>
          <p:cNvSpPr/>
          <p:nvPr/>
        </p:nvSpPr>
        <p:spPr>
          <a:xfrm>
            <a:off x="5120640" y="3328416"/>
            <a:ext cx="3383280" cy="11704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Hai biến errorBalanceOrig (49.9%) và newbalanceOrig (47.2%) chiếm &gt; 97.1% tổng Feature Split Gains.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</a:t>
            </a: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tạo bước nhảy vọt so với chỉ dùng các trường số tiền gốc.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Chống Rò rỉ: Toàn bộ 14 features được scale chuẩn hóa nghiêm ngặt CHỈ trên tập Train.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8138160" cy="6583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24128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</a:rPr>
              <a:t>Accuracy Paradox trong Bài toán Phân lớp Mất cân bằng Cực đoan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1225296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</a:rPr>
              <a:t>Một mô hình ngây thơ luôn dự đoán 100% là "Hợp lệ" vẫn đạt Accuracy 99.87% nhưng bỏ sót 100% gian lận! Do đó, đánh giá mô hình phải dẫn dắt bởi Precision, Recall, F1-Score và PR-AUC (Precision-Recall AUC).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1737360"/>
            <a:ext cx="3954780" cy="28346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40080" y="1810512"/>
            <a:ext cx="36804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95C"/>
                </a:solidFill>
              </a:rPr>
              <a:t>Kỹ thuật Nội suy Mẫu SMOTE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066544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685800" y="2093976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x_new = x_i + λ · (x_zi - x_i),    với  λ ∈ [0, 1]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640080" y="2468880"/>
            <a:ext cx="3680460" cy="2029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21295C"/>
                </a:solidFill>
              </a:rPr>
              <a:t>• Cơ chế: </a:t>
            </a:r>
            <a:r>
              <a:rPr lang="en-US" sz="920" dirty="0">
                <a:solidFill>
                  <a:srgbClr val="1F2937"/>
                </a:solidFill>
              </a:rPr>
              <a:t>Nội suy mẫu nhân tạo thiểu số dọc theo đoạn thẳng nối các láng giềng k-NN trong Latent Space.
</a:t>
            </a:r>
            <a:r>
              <a:rPr lang="en-US" sz="920" b="1" dirty="0">
                <a:solidFill>
                  <a:srgbClr val="2563EB"/>
                </a:solidFill>
              </a:rPr>
              <a:t>• Ưu điểm: </a:t>
            </a:r>
            <a:r>
              <a:rPr lang="en-US" sz="920" dirty="0">
                <a:solidFill>
                  <a:srgbClr val="1F2937"/>
                </a:solidFill>
              </a:rPr>
              <a:t>Tạo Decision Boundary rõ nét, phân tách tốt giữa Fraud và Legitimate.
</a:t>
            </a:r>
            <a:r>
              <a:rPr lang="en-US" sz="920" b="1" dirty="0">
                <a:solidFill>
                  <a:srgbClr val="21295C"/>
                </a:solidFill>
              </a:rPr>
              <a:t>• Kết quả Thực nghiệm: </a:t>
            </a:r>
            <a:r>
              <a:rPr lang="en-US" sz="920" dirty="0">
                <a:solidFill>
                  <a:srgbClr val="1F2937"/>
                </a:solidFill>
              </a:rPr>
              <a:t>Đạt F1-Score cao nhất (99.73%), chỉ tạo đúng 1 False Positive trên 38,357 mẫu test.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686300" y="1737360"/>
            <a:ext cx="39547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4777740" y="1755648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460072"/>
              </p:ext>
            </p:extLst>
          </p:nvPr>
        </p:nvGraphicFramePr>
        <p:xfrm>
          <a:off x="4686300" y="1993392"/>
          <a:ext cx="3954780" cy="1451944"/>
        </p:xfrm>
        <a:graphic>
          <a:graphicData uri="http://schemas.openxmlformats.org/drawingml/2006/table">
            <a:tbl>
              <a:tblPr/>
              <a:tblGrid>
                <a:gridCol w="1423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7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3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26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Thiểu số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gian lận gốc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x_zi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Láng giềng k-NN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gian lận lân cận gần nhất được chọn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λ ∈ [0, 1]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Hệ số Nội suy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thực ngẫu nhiên xác định vị trí sinh mẫu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Γ_i = r_i / ∑ r_i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Trọng số ADASYN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Tỷ lệ sinh mẫu thích ứng theo mật độ vùng biên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686300" y="3500202"/>
            <a:ext cx="3954780" cy="1071797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6"/>
          <p:cNvSpPr/>
          <p:nvPr/>
        </p:nvSpPr>
        <p:spPr>
          <a:xfrm>
            <a:off x="4777740" y="3560772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Tái lấy mẫu Mật độ ADASYN vs. Đúc kết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777740" y="3762530"/>
            <a:ext cx="3771900" cy="754605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8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• ADASYN sinh mẫu tỷ lệ thuận theo mật độ vùng biên khó, tuy nhiên dễ over-synthesize ở vùng chồng lấn nhiễu gây tăng nhẹ False Alarm.
</a:t>
            </a:r>
            <a:r>
              <a:rPr lang="en-US" sz="880" b="1" dirty="0">
                <a:solidFill>
                  <a:srgbClr val="2563EB"/>
                </a:solidFill>
              </a:rPr>
              <a:t>• Đúc kết: SMOTE ổn định và vượt trội hơn ADASYN trên cả Random Forest và XGBoost.</a:t>
            </a:r>
            <a:endParaRPr lang="en-US" sz="88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PHÁP ĐỀ XUẤT &amp; KIẾN TRÚC PIPELINE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Toàn diện Chuẩn Leak-Free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 (Manifold Reconstruction)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Machine Learning Chuẩn Leak-Free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B.1: Filtering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3949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Lọc giữ lại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TRANSFER &amp;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CASH_OUT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1645920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01952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B.2: Feature Eng.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38528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Tính toán 14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 smtClean="0">
                <a:solidFill>
                  <a:srgbClr val="1F2937"/>
                </a:solidFill>
              </a:rPr>
              <a:t>engineered</a:t>
            </a:r>
            <a:r>
              <a:rPr lang="en-US" sz="880" dirty="0"/>
              <a:t> </a:t>
            </a:r>
            <a:r>
              <a:rPr lang="en-US" sz="880" dirty="0" smtClean="0">
                <a:solidFill>
                  <a:srgbClr val="1F2937"/>
                </a:solidFill>
              </a:rPr>
              <a:t>features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044952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00984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B.3: Stratified Split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37560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Phân chia chuẩn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80% Train /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20% Test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4443984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00016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B.4: Resampling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36592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SMOTE / ADASYN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CHỈ áp dụng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tập Train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843016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099048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8" name="Shape 26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9" name="Text 27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B.5: Model Training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35624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Huấn luyện RF,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XGB &amp; Deep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Autoencoder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7242048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49808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3" name="Shape 31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4" name="Text 32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B.6: Evaluation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53465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Đánh giá độc lập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Test set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(N=40,000)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502920" y="2724912"/>
            <a:ext cx="8138160" cy="184708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7" name="Text 35"/>
          <p:cNvSpPr/>
          <p:nvPr/>
        </p:nvSpPr>
        <p:spPr>
          <a:xfrm>
            <a:off x="640080" y="279806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1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</a:t>
            </a:r>
            <a:r>
              <a:rPr lang="en-US" sz="101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1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tắc</a:t>
            </a:r>
            <a:r>
              <a:rPr lang="en-US" sz="101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1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Chống</a:t>
            </a:r>
            <a:r>
              <a:rPr lang="en-US" sz="101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Rò rỉ Dữ </a:t>
            </a:r>
            <a:r>
              <a:rPr lang="en-US" sz="1010" b="1" dirty="0" err="1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liệu</a:t>
            </a: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1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(Data </a:t>
            </a: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Leakage)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640080" y="3017520"/>
            <a:ext cx="7863840" cy="14813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tách Tập Dữ liệu Tuyệt đối: Phân chia Stratified Train/Test (80/20) được thực hiện TRƯỚC BẤT KỲ bước resampling hay chuẩn hóa nào.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Resampling Phân lập: SMOTE / ADASYN tuyệt đối CHỈ áp dụng trên tập huấn luyện (Train fold). Tập Test hoàn toàn giữ nguyên phân bố tự nhiên (0.13% fraud).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Chuẩn hóa StandardScaler: Bộ biến đổi tỷ lệ chỉ được fit trên tập Train và transform mù trên tập Test, không rò rỉ bất kỳ thông tin trung bình/độ lệch chuẩn nào.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tối ưu Hyperparameter trên Test Set: Toàn bộ quá trình chọn ngưỡng và tune tham số đều tuân thủ Cross-Validation nội bộ trên tập Train.</a:t>
            </a:r>
            <a:endParaRPr lang="en-US" sz="93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1: Random Forest Ensemble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1444752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85800" y="1463040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1828800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685800" y="1856232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Tham số: n_estimators = 100, max_depth = 15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p_i = Xác suất mẫu thuộc lớp i tại node D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r>
              <a:rPr lang="en-US" sz="900" dirty="0">
                <a:solidFill>
                  <a:srgbClr val="1F2937"/>
                </a:solidFill>
              </a:rPr>
              <a:t>Tập hợp 100 cây quyết định độc lập (Bagging) với kỹ thuật lấy mẫu ngẫu nhiên không gian con đặc trưng (Random Subspace).
</a:t>
            </a:r>
            <a:r>
              <a:rPr lang="en-US" sz="900" b="1" dirty="0">
                <a:solidFill>
                  <a:srgbClr val="2563EB"/>
                </a:solidFill>
              </a:rPr>
              <a:t>• Peak Precision: </a:t>
            </a:r>
            <a:r>
              <a:rPr lang="en-US" sz="900" dirty="0">
                <a:solidFill>
                  <a:srgbClr val="1F2937"/>
                </a:solidFill>
              </a:rPr>
              <a:t>Chỉ sinh duy nhất 1 False Positive trên 38,357 giao dịch hợp lệ (Precision = 99.94%).
</a:t>
            </a:r>
            <a:r>
              <a:rPr lang="en-US" sz="900" b="1" dirty="0">
                <a:solidFill>
                  <a:srgbClr val="DC2626"/>
                </a:solidFill>
              </a:rPr>
              <a:t>• Hạn chế: </a:t>
            </a:r>
            <a:r>
              <a:rPr lang="en-US" sz="900" dirty="0">
                <a:solidFill>
                  <a:srgbClr val="1F2937"/>
                </a:solidFill>
              </a:rPr>
              <a:t>Thời gian huấn luyện </a:t>
            </a:r>
            <a:r>
              <a:rPr lang="en-US" sz="900" dirty="0" err="1">
                <a:solidFill>
                  <a:srgbClr val="1F2937"/>
                </a:solidFill>
              </a:rPr>
              <a:t>lâu</a:t>
            </a:r>
            <a:r>
              <a:rPr lang="en-US" sz="900" dirty="0">
                <a:solidFill>
                  <a:srgbClr val="1F2937"/>
                </a:solidFill>
              </a:rPr>
              <a:t> </a:t>
            </a:r>
            <a:r>
              <a:rPr lang="en-US" sz="900" dirty="0" smtClean="0">
                <a:solidFill>
                  <a:srgbClr val="1F2937"/>
                </a:solidFill>
              </a:rPr>
              <a:t>(~20 </a:t>
            </a:r>
            <a:r>
              <a:rPr lang="en-US" sz="900" dirty="0" err="1" smtClean="0">
                <a:solidFill>
                  <a:srgbClr val="1F2937"/>
                </a:solidFill>
              </a:rPr>
              <a:t>phút</a:t>
            </a:r>
            <a:r>
              <a:rPr lang="en-US" sz="900" dirty="0" smtClean="0">
                <a:solidFill>
                  <a:srgbClr val="1F2937"/>
                </a:solidFill>
              </a:rPr>
              <a:t>), </a:t>
            </a:r>
            <a:r>
              <a:rPr lang="en-US" sz="900" dirty="0">
                <a:solidFill>
                  <a:srgbClr val="1F2937"/>
                </a:solidFill>
              </a:rPr>
              <a:t>chi phí tính toán cao khi dữ liệu phình to.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8630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Shape 14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2: XGBoost Classifier (GBDT)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23460" y="1444752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4869180" y="1463040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23460" y="1828800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1" name="Text 19"/>
          <p:cNvSpPr/>
          <p:nvPr/>
        </p:nvSpPr>
        <p:spPr>
          <a:xfrm>
            <a:off x="4869180" y="1856232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Phạt phức tạp: Ω(f_t) = γ · T + ½ λ · ∑ w_j²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g_i, h_i = Gradient &amp; Hessian bậc 1, 2; T = Số node lá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2346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r>
              <a:rPr lang="en-US" sz="900" dirty="0">
                <a:solidFill>
                  <a:srgbClr val="1F2937"/>
                </a:solidFill>
              </a:rPr>
              <a:t>Gradient Boosting cải tiến với gradient bậc 1 (g_i) và Hessian bậc 2 (h_i), bổ sung L2 regularization chống Overfitting.
</a:t>
            </a:r>
            <a:r>
              <a:rPr lang="en-US" sz="900" b="1" dirty="0">
                <a:solidFill>
                  <a:srgbClr val="2563EB"/>
                </a:solidFill>
              </a:rPr>
              <a:t>• Ưu thế Vượt trội: </a:t>
            </a:r>
            <a:r>
              <a:rPr lang="en-US" sz="900" dirty="0">
                <a:solidFill>
                  <a:srgbClr val="1F2937"/>
                </a:solidFill>
              </a:rPr>
              <a:t>F1-Score đạt 99.63% tương đương RF, nhưng tốc độ huấn luyện nhanh </a:t>
            </a:r>
            <a:r>
              <a:rPr lang="en-US" sz="900" dirty="0" err="1">
                <a:solidFill>
                  <a:srgbClr val="1F2937"/>
                </a:solidFill>
              </a:rPr>
              <a:t>gấp</a:t>
            </a:r>
            <a:r>
              <a:rPr lang="en-US" sz="900" dirty="0">
                <a:solidFill>
                  <a:srgbClr val="1F2937"/>
                </a:solidFill>
              </a:rPr>
              <a:t> </a:t>
            </a:r>
            <a:r>
              <a:rPr lang="en-US" sz="900" dirty="0" err="1" smtClean="0">
                <a:solidFill>
                  <a:srgbClr val="1F2937"/>
                </a:solidFill>
              </a:rPr>
              <a:t>khoảng</a:t>
            </a:r>
            <a:r>
              <a:rPr lang="en-US" sz="900" dirty="0" smtClean="0">
                <a:solidFill>
                  <a:srgbClr val="1F2937"/>
                </a:solidFill>
              </a:rPr>
              <a:t> 28 </a:t>
            </a:r>
            <a:r>
              <a:rPr lang="en-US" sz="900" dirty="0">
                <a:solidFill>
                  <a:srgbClr val="1F2937"/>
                </a:solidFill>
              </a:rPr>
              <a:t>lần (~</a:t>
            </a:r>
            <a:r>
              <a:rPr lang="en-US" sz="900" dirty="0" smtClean="0">
                <a:solidFill>
                  <a:srgbClr val="1F2937"/>
                </a:solidFill>
              </a:rPr>
              <a:t>42s</a:t>
            </a:r>
            <a:r>
              <a:rPr lang="en-US" sz="900" dirty="0">
                <a:solidFill>
                  <a:srgbClr val="1F2937"/>
                </a:solidFill>
              </a:rPr>
              <a:t>).
</a:t>
            </a:r>
            <a:r>
              <a:rPr lang="en-US" sz="900" b="1" dirty="0">
                <a:solidFill>
                  <a:srgbClr val="21295C"/>
                </a:solidFill>
              </a:rPr>
              <a:t>• Production Ready: </a:t>
            </a:r>
            <a:r>
              <a:rPr lang="en-US" sz="900" dirty="0">
                <a:solidFill>
                  <a:srgbClr val="1F2937"/>
                </a:solidFill>
              </a:rPr>
              <a:t>Độ trễ suy luận &lt; 0.5ms, lý tưởng cho cổng thanh toán real-time.</a:t>
            </a:r>
            <a:endParaRPr lang="en-US" sz="900" dirty="0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131" y="1463040"/>
            <a:ext cx="3281934" cy="27432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115" y="1463040"/>
            <a:ext cx="2770773" cy="3017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389120" cy="35844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5156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</a:rPr>
              <a:t>Cấu trúc &amp; Nguyên lý Phát hiện Bất thường (3 Giai đoạn)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351213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0" name="Text 8"/>
          <p:cNvSpPr/>
          <p:nvPr/>
        </p:nvSpPr>
        <p:spPr>
          <a:xfrm>
            <a:off x="685800" y="1391986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(Input) → 8 (Dense) → 4 (Bottleneck) → 8 (Dense) → 14 (Output)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0080" y="1763441"/>
            <a:ext cx="4114800" cy="461326"/>
          </a:xfrm>
          <a:prstGeom prst="rect">
            <a:avLst/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685800" y="179312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029968"/>
            <a:ext cx="4114800" cy="24688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1. Giai đoạn Học Chuẩn (Normal Manifold):
</a:t>
            </a:r>
            <a:r>
              <a:rPr lang="en-US" sz="900" dirty="0">
                <a:solidFill>
                  <a:srgbClr val="1F2937"/>
                </a:solidFill>
              </a:rPr>
              <a:t>• Mạng chỉ huấn luyện trên giao dịch HỢP LỆ, học cách nén và tái tạo cấu trúc luồng tiền bình thường.
</a:t>
            </a:r>
            <a:r>
              <a:rPr lang="en-US" sz="900" b="1" dirty="0">
                <a:solidFill>
                  <a:srgbClr val="DC2626"/>
                </a:solidFill>
              </a:rPr>
              <a:t>2. Giai đoạn Bắt Lỗi (Anomaly Spike):
</a:t>
            </a:r>
            <a:r>
              <a:rPr lang="en-US" sz="900" dirty="0">
                <a:solidFill>
                  <a:srgbClr val="1F2937"/>
                </a:solidFill>
              </a:rPr>
              <a:t>• Khi gặp giao dịch gian lận/Zero-Day, mạng không thể tái tạo chính xác → Sai số MSE tăng vọt.
</a:t>
            </a:r>
            <a:r>
              <a:rPr lang="en-US" sz="900" b="1" dirty="0">
                <a:solidFill>
                  <a:srgbClr val="2563EB"/>
                </a:solidFill>
              </a:rPr>
              <a:t>3. Giai đoạn Ra Quyết định (Thresholding):
</a:t>
            </a:r>
            <a:r>
              <a:rPr lang="en-US" sz="900" dirty="0">
                <a:solidFill>
                  <a:srgbClr val="1F2937"/>
                </a:solidFill>
              </a:rPr>
              <a:t>• Gán cờ Gian lận nếu L_rec(x, x_recon) &gt; τ (ngưỡng phân vị 95th: τ = 0.0455).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20640" y="987552"/>
            <a:ext cx="352044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5" name="Text 13"/>
          <p:cNvSpPr/>
          <p:nvPr/>
        </p:nvSpPr>
        <p:spPr>
          <a:xfrm>
            <a:off x="5212080" y="1005840"/>
            <a:ext cx="3337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 đồng nhất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609567"/>
              </p:ext>
            </p:extLst>
          </p:nvPr>
        </p:nvGraphicFramePr>
        <p:xfrm>
          <a:off x="5120640" y="1243583"/>
          <a:ext cx="3520440" cy="1739158"/>
        </p:xfrm>
        <a:graphic>
          <a:graphicData uri="http://schemas.openxmlformats.org/drawingml/2006/table">
            <a:tbl>
              <a:tblPr/>
              <a:tblGrid>
                <a:gridCol w="12321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6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21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967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vào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gốc (14 chiều)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x_recon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ra tái tạo từ tầng giải mã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 = 14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chiều Đặc trưng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số lượng thuộc tính đầu vào của mạng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L_rec(x, x_recon)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số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Hàm mất mát MSE đo mức độ dị biệt giao dịch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 = 0.0455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Cutoff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cắt phân vị 95th để kích hoạt cảnh báo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120640" y="3055894"/>
            <a:ext cx="3520440" cy="151610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Text 15"/>
          <p:cNvSpPr/>
          <p:nvPr/>
        </p:nvSpPr>
        <p:spPr>
          <a:xfrm>
            <a:off x="5257800" y="3116580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Độc tôn: Bắt Tấn công Zero-Day</a:t>
            </a:r>
            <a:endParaRPr lang="en-US" sz="960" dirty="0"/>
          </a:p>
        </p:txBody>
      </p:sp>
      <p:sp>
        <p:nvSpPr>
          <p:cNvPr id="19" name="Text 16"/>
          <p:cNvSpPr/>
          <p:nvPr/>
        </p:nvSpPr>
        <p:spPr>
          <a:xfrm>
            <a:off x="5257800" y="3336036"/>
            <a:ext cx="3246120" cy="1162811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 fontScale="92500" lnSpcReduction="10000"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đạt 75.23% Recall dù hoàn toàn KHÔNG sử dụng nhãn gian lận khi huấn luyện.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Miễn nhiễm mẫu cũ: Phát hiện hiệu quả các thủ thuật gian lận mới chưa từng có nhãn.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Phòng thủ Thứ cấp (Defense-in-Depth): Đóng vai trò lưới lọc an toàn chuyển giao dịch nghi vấn sang kiểm tra chuyên sâu.</a:t>
            </a:r>
            <a:endParaRPr lang="en-US" sz="880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381" y="1778508"/>
            <a:ext cx="2251267" cy="3916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 &amp; ĐÁNH GIÁ SO SÁNH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Hiệu năng Toàn diện &amp; </a:t>
            </a:r>
            <a:r>
              <a:rPr lang="en-US" sz="1100" dirty="0" err="1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Bảng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 </a:t>
            </a:r>
            <a:r>
              <a:rPr lang="en-US" sz="1100" dirty="0" err="1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sánh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 err="1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đa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r>
              <a:rPr lang="en-US" sz="1100" dirty="0" err="1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hỉ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số (Precision, Recall, F1, PR-AUC)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(Confusion Matrix) &amp; Đánh đổi False Alarm vs. Missed Fraud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Importance Attribution &amp; Đóng góp Vượt </a:t>
            </a:r>
            <a:r>
              <a:rPr lang="en-US" sz="1100" dirty="0" err="1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bậc</a:t>
            </a: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 err="1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của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 Thresholding (Deep Autoencoder)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nghiệm: 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sánh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đa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21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571680"/>
              </p:ext>
            </p:extLst>
          </p:nvPr>
        </p:nvGraphicFramePr>
        <p:xfrm>
          <a:off x="502920" y="987551"/>
          <a:ext cx="4069082" cy="1303020"/>
        </p:xfrm>
        <a:graphic>
          <a:graphicData uri="http://schemas.openxmlformats.org/drawingml/2006/table">
            <a:tbl>
              <a:tblPr/>
              <a:tblGrid>
                <a:gridCol w="13021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hình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Resampling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Prec.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1187s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1215s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1295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41.7s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99.57%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43.2s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Autoencoder (Zero-Day)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 (Unsup.)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50.71%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68.4s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2852928"/>
            <a:ext cx="4069080" cy="17190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292608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</a:t>
            </a:r>
            <a:r>
              <a:rPr lang="en-US" sz="940" b="1" dirty="0" err="1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</a:t>
            </a:r>
            <a:r>
              <a:rPr lang="en-US" sz="94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4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bảng</a:t>
            </a:r>
            <a:r>
              <a:rPr lang="en-US" sz="94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 </a:t>
            </a:r>
            <a:r>
              <a:rPr lang="en-US" sz="94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sánh</a:t>
            </a:r>
            <a:endParaRPr lang="en-US" sz="940" dirty="0"/>
          </a:p>
        </p:txBody>
      </p:sp>
      <p:sp>
        <p:nvSpPr>
          <p:cNvPr id="10" name="Text 7"/>
          <p:cNvSpPr/>
          <p:nvPr/>
        </p:nvSpPr>
        <p:spPr>
          <a:xfrm>
            <a:off x="640080" y="3145536"/>
            <a:ext cx="3794760" cy="135331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Forest + SMOTE đạt F1-Score đỉnh cao 99.73% nhờ cơ chế Bagging triệt tiêu phương sai.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 + SMOTE đạt hiệu năng tương đương (F1 = 99.63%) nhưng tốc độ huấn luyện nhanh gấp 28.5 lần.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bắt được 75.23% gian lận hoàn toàn không cần nhãn giám sát, tạo lớp phòng thủ Zero-Day vững chắc.</a:t>
            </a:r>
            <a:endParaRPr lang="en-US" sz="860" dirty="0"/>
          </a:p>
        </p:txBody>
      </p:sp>
      <p:pic>
        <p:nvPicPr>
          <p:cNvPr id="11" name="Image 0" descr="/Users/tcdtist/dev/uit/cs106/assignments/Final/draft/fraud-detection/slide/slide_assets/academic_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987552"/>
            <a:ext cx="3886200" cy="18348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754880" y="2852928"/>
            <a:ext cx="3886200" cy="17190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926080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</a:t>
            </a:r>
            <a:r>
              <a:rPr lang="en-US" sz="920" b="1" dirty="0" err="1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Biểu</a:t>
            </a: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2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4892040" y="3206444"/>
            <a:ext cx="3611880" cy="129240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Precision &amp; Recall của RF và XGBoost vượt trội trên 99.5%, khẳng định tính khả thi triển khai thực tế.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hy sinh Precision (38.2%) để duy trì Recall cao (75.2%) nhằm phòng ngừa triệt để tổn thất tài chính.</a:t>
            </a:r>
            <a:endParaRPr lang="en-US" sz="84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&amp; Đánh đổi Sai số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82" y="969264"/>
            <a:ext cx="7586594" cy="2194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59436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Random Forest + SMOTE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436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1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38,356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9436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Tỷ lệ False Alarm thấp kỷ lục (chỉ 1 ca trên 38,357 mẫu test).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Precision đạt 99.94%, gần như triệt tiêu hoàn toàn báo động giả.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326136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0"/>
          <p:cNvSpPr/>
          <p:nvPr/>
        </p:nvSpPr>
        <p:spPr>
          <a:xfrm>
            <a:off x="335280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XGBoost + SMOTE (Sản xuất)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5280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4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38,353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35280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Chỉ 4 ca cảnh báo nhầm, đồng thời bắt trúng 1,635 ca gian lận.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Độ trễ suy luận &lt; 0.5ms — cấu hình tối ưu nhất cho môi trường thực tế.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6019800" y="3273552"/>
            <a:ext cx="2621280" cy="14584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7" name="Text 14"/>
          <p:cNvSpPr/>
          <p:nvPr/>
        </p:nvSpPr>
        <p:spPr>
          <a:xfrm>
            <a:off x="611124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Deep Autoencoder (Zero-Day)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11124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1,236  •  FP: 1,998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407  •  TN: 36,359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1124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Bắt 1,236 ca gian lận trong điều kiện học không giám sát.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Đóng vai trò màng lọc an toàn thứ cấp cho các mẫu tấn công phi quy ước.</a:t>
            </a:r>
            <a:endParaRPr lang="en-US" sz="82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Đóng góp Đặc trưng (Feature Importance)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87552"/>
            <a:ext cx="4069080" cy="221386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92855"/>
            <a:ext cx="4069080" cy="1279145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3366007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Ý nghĩa Kỹ thuật Đặc trưng (Feature Engineering)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640080" y="3585463"/>
            <a:ext cx="3794760" cy="913385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2 đặc trưng tự chế chiếm 97.1% tổng Feature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cây dựa chủ yếu vào sai lệch cân bằng kế toán để phân định gian lận thay vì chỉ học giá trị số tiền gốc.</a:t>
            </a:r>
            <a:endParaRPr lang="en-US" sz="84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112556"/>
              </p:ext>
            </p:extLst>
          </p:nvPr>
        </p:nvGraphicFramePr>
        <p:xfrm>
          <a:off x="4754880" y="987551"/>
          <a:ext cx="3886200" cy="1494028"/>
        </p:xfrm>
        <a:graphic>
          <a:graphicData uri="http://schemas.openxmlformats.org/drawingml/2006/table">
            <a:tbl>
              <a:tblPr/>
              <a:tblGrid>
                <a:gridCol w="1476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4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trưng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Split Gain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Phân loại Nghiệp vụ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số dư tài khoản nguồn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47.2%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Hành vi rút cạn sạch tài khoản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 trị giao dịch bất thường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Khung giờ tấn công đêm (0h - 5h)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features khác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 thuộc tính phụ trợ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788920"/>
            <a:ext cx="3886200" cy="17830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86207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Bản chất Bài toán Gian lận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3081528"/>
            <a:ext cx="3611880" cy="1417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errorBalanceOrig = 49.9%: Khi kẻ gian thực hiện lệnh chuyển/rút tiền, số dư sổ cái bị trừ vượt mức số tiền thực tế có trong tài khoản.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newbalanceOrig = 47.2%: 97.56% các ca gian lận để lại số dư đích danh bằng 0 nhằm tẩu tán tối đa tài sản.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Triệt tiêu nhiễu: Kỹ thuật đặc </a:t>
            </a:r>
            <a:r>
              <a:rPr lang="en-US" sz="830" dirty="0" err="1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trưng</a:t>
            </a: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830" dirty="0" err="1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biến</a:t>
            </a:r>
            <a:r>
              <a:rPr lang="en-US" sz="83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toán phân lớp phi tuyến phức tạp thành ranh giới quyết định tuyến tính rõ rệt.</a:t>
            </a:r>
            <a:endParaRPr lang="en-US" sz="83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autoencoder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87552"/>
            <a:ext cx="4069080" cy="21215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00514"/>
            <a:ext cx="4069080" cy="137148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327366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lý Phân tách Phân bố Sai số</a:t>
            </a:r>
            <a:endParaRPr lang="en-US" sz="910" dirty="0"/>
          </a:p>
        </p:txBody>
      </p:sp>
      <p:sp>
        <p:nvSpPr>
          <p:cNvPr id="10" name="Text 7"/>
          <p:cNvSpPr/>
          <p:nvPr/>
        </p:nvSpPr>
        <p:spPr>
          <a:xfrm>
            <a:off x="640080" y="3493122"/>
            <a:ext cx="3794760" cy="100572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hợp lệ (Xanh) tập trung ở vùng sai số MSE cực thấp (&lt; 0.02).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gian lận (Đỏ) có sai số tái tạo trải dài sang phải do cấu trúc dòng tiền dị biệt không thể nén qua bottleneck.</a:t>
            </a:r>
            <a:endParaRPr lang="en-US" sz="83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080533"/>
              </p:ext>
            </p:extLst>
          </p:nvPr>
        </p:nvGraphicFramePr>
        <p:xfrm>
          <a:off x="4754880" y="987551"/>
          <a:ext cx="3886200" cy="1110870"/>
        </p:xfrm>
        <a:graphic>
          <a:graphicData uri="http://schemas.openxmlformats.org/drawingml/2006/table">
            <a:tbl>
              <a:tblPr/>
              <a:tblGrid>
                <a:gridCol w="1088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21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vị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τ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Precision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0.0211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88.4%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24.1%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95th %ile (Chọn)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0.0455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0.2104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68.5%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0.7460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606040"/>
            <a:ext cx="3886200" cy="1965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67919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Quyết định Điểm cắt Ngưỡng Tối ưu (τ = 0.0455)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2898648"/>
            <a:ext cx="3611880" cy="1600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cắt phân vị 95th (τ = 0.0455) tạo điểm cân bằng tối ưu giữa Recall (75.2%) và Precision (38.2%).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Chiến lược Defense-in-Depth: Nếu mô hình có giám sát bị qua mặt bởi hình thức lừa đảo mới, Autoencoder sẽ kích hoạt báo động chuyển luồng sang thẩm định chuyên sâu.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phụ thuộc nhãn: Mô hình duy trì khả năng tự thích ứng bền bỉ trong môi trường luồng tiền thay đổi liên tục.</a:t>
            </a:r>
            <a:endParaRPr lang="en-US" sz="83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&amp; ĐỊNH HƯỚNG TƯƠNG LAI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Dashboard Streamlit Real-Time Inference &amp; Batch CSV Scoring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Học thuật &amp; Quy chuẩn Kỹ thuật Cốt lõi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Hạn chế Nghiên cứu &amp; Lộ trình Mở rộng Graph Neural Networks (GNN)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Streamlit &amp;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triển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21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760720" y="987552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5897880" y="1060704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Cốt lõi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897880" y="1280160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 lnSpcReduction="10000"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chuẩn Leak-Free: 80/20 Stratified Split chống rò rỉ dữ liệu.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Engineering: 14 engineered features chiếm &gt; 97%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Superior Benchmark: F1 = 99.73%, Recall = 99.51% (chỉ bỏ sót 8 ca).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Phòng thủ Đa tầng: Kết hợp XGBoost (&lt; 0.5ms) và Autoencoder.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60720" y="2834640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2" name="Text 20"/>
          <p:cNvSpPr/>
          <p:nvPr/>
        </p:nvSpPr>
        <p:spPr>
          <a:xfrm>
            <a:off x="5897880" y="290779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 err="1" smtClean="0">
                <a:solidFill>
                  <a:srgbClr val="21295C"/>
                </a:solidFill>
                <a:latin typeface="Segoe UI" pitchFamily="34" charset="0"/>
                <a:cs typeface="Segoe UI" pitchFamily="34" charset="-120"/>
              </a:rPr>
              <a:t>Hướng</a:t>
            </a:r>
            <a:r>
              <a:rPr lang="en-US" sz="920" b="1" dirty="0" smtClean="0">
                <a:solidFill>
                  <a:srgbClr val="21295C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920" b="1" dirty="0" err="1" smtClean="0">
                <a:solidFill>
                  <a:srgbClr val="21295C"/>
                </a:solidFill>
                <a:latin typeface="Segoe UI" pitchFamily="34" charset="0"/>
                <a:cs typeface="Segoe UI" pitchFamily="34" charset="-120"/>
              </a:rPr>
              <a:t>phát</a:t>
            </a:r>
            <a:r>
              <a:rPr lang="en-US" sz="920" b="1" dirty="0" smtClean="0">
                <a:solidFill>
                  <a:srgbClr val="21295C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920" b="1" dirty="0" err="1" smtClean="0">
                <a:solidFill>
                  <a:srgbClr val="21295C"/>
                </a:solidFill>
                <a:latin typeface="Segoe UI" pitchFamily="34" charset="0"/>
                <a:cs typeface="Segoe UI" pitchFamily="34" charset="-120"/>
              </a:rPr>
              <a:t>triển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897880" y="3127248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Neural Networks (GNN): GraphSAGE phát hiện rửa tiền đa tầng.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Phân tán (Kafka/Flink): Streaming hàng triệu sự kiện/giây.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AI (XAI): SHAP giải thích quyết định chặn giao dịch.</a:t>
            </a:r>
            <a:endParaRPr lang="en-US" sz="840" dirty="0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63840"/>
            <a:ext cx="5257800" cy="23543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8138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CHÂN THÀNH CẢM ƠN THẦY VÀ CÁC BẠN</a:t>
            </a:r>
            <a:endParaRPr lang="en-US" sz="22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LẮNG NGHE BÁO CÁO!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138988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 •  BÁO CÁO BẢO VỆ ĐỒ ÁN  •  NHÓM 09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960120" y="1719072"/>
            <a:ext cx="7223760" cy="2670048"/>
          </a:xfrm>
          <a:prstGeom prst="rect">
            <a:avLst/>
          </a:prstGeom>
          <a:solidFill>
            <a:srgbClr val="172048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960120" y="1828800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THAM KHẢO HỌC THUẬT &amp; REPOSITORY DỰ ÁN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2157984"/>
            <a:ext cx="67665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Mã nguồn Dự </a:t>
            </a:r>
            <a:r>
              <a:rPr lang="en-US" sz="930" b="1" dirty="0" err="1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án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(Public Repo): </a:t>
            </a:r>
            <a:r>
              <a:rPr lang="en-US" sz="93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https://github.com/uit-25730067-chithanh/CS106-Team09-Fraud-Detection</a:t>
            </a:r>
            <a:r>
              <a:rPr lang="en-US" sz="93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PaySim Simulator: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 A. Lopez-Rojas, A. Elmir, and S. Axelsson, "PaySim: A financial mobile money simulator for fraud detection," in Proc. 28th Eur. Model. Simul. Symp., 2016, pp. 249-255.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XGBoost GBDT: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T. Chen and C. Guestrin, "XGBoost: A scalable tree boosting system," in Proc. 22nd ACM SIGKDD, 2016, pp. 785-794.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SMOTE Resampling: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N. V. Chawla et al., "SMOTE: Synthetic minority over-sampling technique," J. Artif. Intell. Res., vol. 16, pp. 321-357, 2002.
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30" i="1" dirty="0" err="1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</a:t>
            </a:r>
            <a:r>
              <a:rPr lang="en-US" sz="93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09 rất mong nhận được những câu hỏi và góp ý quý </a:t>
            </a:r>
            <a:r>
              <a:rPr lang="en-US" sz="930" i="1" dirty="0" err="1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báu</a:t>
            </a:r>
            <a:r>
              <a:rPr lang="en-US" sz="93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30" i="1" dirty="0" err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từ</a:t>
            </a:r>
            <a:r>
              <a:rPr lang="en-US" sz="93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30" i="1" dirty="0" err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Thầy</a:t>
            </a:r>
            <a:r>
              <a:rPr lang="en-US" sz="930" i="1" dirty="0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30" i="1" dirty="0" err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và</a:t>
            </a:r>
            <a:r>
              <a:rPr lang="en-US" sz="930" i="1" dirty="0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30" i="1" dirty="0" err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</a:t>
            </a:r>
            <a:r>
              <a:rPr lang="en-US" sz="930" i="1" dirty="0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30" i="1" dirty="0" err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bạn</a:t>
            </a:r>
            <a:r>
              <a:rPr lang="en-US" sz="930" i="1" dirty="0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3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2188</TotalTime>
  <Words>4385</Words>
  <Application>Microsoft Office PowerPoint</Application>
  <PresentationFormat>On-screen Show (16:9)</PresentationFormat>
  <Paragraphs>437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Arial</vt:lpstr>
      <vt:lpstr>Calibri</vt:lpstr>
      <vt:lpstr>Cambria</vt:lpstr>
      <vt:lpstr>Consolas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KISS</cp:lastModifiedBy>
  <cp:revision>31</cp:revision>
  <dcterms:created xsi:type="dcterms:W3CDTF">2026-09-04T07:38:46Z</dcterms:created>
  <dcterms:modified xsi:type="dcterms:W3CDTF">2026-09-09T23:18:30Z</dcterms:modified>
</cp:coreProperties>
</file>