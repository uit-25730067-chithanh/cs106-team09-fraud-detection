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KHOA KHOA HỌC MÁY TÍNH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GIAN LẬN TÀI CHÍNH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3C5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Mô phỏng PaySim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học: CS106 - Trí tuệ Nhân tạo  |  GVHD: PGS.TS. Nguyễn Đình Hiển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8892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8529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6636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33756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Trần Hoàng Hôn (26410046)  •  Đặng Chí Thanh (25730067)  •  Nguyễn Duy Khang (26410055)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Hoàng Cao Sơn (25730061)  •  Vũ Văn Duy (26410031)  •  Bùi Thị Mỷ Cẩm (25730013)  •  Phạm Thanh Trung (26410141)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443484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  <p:transition xmlns:p14="http://schemas.microsoft.com/office/powerpoint/2010/main" xmlns:p15="http://schemas.microsoft.com/office/powerpoint/2012/main" spd="slow" p14:dur="2000">
    <p15:prstTrans prst="fracture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 BÁO CÁO &amp; LỘ TRÌNH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02412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Giới thiệu &amp; Phát biểu Bài toán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Bối cảnh tài chính, Extreme Class Imbalance (0.13%) và Cost Asymmetry.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5564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Phân tích Khám phá Dữ liệu &amp; Kỹ thuật Đặc trưng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Khu biệt loại giao dịch, dấu vết rút cạn số dư và 14 engineered features.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48716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Phương pháp Đề xuất &amp; Kiến trúc Pipeline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Quy chuẩn Leak-Free, Random Forest vs. XGBoost và Deep Autoencoder.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21868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Kết quả Thực nghiệm &amp; Đánh giá So sánh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Benchmark đa chỉ số, Confusion Matrix, Feature Split Gains và Anomaly Cutoff.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395020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Hệ thống Demo &amp; Định hướng Tương lai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Dashboard Streamlit thời gian thực, kịch bản kiểm thử và lộ trình mở rộng GNN.</a:t>
            </a:r>
            <a:endParaRPr lang="en-US" sz="1250" dirty="0"/>
          </a:p>
        </p:txBody>
      </p:sp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 &amp; PHÁT BIỂU BÀI TOÁN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Extreme Class Imbalance (~0.13%) &amp; Tổn thất Bất đối xứng (Cost Asymmetry)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xmlns:p15="http://schemas.microsoft.com/office/powerpoint/2012/main" spd="slow" p14:dur="1250">
    <p15:prstTrans prst="pageCurlDouble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Động lực Nghiên cứu &amp; Thách thức Kỹ thuật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4389120" cy="3657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1. Bối cảnh Thực tiễn &amp; Quy mô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Giao dịch Mobile Money tăng trưởng bùng nổ, kéo theo các thủ đoạn gian lận tinh vi.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Hệ thống phòng thủ đòi hỏi độ trễ suy luận real-time (&lt; 100ms) trước khi tiền bị tẩu tán.
</a:t>
            </a:r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2. Thách thức Extreme Class Imbalance (~0.13%)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Gian lận chỉ chiếm ~1 trên 800 giao dịch (8,213 ca trên 6.36M sự kiện trong PaySim).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Cost Asymmetry: Bỏ sót gian lận (FN) gây mất vốn trực tiếp, trong khi Báo động nhầm (FP) chỉ gây gián đoạn trải nghiệm người dùng.
</a:t>
            </a:r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3. Hành vi Gian lận Phi tĩnh (Non-Stationary)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Kẻ gian liên tục biến đổi thủ đoạn luân chuyển tiền để lẩn tránh các bộ lọc luật tĩnh.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987552"/>
            <a:ext cx="356616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66360" y="10058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Ký hiệu Toán học &amp; Khái niệm Cốt lõi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243584"/>
          <a:ext cx="3566160" cy="914400"/>
        </p:xfrm>
        <a:graphic>
          <a:graphicData uri="http://schemas.openxmlformats.org/drawingml/2006/table">
            <a:tbl>
              <a:tblPr/>
              <a:tblGrid>
                <a:gridCol w="1141171"/>
                <a:gridCol w="998525"/>
                <a:gridCol w="142646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∈ {0, 1}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 Label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= Fraud (Gian lận), 0 = Legitimate (Hợp lệ)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IR ≈ 0.13%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Imbalance Ratio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8,213 ca gian lận trên 6.36M giao dịch tổng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 / PR-AUC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Metric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Tối đa hóa bắt gian lận, Accuracy bị vô hiệu hóa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C_FN &gt;&gt; C_FP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Asymmetry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Phạt bỏ sót gian lận lớn hơn nhiều cảnh báo nhầm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74920" y="2606040"/>
            <a:ext cx="3566160" cy="2011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212080" y="26791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Nghiên cứu Cốt lõi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5212080" y="2898648"/>
            <a:ext cx="3291840" cy="16459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Xây dựng end-to-end ML pipeline chuẩn, đảm bảo Leak-Free tuyệt đối.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14 domain features bắt trọn sai lệch số dư sổ cái.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chuẩn Ensemble Trees với Unsupervised Deep Autoencoder bắt Zero-Day.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 khai interactive dashboard phục vụ ra quyết định thời gian thực.</a:t>
            </a:r>
            <a:endParaRPr lang="en-US" sz="950" dirty="0"/>
          </a:p>
        </p:txBody>
      </p:sp>
    </p:spTree>
  </p:cSld>
  <p:clrMapOvr>
    <a:masterClrMapping/>
  </p:clrMapOvr>
  <p:transition xmlns:p14="http://schemas.microsoft.com/office/powerpoint/2010/main" xmlns:p15="http://schemas.microsoft.com/office/powerpoint/2012/main" spd="slow" p14:dur="1250">
    <p15:prstTrans prst="pageCurlDouble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Tập Dữ liệu PaySim: Thuộc tính Thống kê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Quy mô Mẫu sau Downsample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N = 200,000 sự kiện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Stratified sample bảo toàn 100% fraud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61360" y="987552"/>
            <a:ext cx="2621280" cy="7498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280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</a:rPr>
              <a:t>Số ca Gian lận (isFraud = 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280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</a:rPr>
              <a:t>8,213 ca ground-truth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5280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Tập trung tuyệt đối ở 2 loại giao dịch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1980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1124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Không gian Đặc trưng Mở rộng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1124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11 → 14 Đặc trưng Miền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124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Bổ sung các phương trình sai lệch số dư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47088"/>
          <a:ext cx="8138160" cy="914400"/>
        </p:xfrm>
        <a:graphic>
          <a:graphicData uri="http://schemas.openxmlformats.org/drawingml/2006/table">
            <a:tbl>
              <a:tblPr/>
              <a:tblGrid>
                <a:gridCol w="2604211"/>
                <a:gridCol w="1871777"/>
                <a:gridCol w="36621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Đặc trưng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Kiểu Dữ liệu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Miền &amp; Nghiệp vụ Giao dịch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nguyên (Integer)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Bước thời gian theo giờ (1..744, tương ứng 30 ngày mô phỏng)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loại (Categorical)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Loại giao dịch: CASH_OUT, TRANSFER, PAYMENT, CASH_IN, DEBIT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 thực hiện giao dịch (đơn vị tiền tệ cục bộ)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oldbalanceOrg / newbalanceOrig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nguồn (sender)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oldbalanceDest / newbalanceDest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đích (recipient)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02920" y="3730752"/>
            <a:ext cx="8138160" cy="8961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8039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Quan trọng từ Phân bố Dữ liệu</a:t>
            </a:r>
            <a:endParaRPr lang="en-US" sz="1010" dirty="0"/>
          </a:p>
        </p:txBody>
      </p:sp>
      <p:sp>
        <p:nvSpPr>
          <p:cNvPr id="22" name="Text 19"/>
          <p:cNvSpPr/>
          <p:nvPr/>
        </p:nvSpPr>
        <p:spPr>
          <a:xfrm>
            <a:off x="640080" y="4023360"/>
            <a:ext cx="7863840" cy="5303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tất cả các ca gian lận trong 6.36M giao dịch CHỈ xuất hiện ở 2 loại: TRANSFER và CASH_OUT. Các loại PAYMENT, CASH_IN và DEBIT hoàn toàn an toàn (0% gian lận). Do đó, bước tiền xử lý lọc chỉ giữ lại TRANSFER &amp; CASH_OUT giúp triệt tiêu 70% dữ liệu nhiễu.</a:t>
            </a:r>
            <a:endParaRPr lang="en-US" sz="930" dirty="0"/>
          </a:p>
        </p:txBody>
      </p:sp>
    </p:spTree>
  </p:cSld>
  <p:clrMapOvr>
    <a:masterClrMapping/>
  </p:clrMapOvr>
  <p:transition xmlns:p14="http://schemas.microsoft.com/office/powerpoint/2010/main" xmlns:p15="http://schemas.microsoft.com/office/powerpoint/2012/main" spd="slow" p14:dur="1250">
    <p15:prstTrans prst="pageCurlDouble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 &amp; KỸ THUẬT ĐẶC TRƯNG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học của 14 Engineered Domain Features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xmlns:p15="http://schemas.microsoft.com/office/powerpoint/2012/main" spd="slow" p14:dur="1250">
    <p15:prstTrans prst="airplane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liệu: Dấu vết Hành vi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100% GIAN LẬN KHU BIỆT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1: Khu biệt Loại Giao dịch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100% gian lận xảy ra duy nhất ở 2 loại giao dịch: 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DC2626"/>
                </a:solidFill>
              </a:rPr>
              <a:t>TRANSFER và CASH_OUT.
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Các loại PAYMENT, CASH_IN, DEBIT hoàn toàn không có gian lận (0%).
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563EB"/>
                </a:solidFill>
              </a:rPr>
              <a:t>• Hành động Pipeline: 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Lọc tập dữ liệu chỉ giữ lại TRANSFER &amp; CASH_OUT, triệt tiêu ngay 70% dữ liệu nhiễu vô ích.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3584448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97.56% TỔNG SỐ CA GIAN LẬN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9852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Phát hiện 2: Vét Sạch Số Dư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852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Trong 97.56% giao dịch gian lận, tài khoản nạn nhân bị rút cạn sạch về 0: 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1295C"/>
                </a:solidFill>
              </a:rPr>
              <a:t>newbalanceOrig == 0.
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Kẻ gian tối đa hóa số tiền lấy cắp trong 1 lần duy nhất trước khi bị khóa thẻ.
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DC2626"/>
                </a:solidFill>
              </a:rPr>
              <a:t>• Tín hiệu Cốt lõi: 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Tỷ lệ rút cạn tài khoản đóng vai trò phân loại chính xác hàng đầu.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1980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BẤT THƯỜNG BIẾN ĐỘNG SỐ DƯ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5696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3: Sai Lệch Sổ Cái Đích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5696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Tỷ lệ lớn giao dịch gian lận không làm tăng số dư tài khoản đích theo sổ sách: 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1295C"/>
                </a:solidFill>
              </a:rPr>
              <a:t>newbalanceDest ≈ 0.
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Phản ánh tài khoản rác (mule account) hoặc luân chuyển rửa tiền đa tầng tức thì.
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563EB"/>
                </a:solidFill>
              </a:rPr>
              <a:t>• Tín hiệu Cốt lõi: 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Sai lệch số dư đích vạch trần hành vi rút tiền bất hợp pháp.</a:t>
            </a:r>
            <a:endParaRPr lang="en-US" sz="98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Đặc trưng: 14 Thuộc tính Miền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4241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</a:rPr>
              <a:t>1. Sai lệch Số dư Nguồn (Delta Orig)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errorBalanceOrig = oldbalanceOrg - amount - newbalanceOrig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40080" y="1536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Đo lường sai lệch giữa số dư kỳ vọng và số dư thực tế tài khoản nguồn.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157984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1284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</a:rPr>
              <a:t>2. Sai lệch Số dư Đích (Delta Dest)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4323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errorBalanceDest = oldbalanceDest + amount - newbalanceDest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270662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Ghi nhận bất thường không ghi có hoặc luân chuyển tiền đa tầng tức thì.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3328416"/>
            <a:ext cx="4251960" cy="124358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832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3. Cờ Vét sạch Tài khoản &amp; Chu kỳ Giờ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6027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drain_flag = (oldbalanceOrg &gt; 0) &amp; (newbalanceOrig == 0)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= step % 24   |   is_overnight = 1 if hour ∈ [0..5] else 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Bắt trọn hành vi vét sạch tài khoản trong 1 bước và tấn công tự động ban đêm.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983480" y="987552"/>
            <a:ext cx="365760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4920" y="10058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243584"/>
          <a:ext cx="36576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914400"/>
                <a:gridCol w="12070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chênh lệch giữa số dư tính toán và thực tế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errorBalanceDest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Đích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lệch ghi có tại tài khoản nhận tiền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drain_flag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Cờ Vét sạch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số dư nguồn bị rút sạch về 0, ngược lại 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 kỳ Giờ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Giờ trong ngày (0..23); 1 nếu giao dịch từ 0h - 5h sáng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983480" y="2697480"/>
            <a:ext cx="3657600" cy="18745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20640" y="27706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Feature Importance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5120640" y="2990088"/>
            <a:ext cx="3383280" cy="15087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biến errorBalanceOrig (49.9%) và newbalanceOrig (47.2%) chiếm &gt; 97.1% tổng Feature Split Gains.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 tạo bước nhảy vọt so với chỉ dùng các trường số tiền gốc.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rỉ: Toàn bộ 14 features được scale chuẩn hóa nghiêm ngặt CHỈ trên tập Train.</a:t>
            </a:r>
            <a:endParaRPr lang="en-US" sz="900" dirty="0"/>
          </a:p>
        </p:txBody>
      </p:sp>
    </p:spTree>
  </p:cSld>
  <p:clrMapOvr>
    <a:masterClrMapping/>
  </p:clrMapOvr>
  <p:transition xmlns:p14="http://schemas.microsoft.com/office/powerpoint/2010/main" xmlns:p159="http://schemas.microsoft.com/office/powerpoint/2015/09/main" spd="slow" p14:dur="2000">
    <p159:morph option="byObjec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2412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Accuracy Paradox trong Bài toán Phân lớp Mất cân bằng Cực đoan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22529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</a:rPr>
              <a:t>Một mô hình ngây thơ luôn dự đoán 100% là "Hợp lệ" vẫn đạt Accuracy 99.87% nhưng bỏ sót 100% gian lận! Do đó, đánh giá mô hình phải dẫn dắt bởi Precision, Recall, F1-Score và PR-AUC (Precision-Recall AUC).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5478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6804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</a:rPr>
              <a:t>Kỹ thuật Nội suy Mẫu SMOTE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066544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093976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 = x_i + λ · (x_zi - x_i),    với  λ ∈ [0, 1]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40080" y="2468880"/>
            <a:ext cx="3680460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Cơ chế: </a:t>
            </a:r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F2937"/>
                </a:solidFill>
              </a:rPr>
              <a:t>Nội suy mẫu nhân tạo thiểu số dọc theo đoạn thẳng nối các láng giềng k-NN trong Latent Space.
</a:t>
            </a:r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563EB"/>
                </a:solidFill>
              </a:rPr>
              <a:t>• Ưu điểm: </a:t>
            </a:r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F2937"/>
                </a:solidFill>
              </a:rPr>
              <a:t>Tạo Decision Boundary rõ nét, phân tách tốt giữa Fraud và Legitimate.
</a:t>
            </a:r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Kết quả Thực nghiệm: </a:t>
            </a:r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F2937"/>
                </a:solidFill>
              </a:rPr>
              <a:t>Đạt F1-Score cao nhất (99.73%), chỉ tạo đúng 1 False Positive trên 38,357 mẫu test.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6300" y="1737360"/>
            <a:ext cx="39547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7740" y="1755648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6300" y="1993392"/>
          <a:ext cx="3954780" cy="914400"/>
        </p:xfrm>
        <a:graphic>
          <a:graphicData uri="http://schemas.openxmlformats.org/drawingml/2006/table">
            <a:tbl>
              <a:tblPr/>
              <a:tblGrid>
                <a:gridCol w="1423721"/>
                <a:gridCol w="1107338"/>
                <a:gridCol w="142372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Thiểu số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gian lận gốc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x_zi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Láng giềng k-NN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gian lận lân cận gần nhất được chọn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 ∈ [0, 1]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số Nội suy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thực ngẫu nhiên xác định vị trí sinh mẫu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Γ_i = r_i / ∑ r_i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Trọng số ADASYN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Tỷ lệ sinh mẫu thích ứng theo mật độ vùng biên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686300" y="3337560"/>
            <a:ext cx="39547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77740" y="3383280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</a:rPr>
              <a:t>Tái lấy mẫu Mật độ ADASYN vs. Đúc kết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77740" y="3602736"/>
            <a:ext cx="3771900" cy="9144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• ADASYN sinh mẫu tỷ lệ thuận theo mật độ vùng biên khó, tuy nhiên dễ over-synthesize ở vùng chồng lấn nhiễu gây tăng nhẹ False Alarm.
</a:t>
            </a:r>
            <a:pPr indent="0" marL="0">
              <a:lnSpc>
                <a:spcPct val="118000"/>
              </a:lnSpc>
              <a:buNone/>
            </a:pPr>
            <a:r>
              <a:rPr lang="en-US" sz="880" b="1" dirty="0">
                <a:solidFill>
                  <a:srgbClr val="2563EB"/>
                </a:solidFill>
              </a:rPr>
              <a:t>• Đúc kết: SMOTE ổn định và vượt trội hơn ADASYN trên cả Random Forest và XGBoost.</a:t>
            </a:r>
            <a:endParaRPr lang="en-US" sz="880" dirty="0"/>
          </a:p>
        </p:txBody>
      </p:sp>
    </p:spTree>
  </p:cSld>
  <p:clrMapOvr>
    <a:masterClrMapping/>
  </p:clrMapOvr>
  <p:transition xmlns:p14="http://schemas.microsoft.com/office/powerpoint/2010/main" xmlns:p159="http://schemas.microsoft.com/office/powerpoint/2015/09/main" spd="slow" p14:dur="2000">
    <p159:morph option="byObjec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ĐỀ XUẤT &amp; KIẾN TRÚC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 (Manifold Reconstruction)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Machine Learning Chuẩn Leak-Free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B.1: Filtering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949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Lọc giữ lại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TRANSFER &amp;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CASH_OUT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645920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B.2: Feature Eng.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38528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Tính toán 14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engineered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domain features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00984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B.3: Stratified Split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Phân chia chuẩn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80% Train /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20% Test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443984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0016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B.4: Resampling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36592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SMOTE / ADASYN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CHỈ áp dụng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tập Train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843016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9048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9" name="Text 27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B.5: Model Training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35624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Huấn luyện RF,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XGB &amp; Deep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Autoencoder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9808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B.6: Evaluation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53465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Đánh giá độc lập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Test set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(N=40,000)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02920" y="2724912"/>
            <a:ext cx="8138160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279806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Khắt khe Chống Rò rỉ Dữ liệu (Strict Protocol Against Data Leakage)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640080" y="3017520"/>
            <a:ext cx="786384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tách Tập Dữ liệu Tuyệt đối: Phân chia Stratified Train/Test (80/20) được thực hiện TRƯỚC BẤT KỲ bước resampling hay chuẩn hóa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Resampling Phân lập: SMOTE / ADASYN tuyệt đối CHỈ áp dụng trên tập huấn luyện (Train fold). Tập Test hoàn toàn giữ nguyên phân bố tự nhiên (0.13% fraud).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Chuẩn hóa StandardScaler: Bộ biến đổi tỷ lệ chỉ được fit trên tập Train và transform mù trên tập Test, không rò rỉ bất kỳ thông tin trung bình/độ lệch chuẩn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tối ưu Hyperparameter trên Test Set: Toàn bộ quá trình chọn ngưỡng và tune tham số đều tuân thủ Cross-Validation nội bộ trên tập Train.</a:t>
            </a:r>
            <a:endParaRPr lang="en-US" sz="930" dirty="0"/>
          </a:p>
        </p:txBody>
      </p:sp>
    </p:spTree>
  </p:cSld>
  <p:clrMapOvr>
    <a:masterClrMapping/>
  </p:clrMapOvr>
  <p:transition xmlns:p14="http://schemas.microsoft.com/office/powerpoint/2010/main" xmlns:p159="http://schemas.microsoft.com/office/powerpoint/2015/09/main" spd="slow" p14:dur="2000">
    <p159:morph option="byObjec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1: Random Forest Ensemble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Gini(D) = 1 - ∑ (p_i)²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Tham số: n_estimators = 100, max_depth = 15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p_i = Xác suất mẫu thuộc lớp i tại node D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Tập hợp 100 cây quyết định độc lập (Bagging) với kỹ thuật lấy mẫu ngẫu nhiên không gian con đặc trưng (Random Subspace).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563EB"/>
                </a:solidFill>
              </a:rPr>
              <a:t>• Peak Precision: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Chỉ sinh duy nhất 1 False Positive trên 38,357 giao dịch hợp lệ (Precision = 99.94%).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C2626"/>
                </a:solidFill>
              </a:rPr>
              <a:t>• Hạn chế: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Thời gian huấn luyện lâu (~1187s), chi phí tính toán cao khi dữ liệu phình to.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8630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2: XGBoost Classifier (GBDT)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2346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918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Obj^(t) ≈ ∑ [ g_i · f_t + ½ h_i · f_t² ] + Ω(f_t)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2346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918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Phạt phức tạp: Ω(f_t) = γ · T + ½ λ · ∑ w_j²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g_i, h_i = Gradient &amp; Hessian bậc 1, 2; T = Số node lá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2346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Gradient Boosting cải tiến với gradient bậc 1 (g_i) và Hessian bậc 2 (h_i), bổ sung L2 regularization chống Overfitting.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563EB"/>
                </a:solidFill>
              </a:rPr>
              <a:t>• Ưu thế Vượt trội: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F1-Score đạt 99.63% tương đương RF, nhưng tốc độ huấn luyện nhanh gấp 28.5 lần (~41.7s).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Production Ready: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Độ trễ suy luận &lt; 0.5ms, lý tưởng cho cổng thanh toán real-time.</a:t>
            </a:r>
            <a:endParaRPr lang="en-US" sz="900" dirty="0"/>
          </a:p>
        </p:txBody>
      </p:sp>
    </p:spTree>
  </p:cSld>
  <p:clrMapOvr>
    <a:masterClrMapping/>
  </p:clrMapOvr>
  <p:transition xmlns:p14="http://schemas.microsoft.com/office/powerpoint/2010/main" xmlns:p159="http://schemas.microsoft.com/office/powerpoint/2015/09/main" spd="slow" p14:dur="2000">
    <p159:morph option="byObjec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389120" cy="35844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515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</a:rPr>
              <a:t>Cấu trúc &amp; Nguyên lý Phát hiện Bất thường (3 Giai đoạn)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298448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32588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(Input) → 8 (Dense) → 4 (Bottleneck) → 8 (Dense) → 14 (Output)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1645920"/>
            <a:ext cx="4114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7335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L_rec(x, x_recon) = (1 / d) · ∑ (x_j - x_recon_j)²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114800" cy="24688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1. Giai đoạn Học Chuẩn (Normal Manifold):
</a:t>
            </a:r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• Mạng chỉ huấn luyện trên giao dịch HỢP LỆ, học cách nén và tái tạo cấu trúc luồng tiền bình thường.
</a:t>
            </a:r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DC2626"/>
                </a:solidFill>
              </a:rPr>
              <a:t>2. Giai đoạn Bắt Lỗi (Anomaly Spike):
</a:t>
            </a:r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• Khi gặp giao dịch gian lận/Zero-Day, mạng không thể tái tạo chính xác → Sai số MSE tăng vọt.
</a:t>
            </a:r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563EB"/>
                </a:solidFill>
              </a:rPr>
              <a:t>3. Giai đoạn Ra Quyết định (Thresholding):
</a:t>
            </a:r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• Gán cờ Gian lận nếu L_rec(x, x_recon) &gt; τ (ngưỡng phân vị 95th: τ = 0.0455).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20640" y="987552"/>
            <a:ext cx="352044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005840"/>
            <a:ext cx="3337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 đồng nhất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243584"/>
          <a:ext cx="3520440" cy="914400"/>
        </p:xfrm>
        <a:graphic>
          <a:graphicData uri="http://schemas.openxmlformats.org/drawingml/2006/table">
            <a:tbl>
              <a:tblPr/>
              <a:tblGrid>
                <a:gridCol w="1232154"/>
                <a:gridCol w="1056132"/>
                <a:gridCol w="123215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vào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gốc (14 chiều)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x_recon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ra tái tạo từ tầng giải mã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chiều Đặc trưng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số lượng thuộc tính đầu vào của mạng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L_rec(x, x_recon)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số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Hàm mất mát MSE đo mức độ dị biệt giao dịch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 = 0.0455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Cutoff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cắt phân vị 95th để kích hoạt cảnh báo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2816352"/>
            <a:ext cx="3520440" cy="17556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57800" y="2889504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Độc tôn: Bắt Tấn công Zero-Day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5257800" y="3108960"/>
            <a:ext cx="3246120" cy="1389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đạt 75.23% Recall dù hoàn toàn KHÔNG sử dụng nhãn gian lận khi huấn luyện.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Miễn nhiễm mẫu cũ: Phát hiện hiệu quả các thủ thuật gian lận mới chưa từng có nhãn.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Phòng thủ Thứ cấp (Defense-in-Depth): Đóng vai trò lưới lọc an toàn chuyển giao dịch nghi vấn sang kiểm tra chuyên sâu.</a:t>
            </a:r>
            <a:endParaRPr lang="en-US" sz="880" dirty="0"/>
          </a:p>
        </p:txBody>
      </p:sp>
    </p:spTree>
  </p:cSld>
  <p:clrMapOvr>
    <a:masterClrMapping/>
  </p:clrMapOvr>
  <p:transition xmlns:p14="http://schemas.microsoft.com/office/powerpoint/2010/main" xmlns:p159="http://schemas.microsoft.com/office/powerpoint/2015/09/main" spd="slow" p14:dur="2000">
    <p159:morph option="byObjec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&amp; ĐÁNH GIÁ SO SÁNH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Hiệu năng Toàn diện &amp; Đối chuẩn Đa Chỉ số (Precision, Recall, F1, PR-AUC)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(Confusion Matrix) &amp; Đánh đổi False Alarm vs. Missed Fraud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Importance Attribution &amp; Đóng góp Vượt bậc của Domain Engineering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 Thresholding (Deep Autoencoder)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nghiệm: Đối chuẩn Đa Chỉ số Toàn diện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87552"/>
          <a:ext cx="4069080" cy="914400"/>
        </p:xfrm>
        <a:graphic>
          <a:graphicData uri="http://schemas.openxmlformats.org/drawingml/2006/table">
            <a:tbl>
              <a:tblPr/>
              <a:tblGrid>
                <a:gridCol w="1302106"/>
                <a:gridCol w="813816"/>
                <a:gridCol w="488290"/>
                <a:gridCol w="488290"/>
                <a:gridCol w="488290"/>
                <a:gridCol w="48829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hình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Resampling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Prec.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1215s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129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41.7s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99.57%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43.2s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Autoencoder (Zero-Day)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 (Unsup.)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50.71%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68.4s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852928"/>
            <a:ext cx="406908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92608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Thực nghiệm Định lượng</a:t>
            </a:r>
            <a:endParaRPr lang="en-US" sz="940" dirty="0"/>
          </a:p>
        </p:txBody>
      </p:sp>
      <p:sp>
        <p:nvSpPr>
          <p:cNvPr id="10" name="Text 7"/>
          <p:cNvSpPr/>
          <p:nvPr/>
        </p:nvSpPr>
        <p:spPr>
          <a:xfrm>
            <a:off x="640080" y="3145536"/>
            <a:ext cx="3794760" cy="13533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+ SMOTE đạt F1-Score đỉnh cao 99.73% nhờ cơ chế Bagging triệt tiêu phương sai.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+ SMOTE đạt hiệu năng tương đương (F1 = 99.63%) nhưng tốc độ huấn luyện nhanh gấp 28.5 lần.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bắt được 75.23% gian lận hoàn toàn không cần nhãn giám sát, tạo lớp phòng thủ Zero-Day vững chắc.</a:t>
            </a:r>
            <a:endParaRPr lang="en-US" sz="860" dirty="0"/>
          </a:p>
        </p:txBody>
      </p:sp>
      <p:pic>
        <p:nvPicPr>
          <p:cNvPr id="11" name="Image 0" descr="/Users/tcdtist/dev/uit/cs106/assignments/Final/draft/fraud-detection/slide/slide_assets/academic_metric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987552"/>
            <a:ext cx="3886200" cy="18348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913836"/>
            <a:ext cx="3886200" cy="165816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2986988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Biểu đồ Đa Chỉ số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4892040" y="3206444"/>
            <a:ext cx="3611880" cy="129240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Precision &amp; Recall của RF và XGBoost vượt trội trên 99.5%, khẳng định tính khả thi triển khai thực tế.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hy sinh Precision (38.2%) để duy trì Recall cao (75.2%) nhằm phòng ngừa triệt để tổn thất tài chính.</a:t>
            </a:r>
            <a:endParaRPr lang="en-US" sz="840" dirty="0"/>
          </a:p>
        </p:txBody>
      </p:sp>
    </p:spTree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&amp; Đánh đổi Sai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703" y="969264"/>
            <a:ext cx="7586594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Random Forest + SMOTE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Tỷ lệ False Alarm thấp kỷ lục (chỉ 1 ca trên 38,357 mẫu test).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Precision đạt 99.94%, gần như triệt tiêu hoàn toàn báo động giả.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326136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5280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XGBoost + SMOTE (Sản xuất)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5280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35280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Chỉ 4 ca cảnh báo nhầm, đồng thời bắt trúng 1,635 ca gian lận.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Độ trễ suy luận &lt; 0.5ms — cấu hình tối ưu nhất cho môi trường thực tế.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6019800" y="3273552"/>
            <a:ext cx="2621280" cy="14584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1124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</a:rPr>
              <a:t>Deep Autoencoder (Zero-Day)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1124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1,236  •  FP: 1,998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407  •  TN: 36,359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1124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Bắt 1,236 ca gian lận trong điều kiện học không giám sát.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Đóng vai trò màng lọc an toàn thứ cấp cho các mẫu tấn công phi quy ước.</a:t>
            </a:r>
            <a:endParaRPr lang="en-US" sz="82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Đóng góp Đặc trưng (Feature Importance)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87552"/>
            <a:ext cx="4069080" cy="22138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92855"/>
            <a:ext cx="4069080" cy="1279145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366007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Ý nghĩa Kỹ thuật Đặc trưng (Feature Engineering)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640080" y="3585463"/>
            <a:ext cx="3794760" cy="91338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2 đặc trưng tự chế chiếm 97.1% tổng Feature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cây dựa chủ yếu vào sai lệch cân bằng kế toán để phân định gian lận thay vì chỉ học giá trị số tiền gốc.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87552"/>
          <a:ext cx="3886200" cy="914400"/>
        </p:xfrm>
        <a:graphic>
          <a:graphicData uri="http://schemas.openxmlformats.org/drawingml/2006/table">
            <a:tbl>
              <a:tblPr/>
              <a:tblGrid>
                <a:gridCol w="1476756"/>
                <a:gridCol w="854964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trưng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Split Gain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Phân loại Nghiệp vụ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số dư tài khoản nguồn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Hành vi rút cạn sạch tài khoản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 giao dịch bất thường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Khung giờ tấn công đêm (0h - 5h)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features khác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thuộc tính phụ trợ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788920"/>
            <a:ext cx="3886200" cy="17830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286207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 chất Bài toán Gian lận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3081528"/>
            <a:ext cx="3611880" cy="1417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errorBalanceOrig = 49.9%: Khi kẻ gian thực hiện lệnh chuyển/rút tiền, số dư sổ cái bị trừ vượt mức số tiền thực tế có trong tài khoản.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newbalanceOrig = 47.2%: 97.56% các ca gian lận để lại số dư đích danh bằng 0 nhằm tẩu tán tối đa tài sản.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Triệt tiêu nhiễu: Kỹ thuật đặc trưng miền biến bài toán phân lớp phi tuyến phức tạp thành ranh giới quyết định tuyến tính rõ rệt.</a:t>
            </a:r>
            <a:endParaRPr lang="en-US" sz="83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autoencoder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87552"/>
            <a:ext cx="4069080" cy="21215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00514"/>
            <a:ext cx="4069080" cy="137148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7366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lý Phân tách Phân bố Sai số</a:t>
            </a:r>
            <a:endParaRPr lang="en-US" sz="910" dirty="0"/>
          </a:p>
        </p:txBody>
      </p:sp>
      <p:sp>
        <p:nvSpPr>
          <p:cNvPr id="10" name="Text 7"/>
          <p:cNvSpPr/>
          <p:nvPr/>
        </p:nvSpPr>
        <p:spPr>
          <a:xfrm>
            <a:off x="640080" y="3493122"/>
            <a:ext cx="3794760" cy="100572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hợp lệ (Xanh) tập trung ở vùng sai số MSE cực thấp (&lt; 0.02).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gian lận (Đỏ) có sai số tái tạo trải dài sang phải do cấu trúc dòng tiền dị biệt không thể nén qua bottleneck.</a:t>
            </a:r>
            <a:endParaRPr lang="en-US" sz="83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87552"/>
          <a:ext cx="3886200" cy="914400"/>
        </p:xfrm>
        <a:graphic>
          <a:graphicData uri="http://schemas.openxmlformats.org/drawingml/2006/table">
            <a:tbl>
              <a:tblPr/>
              <a:tblGrid>
                <a:gridCol w="1088136"/>
                <a:gridCol w="932688"/>
                <a:gridCol w="932688"/>
                <a:gridCol w="93268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vị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τ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Precision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0.0211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88.4%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24.1%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%ile (Chọn)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0.0455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0.2104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0.7460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606040"/>
            <a:ext cx="3886200" cy="1965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26791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 Điểm cắt Ngưỡng Tối ưu (τ = 0.0455)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2898648"/>
            <a:ext cx="3611880" cy="1600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cắt phân vị 95th (τ = 0.0455) tạo điểm cân bằng tối ưu giữa Recall (75.2%) và Precision (38.2%).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Chiến lược Defense-in-Depth: Nếu mô hình có giám sát bị qua mặt bởi hình thức lừa đảo mới, Autoencoder sẽ kích hoạt báo động chuyển luồng sang thẩm định chuyên sâu.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phụ thuộc nhãn: Mô hình duy trì khả năng tự thích ứng bền bỉ trong môi trường luồng tiền thay đổi liên tục.</a:t>
            </a:r>
            <a:endParaRPr lang="en-US" sz="83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&amp; ĐỊNH HƯỚNG TƯƠNG LAI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Dashboard Streamlit Real-Time Inference &amp; Batch CSV Scoring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Học thuật &amp; Quy chuẩn Kỹ thuật Cốt lõi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Hạn chế Nghiên cứu &amp; Lộ trình Mở rộng Graph Neural Networks (GNN)</a:t>
            </a:r>
            <a:endParaRPr lang="en-US" sz="1100" dirty="0"/>
          </a:p>
        </p:txBody>
      </p:sp>
    </p:spTree>
  </p:cSld>
  <p:clrMapOvr>
    <a:masterClrMapping/>
  </p:clrMapOvr>
  <p:transition xmlns:p14="http://schemas.microsoft.com/office/powerpoint/2010/main" spd="slow" p14:dur="1500">
    <p:split orient="vert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Streamlit &amp; Lộ trình Nghiên cứu Tương lai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5029200" cy="3584448"/>
          </a:xfrm>
          <a:prstGeom prst="roundRect">
            <a:avLst>
              <a:gd name="adj" fmla="val 3061"/>
            </a:avLst>
          </a:prstGeom>
          <a:solidFill>
            <a:srgbClr val="0F172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987552"/>
            <a:ext cx="502920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98755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🔴 LIVE DEMO  •  Streamlit Real-Time Fraud Shield  |  Latency &lt; 0.5ms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76656" y="1325880"/>
            <a:ext cx="4681728" cy="2633472"/>
          </a:xfrm>
          <a:prstGeom prst="rect">
            <a:avLst/>
          </a:prstGeom>
          <a:solidFill>
            <a:srgbClr val="0B112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" y="1645920"/>
            <a:ext cx="4681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BDF8"/>
                </a:solidFill>
              </a:rPr>
              <a:t>▶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3816" y="2286000"/>
            <a:ext cx="4407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KHUNG CHÈN VIDEO DEMO STREAMLIT ]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(Tỷ lệ Chuẩn 16:9 — 1920×1080 / 1280×720 MP4/GIF)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" y="2862072"/>
            <a:ext cx="4407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diện phân tích rủi ro thời gian thực &amp; Chấm điểm Batch CSV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0" y="329184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016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32918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 1080p  •  TỶ LỆ 16:9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solidFill>
            <a:srgbClr val="131C31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23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Kịch bản: 1. Bình thường (Safe &lt; 0.1%)  |  2. Rút cạn số dư (Fraud &gt; 99.8%)  |  3. Batch Audit CSV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760720" y="987552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7880" y="106070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Cốt lõi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897880" y="128016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Leak-Free: 80/20 Stratified Split chống rò rỉ dữ liệu.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Engineering: 14 engineered features chiếm &gt; 97%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Superior Benchmark: F1 = 99.73%, Recall = 99.51% (chỉ bỏ sót 8 ca).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Phòng thủ Đa tầng: Kết hợp XGBoost (&lt; 0.5ms) và Autoencoder.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60720" y="2834640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290779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Lộ trình Nghiên cứu Tương lai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897880" y="3127248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Neural Networks (GNN): GraphSAGE phát hiện rửa tiền đa tầng.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Phân tán (Kafka/Flink): Streaming hàng triệu sự kiện/giây.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AI (XAI): SHAP giải thích quyết định chặn giao dịch.</a:t>
            </a:r>
            <a:endParaRPr lang="en-US" sz="840" dirty="0"/>
          </a:p>
        </p:txBody>
      </p:sp>
    </p:spTree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CHÂN THÀNH CẢM ƠN THẦY VÀ CÁC BẠN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LẮNG NGHE BÁO CÁO!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60120" y="1719072"/>
            <a:ext cx="7223760" cy="2670048"/>
          </a:xfrm>
          <a:prstGeom prst="rect">
            <a:avLst/>
          </a:prstGeom>
          <a:solidFill>
            <a:srgbClr val="172048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THAM KHẢO HỌC THUẬT &amp; REPOSITORY DỰ ÁN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2157984"/>
            <a:ext cx="67665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Mã nguồn Dự án (Official Repo): 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https://github.com/uit-25730067-chithanh/CS106-Team09-Fraud-Detection
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PaySim Simulator: </a:t>
            </a:r>
            <a:pPr algn="l"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 A. Lopez-Rojas, A. Elmir, and S. Axelsson, "PaySim: A financial mobile money simulator for fraud detection," in Proc. 28th Eur. Model. Simul. Symp., 2016, pp. 249-255.
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XGBoost GBDT: </a:t>
            </a:r>
            <a:pPr algn="l"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T. Chen and C. Guestrin, "XGBoost: A scalable tree boosting system," in Proc. 22nd ACM SIGKDD, 2016, pp. 785-794.
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SMOTE Resampling: </a:t>
            </a:r>
            <a:pPr algn="l"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N. V. Chawla et al., "SMOTE: Synthetic minority over-sampling technique," J. Artif. Intell. Res., vol. 16, pp. 321-357, 2002.
</a:t>
            </a:r>
            <a:pPr algn="l" indent="0" marL="0">
              <a:lnSpc>
                <a:spcPct val="125000"/>
              </a:lnSpc>
              <a:buNone/>
            </a:pP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 rất mong nhận được những câu hỏi và góp ý quý báu từ Hội đồng!</a:t>
            </a:r>
            <a:endParaRPr lang="en-US" sz="930" dirty="0"/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2026-09-04T07:38:46Z</dcterms:created>
  <dcterms:modified xsi:type="dcterms:W3CDTF">2026-09-04T07:38:46Z</dcterms:modified>
</cp:coreProperties>
</file>