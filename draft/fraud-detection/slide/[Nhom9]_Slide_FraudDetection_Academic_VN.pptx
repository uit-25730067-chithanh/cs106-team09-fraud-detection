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KHOA KHOA HỌC MÁY TÍNH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GIAN LẬN TÀI CHÍNH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Ứng dụng Machine Learning &amp; Deep Learning trên Tập dữ liệu Mô phỏng PaySim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Môn học: CS106 - Trí tuệ Nhân tạo  |  GVHD: PGS.TS. Nguyễn Đình Hiển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8920" y="2971800"/>
            <a:ext cx="118872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852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09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66360" y="2971800"/>
            <a:ext cx="118872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Trần Hoàng Hôn (26410046)  •  Đặng Chí Thanh (25730067)  •  Nguyễn Duy Khang (26410055)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Hoàng Cao Sơn (25730061)  •  Vũ Văn Duy (26410031)  •  Bùi Thị Mỷ Cẩm (25730013)  •  Phạm Thành Trung (26410141)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43484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TP. Hồ Chí Minh, Tháng 09/2026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 BÁO CÁO &amp; LỘ TRÌNH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024128"/>
            <a:ext cx="685800" cy="5943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2412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024128"/>
            <a:ext cx="685800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Giới thiệu &amp; Phát biểu Bài toán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Bối cảnh tài chính, Extreme Class Imbalance (0.13%) và Cost Asymmetry.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68580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5564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1755648"/>
            <a:ext cx="685800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Phân tích Khám phá Dữ liệu &amp; Kỹ thuật Đặc trưng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Khu biệt loại giao dịch, dấu vết rút cạn số dư và 14 đặc trưng (7 dẫn xuất).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6858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8716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487168"/>
            <a:ext cx="685800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Phương pháp Đề xuất &amp; Kiến trúc Pipeline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Quy chuẩn Leak-Free, Random Forest vs. XGBoost và Deep Autoencoder.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218688"/>
            <a:ext cx="685800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1868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18688"/>
            <a:ext cx="685800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Kết quả Thực nghiệm &amp; Đánh giá So sánh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Benchmark đa chỉ số, Confusion Matrix, Feature Split Gains và Anomaly Cutoff.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950208"/>
            <a:ext cx="685800" cy="5943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020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950208"/>
            <a:ext cx="685800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</a:rPr>
              <a:t>Hệ thống Demo &amp; Định hướng Tương lai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B5563"/>
                </a:solidFill>
              </a:rPr>
              <a:t>Dashboard Streamlit thời gian thực, kịch bản kiểm thử và lộ trình mở rộng GNN.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  •  BÁO CÁO ĐỒ ÁN CS106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 &amp; PHÁT BIỂU BÀI TOÁN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97480"/>
            <a:ext cx="6583680" cy="1874520"/>
          </a:xfrm>
          <a:prstGeom prst="roundRect">
            <a:avLst>
              <a:gd name="adj" fmla="val 7317"/>
            </a:avLst>
          </a:prstGeom>
          <a:solidFill>
            <a:srgbClr val="1720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50876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ctr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Bối cảnh Công nghiệp &amp; Sự bùng nổ Mobile Money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Thách thức Extreme Class Imbalance (~0.13%) &amp; Tổn thất Bất đối xứng (Cost Asymmetry)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biểu Bài toán Hình thức &amp; Mục tiêu Nghiên cứu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Động lực Nghiên cứu &amp; Thách thức Kỹ thuật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4389120" cy="3657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1. Bối cảnh Thực tiễn &amp; Quy mô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• Giao dịch Mobile Money tăng trưởng bùng nổ, kéo theo các thủ đoạn gian lận tinh vi.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• Hệ thống phòng thủ đòi hỏi độ trễ suy luận real-time (&lt; 100ms) trước khi tiền bị tẩu tán.
</a:t>
            </a:r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2. Thách thức Extreme Class Imbalance (~0.13%)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• Gian lận chỉ chiếm ~1 trên 775 giao dịch (8,213 ca trên 6.36M sự kiện trong PaySim).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• Cost Asymmetry: Bỏ sót gian lận (FN) gây mất vốn trực tiếp, trong khi Báo động nhầm (FP) chỉ gây gián đoạn trải nghiệm người dùng.
</a:t>
            </a:r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3. Hành vi Gian lận Phi tĩnh (Non-Stationary)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• Kẻ gian liên tục biến đổi thủ đoạn luân chuyển tiền để lẩn tránh các bộ lọc luật tĩnh.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987552"/>
            <a:ext cx="356616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0058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Ký hiệu Toán học &amp; Khái niệm Cốt lõi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243584"/>
          <a:ext cx="3566160" cy="914400"/>
        </p:xfrm>
        <a:graphic>
          <a:graphicData uri="http://schemas.openxmlformats.org/drawingml/2006/table">
            <a:tbl>
              <a:tblPr/>
              <a:tblGrid>
                <a:gridCol w="1141171"/>
                <a:gridCol w="998525"/>
                <a:gridCol w="142646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Ký hiệu / Biến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Ý nghĩa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Nghiệp vụ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∈ {0, 1}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Label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Fraud (Gian lận), 0 = Legitimate (Hợp lệ)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IR ≈ 0.13%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Imbalance Ratio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8,213 ca gian lận trên 6.36M giao dịch tổng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Recall / PR-AUC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Metric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Tối đa hóa bắt gian lận, Accuracy bị vô hiệu hóa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C_FN &gt;&gt; C_FP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Asymmetry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Phạt bỏ sót gian lận lớn hơn nhiều cảnh báo nhầm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74920" y="2606040"/>
            <a:ext cx="356616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6791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Nghiên cứu Cốt lõi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5212080" y="2898648"/>
            <a:ext cx="3291840" cy="1645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Xây dựng end-to-end ML pipeline chuẩn, đảm bảo nguyên tắc phân lập dữ liệu Leak-Free.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14 đặc trưng (7 dẫn xuất) bắt trọn sai lệch số dư tài khoản.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Ensemble Trees với Unsupervised Deep Autoencoder phát hiện bất thường.</a:t>
            </a:r>
            <a:endParaRPr lang="en-US" sz="9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Triển khai interactive dashboard phục vụ ra quyết định thời gian thực.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Tập Dữ liệu PaySim: Thuộc tính Thống kê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2621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4241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Quy mô Mẫu sau Downsample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2252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N = 200,000 sự kiện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1517904"/>
            <a:ext cx="243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Stratified sample bảo toàn 100% fraud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61360" y="987552"/>
            <a:ext cx="262128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2800" y="104241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Số ca Gian lận (isFraud = 1)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52800" y="12252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8,213 ca ground-truth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52800" y="1517904"/>
            <a:ext cx="243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Tập trung tuyệt đối ở 2 loại giao dịch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9800" y="987552"/>
            <a:ext cx="2621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240" y="1042416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Không gian Đặc trưng Mở rộng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11240" y="12252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11 → 14 Đặc trưng Miền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11240" y="1517904"/>
            <a:ext cx="2438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Bổ sung các phương trình sai lệch số dư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47088"/>
          <a:ext cx="8138160" cy="914400"/>
        </p:xfrm>
        <a:graphic>
          <a:graphicData uri="http://schemas.openxmlformats.org/drawingml/2006/table">
            <a:tbl>
              <a:tblPr/>
              <a:tblGrid>
                <a:gridCol w="2604211"/>
                <a:gridCol w="1871777"/>
                <a:gridCol w="36621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Đặc trưng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Kiểu Dữ liệu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Ý nghĩa Miền &amp; Nghiệp vụ Giao dịch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step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nguyên (Integer)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Bước thời gian theo giờ (1..743, tương ứng 30 ngày mô phỏng)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loại (Categorical)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Loại giao dịch: CASH_OUT, TRANSFER, PAYMENT, CASH_IN, DEBIT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amount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tục (Continuous)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tiền thực hiện giao dịch (đơn vị tiền tệ cục bộ)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oldbalanceOrg / newbalanceOrig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tục (Continuous)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dư trước và ngay sau giao dịch của tài khoản nguồn (sender)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oldbalanceDest / newbalanceDest</a:t>
                      </a:r>
                      <a:endParaRPr lang="en-US" sz="8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tục (Continuous)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dư trước và ngay sau giao dịch của tài khoản đích (recipient)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02920" y="3730752"/>
            <a:ext cx="8138160" cy="8961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80390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Quan trọng từ Phân bố Dữ liệu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640080" y="4023360"/>
            <a:ext cx="7863840" cy="5303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tất cả các ca gian lận trong 6.36M giao dịch CHỈ xuất hiện ở 2 loại: TRANSFER và CASH_OUT. Các loại PAYMENT, CASH_IN và DEBIT hoàn toàn an toàn (0% gian lận). Do đó, bước tiền xử lý lọc chỉ giữ lại TRANSFER &amp; CASH_OUT giúp loại bỏ ~56.5% giao dịch hoàn toàn không có gian lận.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  •  BÁO CÁO ĐỒ ÁN CS106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KHÁM PHÁ DỮ LIỆU &amp; KỸ THUẬT ĐẶC TRƯNG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97480"/>
            <a:ext cx="6583680" cy="1874520"/>
          </a:xfrm>
          <a:prstGeom prst="roundRect">
            <a:avLst>
              <a:gd name="adj" fmla="val 7317"/>
            </a:avLst>
          </a:prstGeom>
          <a:solidFill>
            <a:srgbClr val="1720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50876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ctr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Dấu vết Hành vi Thực nghiệm (Behavioral Signatures)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thức toán học của 14 đặc trưng miền (7 dẫn xuất)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Mất cân bằng Lớp: SMOTE vs. ADASYN Formulation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Khám phá Dữ liệu: Dấu vết Hành vi Cốt lõi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2621280" cy="358444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43000"/>
            <a:ext cx="23469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100% GIAN LẬN KHU BIỆT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Phát hiện 1: Khoanh vùng Loại Giao dịch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2346960" cy="25328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100% gian lận xảy ra duy nhất ở 2 loại giao dịch: 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DC2626"/>
                </a:solidFill>
              </a:rPr>
              <a:t>TRANSFER và CASH_OUT.
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Các loại PAYMENT, CASH_IN, DEBIT hoàn toàn không có gian lận (0%).
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2563EB"/>
                </a:solidFill>
              </a:rPr>
              <a:t>• Hành động Pipeline: 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Lọc tập dữ liệu chỉ giữ lại TRANSFER &amp; CASH_OUT, loại bỏ ~56% giao dịch không có rủi ro gian lận.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261360" y="1005840"/>
            <a:ext cx="2621280" cy="3584448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8520" y="1143000"/>
            <a:ext cx="23469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398520" y="11430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97.55% TỔNG SỐ CA GIAN LẬN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98520" y="155448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Phát hiện 2: Vét Sạch Số Dư Nguồn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8520" y="1874520"/>
            <a:ext cx="2346960" cy="25328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Trong 97.55% giao dịch gian lận, tài khoản nạn nhân bị rút cạn sạch về 0: 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21295C"/>
                </a:solidFill>
              </a:rPr>
              <a:t>newbalanceOrig == 0.
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Kẻ gian tối đa hóa số tiền lấy cắp trong 1 lần duy nhất trước khi bị khóa thẻ.
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DC2626"/>
                </a:solidFill>
              </a:rPr>
              <a:t>• Tín hiệu Cốt lõi: 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97.55% ca gian lận rút cạn tài khoản nguồn; kết hợp sai lệch errorBalanceOrig mới tạo phân loại mạnh.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019800" y="1005840"/>
            <a:ext cx="2621280" cy="3584448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6960" y="1143000"/>
            <a:ext cx="234696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6156960" y="11430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BẤT THƯỜNG BIẾN ĐỘNG SỐ DƯ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56960" y="155448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Phát hiện 3: Sai Lệch số dư đích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56960" y="1874520"/>
            <a:ext cx="2346960" cy="25328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Tỷ lệ lớn giao dịch gian lận không làm tăng số dư tài khoản đích theo sổ sách: 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21295C"/>
                </a:solidFill>
              </a:rPr>
              <a:t>newbalanceDest ≈ 0.
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• Phản ánh tài khoản rác hoặc luân chuyển rửa tiền đa tầng tức thì (diễn giải, dữ liệu mô phỏng).
</a:t>
            </a:r>
            <a:pPr indent="0" marL="0">
              <a:lnSpc>
                <a:spcPct val="122000"/>
              </a:lnSpc>
              <a:buNone/>
            </a:pPr>
            <a:r>
              <a:rPr lang="en-US" sz="980" b="1" dirty="0">
                <a:solidFill>
                  <a:srgbClr val="2563EB"/>
                </a:solidFill>
              </a:rPr>
              <a:t>• Tín hiệu Cốt lõi: </a:t>
            </a:r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1F2937"/>
                </a:solidFill>
              </a:rPr>
              <a:t>Sai lệch số dư đích vạch trần hành vi rút tiền bất hợp pháp.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Kỹ thuật Đặc trưng: 14 Thuộc tính Miền Cốt lõi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425196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42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1. Sai lệch Số dư Nguồn (Delta Orig)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errorBalanceOrig = oldbalanceOrg - amount - newbalanceOrig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40080" y="15361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Đo lường sai lệch giữa số dư kỳ vọng và số dư thực tế tài khoản nguồn.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02920" y="2157984"/>
            <a:ext cx="425196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2. Sai lệch Số dư Đích (Delta Dest)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323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errorBalanceDest = oldbalanceDest + amount - newbalanceDest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40080" y="2706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Ghi nhận bất thường không ghi có hoặc luân chuyển tiền đa tầng tức thì.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4251960" cy="12435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3. Cờ Vét sạch Tài khoản &amp; Chu kỳ Giờ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0273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drain_flag = (oldbalanceOrg &gt; 0) &amp; (newbalanceOrig == 0)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 = step % 24   |   is_overnight = 1 if hour ∈ [0..5] else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041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Bắt trọn hành vi vét sạch tài khoản trong 1 bước và tấn công tự động ban đêm.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983480" y="987552"/>
            <a:ext cx="36576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005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Bảng chú giải biến &amp; ký hiệu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243584"/>
          <a:ext cx="365760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914400"/>
                <a:gridCol w="12070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Ký hiệu / Biến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Ý nghĩa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Nghiệp vụ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errorBalanceOrig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lệch Nguồn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 chênh lệch giữa số dư tính toán và thực tế nguồn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errorBalanceDest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lệch Đích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Độ lệch ghi có tại tài khoản nhận tiền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drain_flag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Cờ Vét sạch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nếu số dư nguồn bị rút sạch về 0, ngược lại 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hour / overnight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 kỳ Giờ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Giờ trong ngày (0..23); 1 nếu giao dịch từ 0h - 5h sáng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983480" y="2697480"/>
            <a:ext cx="365760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27706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Đúc kết Feature Importance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120640" y="2990088"/>
            <a:ext cx="3383280" cy="1508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 biến errorBalanceOrig (49.9%) và newbalanceOrig (47.2%) chiếm 97.1% tổng Feature Split Gains (XGBoost).</a:t>
            </a:r>
            <a:endParaRPr lang="en-US" sz="90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dựa gần như hoàn toàn vào nhóm số dư (98.5%); nhóm ghi nhận rủi ro simulator artifact (Mục 3.6.2).</a:t>
            </a:r>
            <a:endParaRPr lang="en-US" sz="90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 Chống Rò rỉ: Toàn bộ 14 đặc trưng (7 dẫn xuất) được chuẩn hóa StandardScaler CHỈ trên tập Train.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Mất cân bằng Lớp: SMOTE vs. ADASYN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2412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Accuracy Paradox trong Bài toán Phân lớp Mất cân bằng Cực đoan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2252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F2937"/>
                </a:solidFill>
              </a:rPr>
              <a:t>Một mô hình ngây thơ luôn dự đoán 100% là "Hợp lệ" vẫn đạt Accuracy 99.87% trên PaySim gốc nhưng bỏ sót 100% gian lận! Do đó, đánh giá mô hình phải dẫn dắt bởi Precision, Recall, F1-Score và PR-AUC (Precision-Recall AUC).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954780" cy="2834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6804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</a:rPr>
              <a:t>Kỹ thuật Nội suy Mẫu SMOTE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36804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93976"/>
            <a:ext cx="35890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x_new = x_i + λ · (x_zi - x_i),    với  λ ∈ [0, 1]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3680460" cy="20299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b="1" dirty="0">
                <a:solidFill>
                  <a:srgbClr val="21295C"/>
                </a:solidFill>
              </a:rPr>
              <a:t>• Cơ chế: </a:t>
            </a:r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F2937"/>
                </a:solidFill>
              </a:rPr>
              <a:t>Nội suy mẫu nhân tạo thiểu số dọc theo đoạn thẳng nối các láng giềng k-NN trong không gian đặc trưng.
</a:t>
            </a:r>
            <a:pPr indent="0" marL="0">
              <a:lnSpc>
                <a:spcPct val="120000"/>
              </a:lnSpc>
              <a:buNone/>
            </a:pPr>
            <a:r>
              <a:rPr lang="en-US" sz="920" b="1" dirty="0">
                <a:solidFill>
                  <a:srgbClr val="2563EB"/>
                </a:solidFill>
              </a:rPr>
              <a:t>• Ưu điểm: </a:t>
            </a:r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F2937"/>
                </a:solidFill>
              </a:rPr>
              <a:t>Tạo Decision Boundary rõ nét, phân tách tốt giữa Fraud và Legitimate.
</a:t>
            </a:r>
            <a:pPr indent="0" marL="0">
              <a:lnSpc>
                <a:spcPct val="120000"/>
              </a:lnSpc>
              <a:buNone/>
            </a:pPr>
            <a:r>
              <a:rPr lang="en-US" sz="920" b="1" dirty="0">
                <a:solidFill>
                  <a:srgbClr val="21295C"/>
                </a:solidFill>
              </a:rPr>
              <a:t>• Kết quả Thực nghiệm: </a:t>
            </a:r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1F2937"/>
                </a:solidFill>
              </a:rPr>
              <a:t>Đạt F1-Score cao nhất (99.73%), chỉ tạo đúng 1 False Positive trên 38,357 mẫu test.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686300" y="1737360"/>
            <a:ext cx="39547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7740" y="1755648"/>
            <a:ext cx="3771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Bảng chú giải biến &amp; ký hiệu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993392"/>
          <a:ext cx="3954780" cy="914400"/>
        </p:xfrm>
        <a:graphic>
          <a:graphicData uri="http://schemas.openxmlformats.org/drawingml/2006/table">
            <a:tbl>
              <a:tblPr/>
              <a:tblGrid>
                <a:gridCol w="1423721"/>
                <a:gridCol w="1107338"/>
                <a:gridCol w="142372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Ký hiệu / Biến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Ý nghĩa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Nghiệp vụ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x_i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Mẫu Thiểu số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đặc trưng giao dịch gian lận gốc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x_zi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Láng giềng k-NN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Mẫu gian lận lân cận gần nhất được chọn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 ∈ [0, 1]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số Nội suy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thực ngẫu nhiên xác định vị trí sinh mẫu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Γ_i = r_i / ∑ r_i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Trọng số ADASYN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Tỷ lệ sinh mẫu thích ứng theo mật độ vùng biên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686300" y="3337560"/>
            <a:ext cx="39547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7740" y="3383280"/>
            <a:ext cx="3771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</a:rPr>
              <a:t>Tái lấy mẫu Mật độ ADASYN vs. Đúc kết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77740" y="3602736"/>
            <a:ext cx="3771900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• ADASYN sinh mẫu tỷ lệ thuận theo mật độ vùng biên khó, tuy nhiên dễ over-synthesize ở vùng chồng lấn nhiễu gây tăng nhẹ False Alarm.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2563EB"/>
                </a:solidFill>
              </a:rPr>
              <a:t>• Đúc kết: SMOTENC nhỉnh hơn nhẹ so với ADASYN trên RF và XGBoost (ít cảnh báo nhầm hơn).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  •  BÁO CÁO ĐỒ ÁN CS106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 ĐỀ XUẤT &amp; KIẾN TRÚC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97480"/>
            <a:ext cx="6583680" cy="1874520"/>
          </a:xfrm>
          <a:prstGeom prst="roundRect">
            <a:avLst>
              <a:gd name="adj" fmla="val 7317"/>
            </a:avLst>
          </a:prstGeom>
          <a:solidFill>
            <a:srgbClr val="1720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50876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ctr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Pipeline Toàn diện Chuẩn Leak-Free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Giám sát: Random Forest vs. XGBoost Classifier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Không giám sát: Deep Autoencoder (Manifold Reconstruction)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Pipeline Machine Learning Chuẩn Leak-Free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87552"/>
            <a:ext cx="1143000" cy="31089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B.1: Filtering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9496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Lọc giữ lại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TRANSFER &amp;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CASH_OUT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645920" y="14813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01952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987552"/>
            <a:ext cx="114300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901952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B.2: Stratified Split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38528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Phân chia chuẩn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80% Train /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20% Test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044952" y="14813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00984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00984" y="987552"/>
            <a:ext cx="114300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300984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B.3: Feature Eng.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7 đặc trưng dẫn xuất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→ 14 đặc trưng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Scaler fit Train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443984" y="14813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0016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987552"/>
            <a:ext cx="11430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B.4: Resampling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36592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SMOTENC / ADASYN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CHỈ áp dụng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trên tập Train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843016" y="14813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99048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987552"/>
            <a:ext cx="1143000" cy="31089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B.5: Model Training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35624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Huấn luyện RF,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XGB &amp; Deep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Autoencoder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242048" y="14813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98080" y="987552"/>
            <a:ext cx="11430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987552"/>
            <a:ext cx="114300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98755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B.6: Evaluation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34656" y="1335024"/>
            <a:ext cx="1069848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Đánh giá độc lập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trên Test set</a:t>
            </a:r>
            <a:endParaRPr lang="en-US" sz="88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937"/>
                </a:solidFill>
              </a:rPr>
              <a:t>(N=40,000)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02920" y="2724912"/>
            <a:ext cx="8138160" cy="18470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79806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 Chống Rò rỉ Dữ liệu (Data Leakage)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640080" y="3017520"/>
            <a:ext cx="7863840" cy="14813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rò rỉ sang tập Test: Stratified Split 80/20 thực hiện TRƯỚC resampling và chuẩn hóa; scaler chỉ fit trên Train.</a:t>
            </a:r>
            <a:endParaRPr lang="en-US" sz="9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Resampling chỉ trên Train (SMOTENC / ADASYN). Tập Test giữ nguyên phân bố sau downsample (4.11% fraud, 1,643 ca), không chứa mẫu nhân tạo.</a:t>
            </a:r>
            <a:endParaRPr lang="en-US" sz="9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hạn: oversampling chưa nằm trong từng fold CV nên điểm CV có thể lạc quan (báo cáo mục 4.8).</a:t>
            </a:r>
            <a:endParaRPr lang="en-US" sz="9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tối ưu hyperparameter trên Test: chọn ngưỡng và tune tham số bằng Cross-Validation nội bộ trên tập Train.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Giám sát: Random Forest vs. XGBoost Classifier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3954780" cy="35844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78992"/>
            <a:ext cx="368046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78992"/>
            <a:ext cx="36804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Mô hình 1: Random Forest Ensemble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444752"/>
            <a:ext cx="36804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1" name="Image 0" descr="D:\Trí tuệ nhân tạo\HK2\Trí tuệ nhân tạo\CS106-Team09-Fraud-Detection\draft\fraud-detection\slide\slide_assets\formula_rf_g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463040"/>
            <a:ext cx="2770632" cy="3017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1828800"/>
            <a:ext cx="36804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1856232"/>
            <a:ext cx="35890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Tham số: n_estimators = 200, max_depth = 20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Chú giải biến: p_i = Xác suất mẫu thuộc lớp i tại node D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40080" y="2286000"/>
            <a:ext cx="3680460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95C"/>
                </a:solidFill>
              </a:rPr>
              <a:t>• Cơ chế: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Tập hợp 200 cây quyết định độc lập (Bagging) với kỹ thuật lấy mẫu ngẫu nhiên không gian con đặc trưng (Random Subspace).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563EB"/>
                </a:solidFill>
              </a:rPr>
              <a:t>• Peak Precision: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Chỉ sinh duy nhất 1 False Positive trên 38,357 giao dịch hợp lệ (Precision = 99.94%).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• Hạn chế: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Thời gian huấn luyện lâu (~20 phút), chi phí tính toán cao khi dữ liệu phình to.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86300" y="987552"/>
            <a:ext cx="3954780" cy="35844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3460" y="1078992"/>
            <a:ext cx="368046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4"/>
          <p:cNvSpPr/>
          <p:nvPr/>
        </p:nvSpPr>
        <p:spPr>
          <a:xfrm>
            <a:off x="4823460" y="1078992"/>
            <a:ext cx="36804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Mô hình 2: XGBoost Classifier (GBDT)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23460" y="1444752"/>
            <a:ext cx="36804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1" descr="D:\Trí tuệ nhân tạo\HK2\Trí tuệ nhân tạo\CS106-Team09-Fraud-Detection\draft\fraud-detection\slide\slide_assets\formula_xgb_objec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78" y="1463040"/>
            <a:ext cx="3281782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23460" y="1828800"/>
            <a:ext cx="36804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9180" y="1856232"/>
            <a:ext cx="35890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Phạt phức tạp: Ω(f_t) = γ · T + ½ λ · ∑ w_j²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Chú giải biến: g_i, h_i = Gradient &amp; Hessian bậc 1, 2; T = Số node lá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823460" y="2286000"/>
            <a:ext cx="3680460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95C"/>
                </a:solidFill>
              </a:rPr>
              <a:t>• Cơ chế: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Gradient Boosting cải tiến với gradient bậc 1 (g_i) và Hessian bậc 2 (h_i), bổ sung L2 regularization chống Overfitting.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563EB"/>
                </a:solidFill>
              </a:rPr>
              <a:t>• Ưu thế Vượt trội: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F1-Score đạt 99.63% tương đương RF, nhưng tốc độ huấn luyện nhanh hơn ~20 lần (57.94s; xgb_smote_summary).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95C"/>
                </a:solidFill>
              </a:rPr>
              <a:t>• Production Ready: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Độ trễ suy luận cỡ nửa mili-giây (mô hình thuần, 1 giao dịch, CPU).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Không giám sát: Deep Autoencoder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438912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515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</a:rPr>
              <a:t>Cấu trúc &amp; Nguyên lý Phát hiện Bất thường (3 Giai đoạn)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298448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258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14(Input) → 16(Dense) → 8(Dense) → 4(Bottleneck) → 8(Dense) → 16(Dense) → 14(Output)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12" name="Image 0" descr="D:\Trí tuệ nhân tạo\HK2\Trí tuệ nhân tạo\CS106-Team09-Fraud-Detection\draft\fraud-detection\slide\slide_assets\formula_ae_reconstr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633118"/>
            <a:ext cx="2251253" cy="39136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029968"/>
            <a:ext cx="4114800" cy="2468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21295C"/>
                </a:solidFill>
              </a:rPr>
              <a:t>1. Giai đoạn Học Chuẩn (Normal Manifold):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• Mạng chỉ huấn luyện trên giao dịch HỢP LỆ, học cách nén và tái tạo cấu trúc luồng tiền bình thường.
</a:t>
            </a:r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2. Giai đoạn Bắt Lỗi (Anomaly Spike):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• Khi gặp giao dịch gian lận bất thường, mạng không thể tái tạo chính xác → Sai số MSE tăng vọt.
</a:t>
            </a:r>
            <a:pPr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2563EB"/>
                </a:solidFill>
              </a:rPr>
              <a:t>3. Giai đoạn Ra Quyết định (Thresholding):
</a:t>
            </a:r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937"/>
                </a:solidFill>
              </a:rPr>
              <a:t>• Gán cờ Gian lận nếu L_rec(x, x_recon) &gt; τ (ngưỡng phân vị 95th: τ = 0.0455).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987552"/>
            <a:ext cx="35204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0058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Bảng chú giải biến &amp; ký hiệu đồng nhất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43584"/>
          <a:ext cx="3520440" cy="914400"/>
        </p:xfrm>
        <a:graphic>
          <a:graphicData uri="http://schemas.openxmlformats.org/drawingml/2006/table">
            <a:tbl>
              <a:tblPr/>
              <a:tblGrid>
                <a:gridCol w="1232154"/>
                <a:gridCol w="1056132"/>
                <a:gridCol w="123215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Ký hiệu / Biến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Tên Ý nghĩa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Nghiệp vụ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Đầu vào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đặc trưng giao dịch gốc (14 chiều)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x_recon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Tái tạo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đầu ra tái tạo từ tầng giải mã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= 14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chiều Đặc trưng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số lượng thuộc tính đầu vào của mạng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L_rec(x, x_recon)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số Tái tạo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Hàm mất mát MSE đo mức độ dị biệt giao dịch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 = 0.0455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Ngưỡng Cutoff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cắt phân vị 95th để kích hoạt cảnh báo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120640" y="2816352"/>
            <a:ext cx="3520440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57800" y="28895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Bất thường Không giám sát (Unsupervised)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5257800" y="3108960"/>
            <a:ext cx="3246120" cy="138988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Autoencoder đạt 75.23% Recall trên Test dù không dùng nhãn gian lận khi huấn luyện mạng.</a:t>
            </a:r>
            <a:endParaRPr lang="en-US" sz="8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phụ thuộc nhãn khi train: Phát hiện bất thường theo sai số tái tạo (nhãn chỉ dùng để chọn ngưỡng).</a:t>
            </a:r>
            <a:endParaRPr lang="en-US" sz="8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Phòng thủ Thứ cấp (Defense-in-Depth): Đóng vai trò lưới lọc an toàn chuyển giao dịch nghi vấn sang kiểm tra chuyên sâu.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  •  BÁO CÁO ĐỒ ÁN CS106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THỰC NGHIỆM &amp; ĐÁNH GIÁ SO SÁNH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97480"/>
            <a:ext cx="6583680" cy="1874520"/>
          </a:xfrm>
          <a:prstGeom prst="roundRect">
            <a:avLst>
              <a:gd name="adj" fmla="val 7317"/>
            </a:avLst>
          </a:prstGeom>
          <a:solidFill>
            <a:srgbClr val="1720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50876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ctr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Hiệu năng Toàn diện &amp; Bảng so sánh đa chỉ số (Precision, Recall, F1, PR-AUC)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Ma trận Nhầm lẫn (Confusion Matrix) &amp; Đánh đổi False Alarm vs. Missed Fraud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 Attribution &amp; Phân tích Đóng góp Nhóm Đặc trưng Số dư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bố Sai số Tái tạo &amp; Ngưỡng Anomaly Thresholding (Deep Autoencoder)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Thực nghiệm: So sánh đa chỉ số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21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4069080" cy="914400"/>
        </p:xfrm>
        <a:graphic>
          <a:graphicData uri="http://schemas.openxmlformats.org/drawingml/2006/table">
            <a:tbl>
              <a:tblPr/>
              <a:tblGrid>
                <a:gridCol w="1302106"/>
                <a:gridCol w="813816"/>
                <a:gridCol w="488290"/>
                <a:gridCol w="488290"/>
                <a:gridCol w="488290"/>
                <a:gridCol w="48829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hình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Resampling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Prec.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 Forest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SMOTE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99.51%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99.73%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1187s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 Forest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ADASYN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99.82%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99.51%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99.66%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1168s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129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XGBoost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SMOTE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99.51%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99.63%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57.94s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XGBoost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ADASYN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99.57%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99.51%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99.54%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45.48s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Autoencoder (Unsupervised)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(Unsup.)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38.22%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75.23%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50.69%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852928"/>
            <a:ext cx="4069080" cy="17190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92608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Đúc kết bảng so sánh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640080" y="3145536"/>
            <a:ext cx="3794760" cy="13533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+ SMOTE đạt F1-Score đỉnh cao 99.73% nhờ cơ chế Bagging triệt tiêu phương sai.</a:t>
            </a:r>
            <a:endParaRPr lang="en-US" sz="86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+ SMOTE đạt hiệu năng tương đương (F1 = 99.63%) nhưng tốc độ huấn luyện nhanh hơn ~20 lần (57.94s).</a:t>
            </a:r>
            <a:endParaRPr lang="en-US" sz="86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Autoencoder bắt được 75.23% gian lận hoàn toàn không cần nhãn giám sát, tạo lớp phòng thủ phát hiện bất thường thứ cấp.</a:t>
            </a:r>
            <a:endParaRPr lang="en-US" sz="860" dirty="0"/>
          </a:p>
        </p:txBody>
      </p:sp>
      <p:pic>
        <p:nvPicPr>
          <p:cNvPr id="11" name="Image 0" descr="D:\Trí tuệ nhân tạo\HK2\Trí tuệ nhân tạo\CS106-Team09-Fraud-Detection\draft\fraud-detection\slide\slide_assets\academic_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87552"/>
            <a:ext cx="3886200" cy="18348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2913836"/>
            <a:ext cx="3886200" cy="165816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298698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Biểu đồ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4892040" y="3206444"/>
            <a:ext cx="3611880" cy="12924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Cột Precision &amp; Recall của RF và XGBoost vượt trội trên 99.5%, khẳng định tính khả thi triển khai thực tế.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Autoencoder hy sinh Precision (38.2%) để duy trì Recall cao (75.2%) nhằm giảm bỏ sót.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Ma trận Nhầm lẫn &amp; Đánh đổi Sai số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21</a:t>
            </a:r>
            <a:endParaRPr lang="en-US" sz="850" dirty="0"/>
          </a:p>
        </p:txBody>
      </p:sp>
      <p:pic>
        <p:nvPicPr>
          <p:cNvPr id="7" name="Image 0" descr="D:\Trí tuệ nhân tạo\HK2\Trí tuệ nhân tạo\CS106-Team09-Fraud-Detection\draft\fraud-detection\slide\slide_assets\academic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703" y="969264"/>
            <a:ext cx="7586594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273552"/>
            <a:ext cx="2621280" cy="14584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346704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Random Forest + SMOTE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3529584"/>
            <a:ext cx="243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TP: 1,635  •  FP: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8  •  TN: 38,356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94360" y="3895344"/>
            <a:ext cx="2438400" cy="8001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Tỷ lệ False Alarm thấp kỷ lục (chỉ 1 ca trên 38,357 mẫu test).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Precision đạt 99.94%, gần như triệt tiêu hoàn toàn báo động giả.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3261360" y="3273552"/>
            <a:ext cx="2621280" cy="14584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2800" y="3346704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</a:rPr>
              <a:t>XGBoost + SMOTE (Sản xuất)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52800" y="3529584"/>
            <a:ext cx="243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TP: 1,635  •  FP: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8  •  TN: 38,353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352800" y="3895344"/>
            <a:ext cx="2438400" cy="8001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Chỉ 4 ca cảnh báo nhầm, đồng thời bắt trúng 1,635 ca gian lận.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Độ trễ cỡ nửa mili-giây (mô hình thuần, 1 giao dịch, CPU).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6019800" y="3273552"/>
            <a:ext cx="2621280" cy="14584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11240" y="3346704"/>
            <a:ext cx="243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Deep Autoencoder (Unsupervised)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11240" y="3529584"/>
            <a:ext cx="243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TP: 1,236  •  FP: 1,998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FN: 407  •  TN: 36,359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11240" y="3895344"/>
            <a:ext cx="2438400" cy="8001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Bắt 1,236 ca gian lận trong điều kiện học không giám sát.</a:t>
            </a:r>
            <a:endParaRPr lang="en-US" sz="8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1F2937"/>
                </a:solidFill>
              </a:rPr>
              <a:t>• Đóng vai trò màng lọc an toàn thứ cấp cho các mẫu tấn công phi quy ước.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Đóng góp Đặc trưng (Feature Importance)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21</a:t>
            </a:r>
            <a:endParaRPr lang="en-US" sz="850" dirty="0"/>
          </a:p>
        </p:txBody>
      </p:sp>
      <p:pic>
        <p:nvPicPr>
          <p:cNvPr id="7" name="Image 0" descr="D:\Trí tuệ nhân tạo\HK2\Trí tuệ nhân tạo\CS106-Team09-Fraud-Detection\draft\fraud-detection\slide\slide_assets\academic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87552"/>
            <a:ext cx="4069080" cy="22138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292855"/>
            <a:ext cx="4069080" cy="1279145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66007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Ý nghĩa Kỹ thuật Đặc trưng (Feature Engineering)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640080" y="3585463"/>
            <a:ext cx="3794760" cy="9133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2 đặc trưng (errorBalanceOrig dẫn xuất &amp; newbalanceOrig gốc nguồn) chiếm 97.1% Split Gains.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cây dựa chủ yếu vào sai lệch cân bằng kế toán để phân định gian lận thay vì chỉ học giá trị số tiền gốc.</a:t>
            </a:r>
            <a:endParaRPr lang="en-US" sz="84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87552"/>
          <a:ext cx="3886200" cy="914400"/>
        </p:xfrm>
        <a:graphic>
          <a:graphicData uri="http://schemas.openxmlformats.org/drawingml/2006/table">
            <a:tbl>
              <a:tblPr/>
              <a:tblGrid>
                <a:gridCol w="1476756"/>
                <a:gridCol w="854964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Đặc trưng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Split Gain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Ý nghĩa Phân loại Nghiệp vụ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errorBalanceOrig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49.9%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Sai lệch số dư tài khoản nguồn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newbalanceOrig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47.2%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dư nguồn về 0 (rút cạn tài khoản)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amount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 trị giao dịch bất thường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hour / overnight</a:t>
                      </a:r>
                      <a:endParaRPr lang="en-US" sz="8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0.03%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Khung giờ tấn công đêm (0h - 5h)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features còn lại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2.4%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 thuộc tính phụ trợ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54880" y="2788920"/>
            <a:ext cx="388620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28620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Đúc kết Bản chất Bài toán Gian lận</a:t>
            </a:r>
            <a:endParaRPr lang="en-US" sz="910" dirty="0"/>
          </a:p>
        </p:txBody>
      </p:sp>
      <p:sp>
        <p:nvSpPr>
          <p:cNvPr id="14" name="Text 10"/>
          <p:cNvSpPr/>
          <p:nvPr/>
        </p:nvSpPr>
        <p:spPr>
          <a:xfrm>
            <a:off x="4892040" y="3081528"/>
            <a:ext cx="3611880" cy="1417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errorBalanceOrig = 49.9%: Khi kẻ gian thực hiện lệnh chuyển/rút tiền, số dư sổ cái bị trừ vượt mức số tiền thực tế có trong tài khoản.</a:t>
            </a:r>
            <a:endParaRPr lang="en-US" sz="8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newbalanceOrig = 47.2%: 97.55% các ca gian lận rút cạn số dư nguồn về 0 nhằm tẩu tán tối đa tài sản.</a:t>
            </a:r>
            <a:endParaRPr lang="en-US" sz="8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trưng số dư: Nhóm số dư chiếm 98.5% Split Gains; nhóm ghi nhận đây là thế mạnh trên PaySim nhưng cũng là nguy cơ rủi ro dữ liệu mô phỏng (Mục 3.6.2).</a:t>
            </a:r>
            <a:endParaRPr lang="en-US" sz="8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bố Sai số Tái tạo &amp; Ngưỡng Anomaly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21</a:t>
            </a:r>
            <a:endParaRPr lang="en-US" sz="850" dirty="0"/>
          </a:p>
        </p:txBody>
      </p:sp>
      <p:pic>
        <p:nvPicPr>
          <p:cNvPr id="7" name="Image 0" descr="D:\Trí tuệ nhân tạo\HK2\Trí tuệ nhân tạo\CS106-Team09-Fraud-Detection\draft\fraud-detection\slide\slide_assets\academic_autoencoder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87552"/>
            <a:ext cx="4069080" cy="2121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200514"/>
            <a:ext cx="4069080" cy="137148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27366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lý Phân tách Phân bố Sai số</a:t>
            </a:r>
            <a:endParaRPr lang="en-US" sz="910" dirty="0"/>
          </a:p>
        </p:txBody>
      </p:sp>
      <p:sp>
        <p:nvSpPr>
          <p:cNvPr id="10" name="Text 7"/>
          <p:cNvSpPr/>
          <p:nvPr/>
        </p:nvSpPr>
        <p:spPr>
          <a:xfrm>
            <a:off x="640080" y="3493122"/>
            <a:ext cx="3794760" cy="10057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dịch hợp lệ (Xanh) tập trung ở vùng sai số MSE cực thấp (&lt; 0.02).</a:t>
            </a:r>
            <a:endParaRPr lang="en-US" sz="8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dịch gian lận (Đỏ) có sai số tái tạo trải dài sang phải; trục x cắt ở 0.18 nên 37.6% ca gian lận nằm ngoài hình.</a:t>
            </a:r>
            <a:endParaRPr lang="en-US" sz="83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87552"/>
          <a:ext cx="3886200" cy="914400"/>
        </p:xfrm>
        <a:graphic>
          <a:graphicData uri="http://schemas.openxmlformats.org/drawingml/2006/table">
            <a:tbl>
              <a:tblPr/>
              <a:tblGrid>
                <a:gridCol w="1088136"/>
                <a:gridCol w="932688"/>
                <a:gridCol w="932688"/>
                <a:gridCol w="93268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vị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Ngưỡng τ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Precision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90.0th %ile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0.0134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84.8%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26.6%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95.0th %ile (Chọn)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0.0455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73.5%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38.6%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99.0th %ile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0.1240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47.0%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99.9th %ile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0.7460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25.4%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91.5%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54880" y="2606040"/>
            <a:ext cx="388620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26791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Quét ngưỡng trên Validation &amp; Điểm cắt Chọn (τ = 0.0455)</a:t>
            </a:r>
            <a:endParaRPr lang="en-US" sz="910" dirty="0"/>
          </a:p>
        </p:txBody>
      </p:sp>
      <p:sp>
        <p:nvSpPr>
          <p:cNvPr id="14" name="Text 10"/>
          <p:cNvSpPr/>
          <p:nvPr/>
        </p:nvSpPr>
        <p:spPr>
          <a:xfrm>
            <a:off x="4892040" y="2898648"/>
            <a:ext cx="3611880" cy="1600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cắt 95th (τ = 0.0455) đạt F1 cao nhất (0.5064) trong các ngưỡng thỏa Recall ≥ 60%. Trên Test độc lập đạt Recall 75.2%, Precision 38.2%.</a:t>
            </a:r>
            <a:endParaRPr lang="en-US" sz="8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Chiến lược Defense-in-Depth: Đóng vai trò lớp phòng thủ thứ cấp phát hiện giao dịch dị biệt chuyển sang thẩm định chuyên sâu.</a:t>
            </a:r>
            <a:endParaRPr lang="en-US" sz="83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cần nhãn gian lận: Mạng nơ-ron huấn luyện hoàn toàn trên luồng tiền hợp lệ (nhãn chỉ dùng ở bước quét ngưỡng).</a:t>
            </a:r>
            <a:endParaRPr lang="en-US" sz="8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  •  BÁO CÁO ĐỒ ÁN CS106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3749040" y="105156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DEMO &amp; ĐỊNH HƯỚNG TƯƠNG LAI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697480"/>
            <a:ext cx="6583680" cy="1874520"/>
          </a:xfrm>
          <a:prstGeom prst="roundRect">
            <a:avLst>
              <a:gd name="adj" fmla="val 7317"/>
            </a:avLst>
          </a:prstGeom>
          <a:solidFill>
            <a:srgbClr val="1720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50876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ctr">
            <a:normAutofit/>
          </a:bodyPr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Streamlit suy luận XGBoost &amp; nhập dữ liệu mẫu CSV/JSON (tối đa 50 mẫu)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Đóng góp Học thuật &amp; Quy chuẩn Kỹ thuật Cốt lõi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Nghiên cứu &amp; Lộ trình Mở rộng Graph Neural Networks (GNN)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ĐẠI HỌC CÔNG NGHỆ THÔNG TIN, ĐHQG-HCM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Demo Streamlit &amp; Hướng phát triển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234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- Nhóm 09 - Báo cáo Đồ án: Phát hiện Gian lận Tài chính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69480" y="48234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029200" cy="3584448"/>
          </a:xfrm>
          <a:prstGeom prst="roundRect">
            <a:avLst>
              <a:gd name="adj" fmla="val 3061"/>
            </a:avLst>
          </a:prstGeom>
          <a:solidFill>
            <a:srgbClr val="0F172A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8" name="Image 0" descr="D:\Trí tuệ nhân tạo\HK2\Trí tuệ nhân tạo\CS106-Team09-Fraud-Detection\draft\fraud-detection\slide\slide_assets\demo_ui_slid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042416"/>
            <a:ext cx="4919472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987552"/>
            <a:ext cx="288036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06070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Đóng góp Cốt lõi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5897880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rò rỉ sang Test: split 80/20 trước, scaler và oversampling chỉ trên Train.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trưng Số dư: Nhóm số dư chiếm &gt; 97% split gains (rủi ro simulator artifact, Mục 3.6.2).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Benchmark: F1 = 99.73%, Recall = 99.51% (Random Forest SMOTENC, 8 ca bỏ sót).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suy luận bằng XGBoost-SMOTE; Autoencoder dùng để so sánh bất thường, không phải model chọn trên UI.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5760720" y="2834640"/>
            <a:ext cx="288036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90779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phát triển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5897880" y="3127248"/>
            <a:ext cx="2606040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Neural Networks (GNN): GraphSAGE phát hiện rửa tiền đa tầng.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Phân tán (Kafka/Flink): Streaming hàng triệu sự kiện/giây.</a:t>
            </a:r>
            <a:endParaRPr lang="en-US" sz="84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8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 (XAI): SHAP giải thích quyết định chặn giao dịch.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CHÂN THÀNH CẢM ƠN THẦY VÀ CÁC BẠN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LẮNG NGHE BÁO CÁO!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B99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CS106: TRÍ TUỆ NHÂN TẠO  •  BÁO CÁO BẢO VỆ ĐỒ ÁN  •  NHÓM 09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60120" y="1719072"/>
            <a:ext cx="7223760" cy="2670048"/>
          </a:xfrm>
          <a:prstGeom prst="rect">
            <a:avLst/>
          </a:prstGeom>
          <a:solidFill>
            <a:srgbClr val="1720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THAM KHẢO HỌC THUẬT &amp; REPOSITORY DỰ ÁN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157984"/>
            <a:ext cx="6766560" cy="21488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Mã nguồn Dự án (Gói nộp bài &amp; GitHub Repo): </a:t>
            </a:r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https://github.com/uit-25730067-chithanh/CS106-Team09-Fraud-Detection
</a:t>
            </a:r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PaySim Simulator: </a:t>
            </a:r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 A. Lopez-Rojas, A. Elmir, and S. Axelsson, "PaySim: A financial mobile money simulator for fraud detection," in Proc. 28th Eur. Model. Simul. Symp., 2016, pp. 249-255.
</a:t>
            </a:r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XGBoost GBDT: </a:t>
            </a:r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T. Chen and C. Guestrin, "XGBoost: A scalable tree boosting system," in Proc. 22nd ACM SIGKDD, 2016, pp. 785-794.
</a:t>
            </a:r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SMOTE Resampling: </a:t>
            </a:r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N. V. Chawla et al., "SMOTE: Synthetic minority over-sampling technique," J. Artif. Intell. Res., vol. 16, pp. 321-357, 2002.
</a:t>
            </a:r>
            <a:pPr algn="l" indent="0" marL="0">
              <a:lnSpc>
                <a:spcPct val="125000"/>
              </a:lnSpc>
              <a:buNone/>
            </a:pPr>
            <a:r>
              <a:rPr lang="en-US" sz="93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09 rất mong nhận được những câu hỏi và góp ý quý báu từ Thầy và các bạn!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2026-09-20T17:16:43Z</dcterms:created>
  <dcterms:modified xsi:type="dcterms:W3CDTF">2026-09-20T17:16:43Z</dcterms:modified>
</cp:coreProperties>
</file>